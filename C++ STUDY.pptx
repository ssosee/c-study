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0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2" r:id="rId76"/>
    <p:sldId id="331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1" r:id="rId85"/>
    <p:sldId id="342" r:id="rId86"/>
    <p:sldId id="343" r:id="rId87"/>
    <p:sldId id="344" r:id="rId88"/>
    <p:sldId id="346" r:id="rId89"/>
    <p:sldId id="347" r:id="rId90"/>
    <p:sldId id="348" r:id="rId91"/>
    <p:sldId id="349" r:id="rId92"/>
    <p:sldId id="351" r:id="rId93"/>
    <p:sldId id="358" r:id="rId94"/>
    <p:sldId id="359" r:id="rId95"/>
    <p:sldId id="352" r:id="rId96"/>
    <p:sldId id="350" r:id="rId97"/>
    <p:sldId id="355" r:id="rId98"/>
    <p:sldId id="353" r:id="rId99"/>
    <p:sldId id="354" r:id="rId100"/>
    <p:sldId id="357" r:id="rId101"/>
    <p:sldId id="360" r:id="rId102"/>
    <p:sldId id="361" r:id="rId103"/>
    <p:sldId id="362" r:id="rId104"/>
    <p:sldId id="363" r:id="rId105"/>
    <p:sldId id="364" r:id="rId106"/>
    <p:sldId id="365" r:id="rId107"/>
    <p:sldId id="366" r:id="rId108"/>
    <p:sldId id="367" r:id="rId10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032" autoAdjust="0"/>
  </p:normalViewPr>
  <p:slideViewPr>
    <p:cSldViewPr>
      <p:cViewPr varScale="1">
        <p:scale>
          <a:sx n="106" d="100"/>
          <a:sy n="106" d="100"/>
        </p:scale>
        <p:origin x="-17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배달의민족 한나체 Air" panose="020B0600000101010101" pitchFamily="50" charset="-127"/>
                <a:ea typeface="배달의민족 한나체 Ai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배달의민족 한나체 Air" panose="020B0600000101010101" pitchFamily="50" charset="-127"/>
                <a:ea typeface="배달의민족 한나체 Air" panose="020B0600000101010101" pitchFamily="50" charset="-127"/>
              </a:defRPr>
            </a:lvl1pPr>
          </a:lstStyle>
          <a:p>
            <a:fld id="{1E75754C-D727-4A82-B6B2-DFC291592558}" type="datetimeFigureOut">
              <a:rPr lang="ko-KR" altLang="en-US" smtClean="0"/>
              <a:pPr/>
              <a:t>2020-04-23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배달의민족 한나체 Air" panose="020B0600000101010101" pitchFamily="50" charset="-127"/>
                <a:ea typeface="배달의민족 한나체 Ai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배달의민족 한나체 Air" panose="020B0600000101010101" pitchFamily="50" charset="-127"/>
                <a:ea typeface="배달의민족 한나체 Air" panose="020B0600000101010101" pitchFamily="50" charset="-127"/>
              </a:defRPr>
            </a:lvl1pPr>
          </a:lstStyle>
          <a:p>
            <a:fld id="{30F16581-4DE5-48C7-9DE2-72F6596CB1B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554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배달의민족 한나체 Air" panose="020B0600000101010101" pitchFamily="50" charset="-127"/>
        <a:ea typeface="배달의민족 한나체 Air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배달의민족 한나체 Air" panose="020B0600000101010101" pitchFamily="50" charset="-127"/>
        <a:ea typeface="배달의민족 한나체 Air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배달의민족 한나체 Air" panose="020B0600000101010101" pitchFamily="50" charset="-127"/>
        <a:ea typeface="배달의민족 한나체 Air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배달의민족 한나체 Air" panose="020B0600000101010101" pitchFamily="50" charset="-127"/>
        <a:ea typeface="배달의민족 한나체 Air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배달의민족 한나체 Air" panose="020B0600000101010101" pitchFamily="50" charset="-127"/>
        <a:ea typeface="배달의민족 한나체 Air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2020-04-23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배달의민족 한나체 Air" panose="020B0600000101010101" pitchFamily="50" charset="-127"/>
          <a:ea typeface="배달의민족 한나체 Air" panose="020B0600000101010101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배달의민족 한나체 Air" panose="020B0600000101010101" pitchFamily="50" charset="-127"/>
          <a:ea typeface="배달의민족 한나체 Air" panose="020B0600000101010101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배달의민족 한나체 Air" panose="020B0600000101010101" pitchFamily="50" charset="-127"/>
          <a:ea typeface="배달의민족 한나체 Air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배달의민족 한나체 Air" panose="020B0600000101010101" pitchFamily="50" charset="-127"/>
          <a:ea typeface="배달의민족 한나체 Air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배달의민족 한나체 Air" panose="020B0600000101010101" pitchFamily="50" charset="-127"/>
          <a:ea typeface="배달의민족 한나체 Air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배달의민족 한나체 Air" panose="020B0600000101010101" pitchFamily="50" charset="-127"/>
          <a:ea typeface="배달의민족 한나체 Air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kcoder.tistory.com/entry/C-cout-%EC%9D%98-%EB%AA%A8%EB%93%A0-%EA%B2%83-%EC%82%AC%EC%9A%A9%EB%B2%95-%EC%86%8C%EC%88%98%EC%A0%90-%EC%B6%9C%EB%A0%A5%EC%96%91%EC%8B%9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열혈강의  </a:t>
            </a:r>
            <a:r>
              <a:rPr lang="en-US" altLang="ko-KR" dirty="0"/>
              <a:t>C</a:t>
            </a:r>
            <a:r>
              <a:rPr lang="en-US" altLang="ko-KR" dirty="0" smtClean="0"/>
              <a:t>++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20.04.17 ~ 20.04.24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95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ko-KR" altLang="en-US" dirty="0" err="1" smtClean="0"/>
              <a:t>자료형과</a:t>
            </a:r>
            <a:r>
              <a:rPr lang="ko-KR" altLang="en-US" dirty="0" smtClean="0"/>
              <a:t> 연산자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err="1" smtClean="0"/>
              <a:t>조건문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반복문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네임스페이스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고급변수 사용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포인터와 관련하여 메모리 바라보기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논리적 자료 표현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구조체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함수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중간정리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객체와 클래스</a:t>
            </a:r>
            <a:r>
              <a:rPr lang="en-US" altLang="ko-KR" dirty="0" smtClean="0"/>
              <a:t>(</a:t>
            </a:r>
            <a:r>
              <a:rPr lang="ko-KR" altLang="en-US" dirty="0" smtClean="0"/>
              <a:t>기본</a:t>
            </a:r>
            <a:r>
              <a:rPr lang="en-US" altLang="ko-KR" dirty="0" smtClean="0"/>
              <a:t>)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객체와 클래스</a:t>
            </a:r>
            <a:r>
              <a:rPr lang="en-US" altLang="ko-KR" dirty="0" smtClean="0"/>
              <a:t>(</a:t>
            </a:r>
            <a:r>
              <a:rPr lang="ko-KR" altLang="en-US" dirty="0" smtClean="0"/>
              <a:t>고급</a:t>
            </a:r>
            <a:r>
              <a:rPr lang="en-US" altLang="ko-KR" dirty="0" smtClean="0"/>
              <a:t>)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문자열 클래스와 파일 클래스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상속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상속</a:t>
            </a:r>
            <a:r>
              <a:rPr lang="en-US" altLang="ko-KR" dirty="0" smtClean="0"/>
              <a:t>: </a:t>
            </a:r>
            <a:r>
              <a:rPr lang="ko-KR" altLang="en-US" dirty="0" smtClean="0"/>
              <a:t>고급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연산자 오버로딩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예외 처리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 smtClean="0"/>
              <a:t>템플</a:t>
            </a:r>
            <a:r>
              <a:rPr lang="ko-KR" altLang="en-US" dirty="0"/>
              <a:t>릿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6409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 smtClean="0"/>
              <a:t>자료형에</a:t>
            </a:r>
            <a:r>
              <a:rPr lang="ko-KR" altLang="en-US" dirty="0" smtClean="0"/>
              <a:t> 따라 데이터의 표현 방법과 연산 결과가 달라진다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정수 연산 정수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정수</a:t>
            </a:r>
            <a:r>
              <a:rPr lang="en-US" altLang="ko-KR" dirty="0" smtClean="0"/>
              <a:t>(2)</a:t>
            </a:r>
          </a:p>
          <a:p>
            <a:r>
              <a:rPr lang="ko-KR" altLang="en-US" dirty="0" smtClean="0"/>
              <a:t>정수변수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정수</a:t>
            </a:r>
            <a:r>
              <a:rPr lang="en-US" altLang="ko-KR" dirty="0" smtClean="0"/>
              <a:t>(2), </a:t>
            </a:r>
            <a:r>
              <a:rPr lang="ko-KR" altLang="en-US" dirty="0" smtClean="0"/>
              <a:t>배정도 변수 </a:t>
            </a:r>
            <a:r>
              <a:rPr lang="en-US" altLang="ko-KR" dirty="0" smtClean="0"/>
              <a:t>+ 0.000000(2.000000)</a:t>
            </a:r>
          </a:p>
          <a:p>
            <a:endParaRPr lang="en-US" altLang="ko-KR" dirty="0"/>
          </a:p>
          <a:p>
            <a:r>
              <a:rPr lang="ko-KR" altLang="en-US" dirty="0" smtClean="0"/>
              <a:t>정수 연산 배정도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배정도</a:t>
            </a:r>
            <a:r>
              <a:rPr lang="en-US" altLang="ko-KR" dirty="0" smtClean="0"/>
              <a:t>(2.500000)</a:t>
            </a:r>
          </a:p>
          <a:p>
            <a:r>
              <a:rPr lang="ko-KR" altLang="en-US" dirty="0" smtClean="0"/>
              <a:t>정수변수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정수</a:t>
            </a:r>
            <a:r>
              <a:rPr lang="en-US" altLang="ko-KR" dirty="0" smtClean="0"/>
              <a:t>(2), </a:t>
            </a:r>
            <a:r>
              <a:rPr lang="ko-KR" altLang="en-US" dirty="0" smtClean="0"/>
              <a:t>배정도 변수 </a:t>
            </a:r>
            <a:r>
              <a:rPr lang="en-US" altLang="ko-KR" dirty="0" smtClean="0"/>
              <a:t>-&gt; 2.500000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형식을 지정해주는 멤버함수</a:t>
            </a:r>
            <a:endParaRPr lang="en-US" altLang="ko-KR" dirty="0" smtClean="0"/>
          </a:p>
          <a:p>
            <a:r>
              <a:rPr lang="en-US" altLang="ko-KR" dirty="0" err="1" smtClean="0"/>
              <a:t>cout.self</a:t>
            </a:r>
            <a:r>
              <a:rPr lang="en-US" altLang="ko-KR" dirty="0" smtClean="0"/>
              <a:t>(</a:t>
            </a:r>
            <a:r>
              <a:rPr lang="ko-KR" altLang="en-US" dirty="0" smtClean="0"/>
              <a:t>전달인자</a:t>
            </a:r>
            <a:r>
              <a:rPr lang="en-US" altLang="ko-KR" dirty="0" smtClean="0"/>
              <a:t>);</a:t>
            </a:r>
          </a:p>
          <a:p>
            <a:r>
              <a:rPr lang="en-US" altLang="ko-KR" dirty="0" err="1" smtClean="0"/>
              <a:t>cout.self</a:t>
            </a:r>
            <a:r>
              <a:rPr lang="en-US" altLang="ko-KR" dirty="0" smtClean="0"/>
              <a:t>(</a:t>
            </a:r>
            <a:r>
              <a:rPr lang="ko-KR" altLang="en-US" dirty="0" smtClean="0"/>
              <a:t>전달인자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전달인자</a:t>
            </a:r>
            <a:r>
              <a:rPr lang="en-US" altLang="ko-KR" dirty="0" smtClean="0"/>
              <a:t>);</a:t>
            </a:r>
            <a:endParaRPr lang="en-US" altLang="ko-KR" dirty="0"/>
          </a:p>
          <a:p>
            <a:r>
              <a:rPr lang="en-US" altLang="ko-KR" sz="600" dirty="0">
                <a:hlinkClick r:id="rId2"/>
              </a:rPr>
              <a:t>https://kcoder.tistory.com/entry/C-cout-%EC%9D%98-%EB%AA%A8%EB%93%A0-%EA%B2%83-%EC%82%AC%EC%9A%A9%EB%B2%95-%EC%86%8C%EC%88%98%EC%A0%90-%</a:t>
            </a:r>
            <a:r>
              <a:rPr lang="en-US" altLang="ko-KR" sz="600" dirty="0" smtClean="0">
                <a:hlinkClick r:id="rId2"/>
              </a:rPr>
              <a:t>EC%B6%9C%EB%A0%A5%EC%96%91%EC%8B%9D</a:t>
            </a:r>
            <a:endParaRPr lang="en-US" altLang="ko-KR" sz="600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소수점이 있는 상수는 배정도형을 기본으로 취함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err="1" smtClean="0"/>
              <a:t>static_cast</a:t>
            </a:r>
            <a:r>
              <a:rPr lang="en-US" altLang="ko-KR" dirty="0" smtClean="0"/>
              <a:t>&lt;float&gt;(a) //</a:t>
            </a:r>
            <a:r>
              <a:rPr lang="ko-KR" altLang="en-US" dirty="0" err="1" smtClean="0"/>
              <a:t>형변환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133633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ko-KR" altLang="en-US" dirty="0"/>
              <a:t>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런타임 에러</a:t>
            </a:r>
            <a:r>
              <a:rPr lang="en-US" altLang="ko-KR" dirty="0" smtClean="0"/>
              <a:t>(Run time error)</a:t>
            </a:r>
          </a:p>
          <a:p>
            <a:r>
              <a:rPr lang="ko-KR" altLang="en-US" dirty="0" smtClean="0"/>
              <a:t>문법 측면에서 문제가 없으나 </a:t>
            </a:r>
            <a:r>
              <a:rPr lang="ko-KR" altLang="en-US" u="sng" dirty="0" smtClean="0"/>
              <a:t>변수의 초기값 또는 잘못 할당된 기억공간 때문에</a:t>
            </a:r>
            <a:r>
              <a:rPr lang="ko-KR" altLang="en-US" dirty="0" smtClean="0"/>
              <a:t> 프로그램 실행 중에 잘못된 메모리 참조나 논리적 오류가 발생하는 에러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0</a:t>
            </a:r>
            <a:r>
              <a:rPr lang="ko-KR" altLang="en-US" dirty="0" smtClean="0"/>
              <a:t>이 아닌 모든 수는 </a:t>
            </a:r>
            <a:r>
              <a:rPr lang="en-US" altLang="ko-KR" dirty="0" smtClean="0"/>
              <a:t>TRUE</a:t>
            </a:r>
          </a:p>
          <a:p>
            <a:endParaRPr lang="en-US" altLang="ko-KR" dirty="0"/>
          </a:p>
          <a:p>
            <a:r>
              <a:rPr lang="ko-KR" altLang="en-US" dirty="0" smtClean="0"/>
              <a:t>총 </a:t>
            </a:r>
            <a:r>
              <a:rPr lang="en-US" altLang="ko-KR" dirty="0" smtClean="0"/>
              <a:t>32</a:t>
            </a:r>
            <a:r>
              <a:rPr lang="ko-KR" altLang="en-US" dirty="0" smtClean="0"/>
              <a:t>비트에서 </a:t>
            </a:r>
            <a:r>
              <a:rPr lang="en-US" altLang="ko-KR" dirty="0" smtClean="0"/>
              <a:t>0</a:t>
            </a:r>
            <a:r>
              <a:rPr lang="ko-KR" altLang="en-US" dirty="0" smtClean="0"/>
              <a:t>번째 비트가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이면 양수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이면 음수</a:t>
            </a:r>
            <a:endParaRPr lang="en-US" altLang="ko-KR" dirty="0" smtClean="0"/>
          </a:p>
          <a:p>
            <a:r>
              <a:rPr lang="en-US" altLang="ko-KR" dirty="0" smtClean="0"/>
              <a:t>ex) edcba987 -&gt; </a:t>
            </a:r>
            <a:r>
              <a:rPr lang="ko-KR" altLang="en-US" dirty="0" smtClean="0"/>
              <a:t>처음 </a:t>
            </a:r>
            <a:r>
              <a:rPr lang="en-US" altLang="ko-KR" dirty="0" smtClean="0"/>
              <a:t>4</a:t>
            </a:r>
            <a:r>
              <a:rPr lang="ko-KR" altLang="en-US" dirty="0" smtClean="0"/>
              <a:t>비트의 값이 </a:t>
            </a:r>
            <a:r>
              <a:rPr lang="en-US" altLang="ko-KR" dirty="0" smtClean="0"/>
              <a:t>e -&gt; 1110 -&gt; </a:t>
            </a:r>
            <a:r>
              <a:rPr lang="ko-KR" altLang="en-US" dirty="0" smtClean="0"/>
              <a:t>음수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4776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3754760" cy="5361459"/>
          </a:xfrm>
        </p:spPr>
        <p:txBody>
          <a:bodyPr/>
          <a:lstStyle/>
          <a:p>
            <a:r>
              <a:rPr lang="en-US" altLang="ko-KR" dirty="0" smtClean="0"/>
              <a:t>switch(</a:t>
            </a:r>
            <a:r>
              <a:rPr lang="ko-KR" altLang="en-US" dirty="0" err="1" smtClean="0"/>
              <a:t>상수값</a:t>
            </a:r>
            <a:r>
              <a:rPr lang="en-US" altLang="ko-KR" dirty="0" smtClean="0"/>
              <a:t>){</a:t>
            </a:r>
          </a:p>
          <a:p>
            <a:r>
              <a:rPr lang="en-US" altLang="ko-KR" dirty="0" smtClean="0"/>
              <a:t>case </a:t>
            </a:r>
            <a:r>
              <a:rPr lang="ko-KR" altLang="en-US" dirty="0" smtClean="0"/>
              <a:t>조건 결과 </a:t>
            </a:r>
            <a:r>
              <a:rPr lang="en-US" altLang="ko-KR" dirty="0" smtClean="0"/>
              <a:t>1:</a:t>
            </a:r>
          </a:p>
          <a:p>
            <a:r>
              <a:rPr lang="en-US" altLang="ko-KR" dirty="0"/>
              <a:t>case </a:t>
            </a:r>
            <a:r>
              <a:rPr lang="ko-KR" altLang="en-US" dirty="0"/>
              <a:t>조건 결과 </a:t>
            </a:r>
            <a:r>
              <a:rPr lang="en-US" altLang="ko-KR" dirty="0" smtClean="0"/>
              <a:t>2:</a:t>
            </a:r>
          </a:p>
          <a:p>
            <a:r>
              <a:rPr lang="en-US" altLang="ko-KR" dirty="0"/>
              <a:t>case </a:t>
            </a:r>
            <a:r>
              <a:rPr lang="ko-KR" altLang="en-US" dirty="0"/>
              <a:t>조건 결과 </a:t>
            </a:r>
            <a:r>
              <a:rPr lang="en-US" altLang="ko-KR" dirty="0" smtClean="0"/>
              <a:t>3:</a:t>
            </a:r>
          </a:p>
          <a:p>
            <a:r>
              <a:rPr lang="en-US" altLang="ko-KR" dirty="0" smtClean="0"/>
              <a:t>default;</a:t>
            </a:r>
          </a:p>
          <a:p>
            <a:r>
              <a:rPr lang="en-US" altLang="ko-KR" dirty="0" smtClean="0"/>
              <a:t>}</a:t>
            </a:r>
          </a:p>
          <a:p>
            <a:endParaRPr lang="en-US" altLang="ko-KR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499992" y="764704"/>
            <a:ext cx="4042792" cy="536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ex)</a:t>
            </a:r>
          </a:p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switch(sum/30){</a:t>
            </a:r>
          </a:p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case 1:</a:t>
            </a:r>
          </a:p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sum += 1;</a:t>
            </a:r>
          </a:p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break;</a:t>
            </a:r>
          </a:p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case 2:</a:t>
            </a:r>
          </a:p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sum += 2;</a:t>
            </a:r>
          </a:p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break;</a:t>
            </a:r>
          </a:p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default : </a:t>
            </a:r>
          </a:p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sum =10;</a:t>
            </a:r>
          </a:p>
          <a:p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302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반복문</a:t>
            </a:r>
            <a:endParaRPr lang="en-US" altLang="ko-KR" dirty="0" smtClean="0"/>
          </a:p>
          <a:p>
            <a:r>
              <a:rPr lang="en-US" altLang="ko-KR" dirty="0" smtClean="0"/>
              <a:t>for(</a:t>
            </a:r>
            <a:r>
              <a:rPr lang="ko-KR" altLang="en-US" b="1" dirty="0" smtClean="0"/>
              <a:t>초기화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증감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실행코드</a:t>
            </a:r>
            <a:r>
              <a:rPr lang="en-US" altLang="ko-KR" dirty="0" smtClean="0"/>
              <a:t>;</a:t>
            </a:r>
          </a:p>
          <a:p>
            <a:r>
              <a:rPr lang="ko-KR" altLang="en-US" dirty="0" smtClean="0"/>
              <a:t>순서</a:t>
            </a:r>
            <a:endParaRPr lang="en-US" altLang="ko-KR" dirty="0" smtClean="0"/>
          </a:p>
          <a:p>
            <a:r>
              <a:rPr lang="ko-KR" altLang="en-US" dirty="0" smtClean="0"/>
              <a:t>초기화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조건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실행코드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증감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조건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실행코드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증감 </a:t>
            </a:r>
            <a:r>
              <a:rPr lang="en-US" altLang="ko-KR" dirty="0" smtClean="0"/>
              <a:t>-&gt;</a:t>
            </a:r>
            <a:r>
              <a:rPr lang="ko-KR" altLang="en-US" dirty="0" smtClean="0"/>
              <a:t>조건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실행코드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증감 </a:t>
            </a:r>
            <a:r>
              <a:rPr lang="en-US" altLang="ko-KR" dirty="0" smtClean="0"/>
              <a:t>…</a:t>
            </a:r>
          </a:p>
          <a:p>
            <a:endParaRPr lang="en-US" altLang="ko-KR" dirty="0" smtClean="0"/>
          </a:p>
          <a:p>
            <a:r>
              <a:rPr lang="ko-KR" altLang="en-US" b="1" dirty="0" smtClean="0"/>
              <a:t>제어변수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반복변수</a:t>
            </a:r>
            <a:r>
              <a:rPr lang="en-US" altLang="ko-KR" b="1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반복문의 횟수를 결정 하는 변수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조건 부분이 생략된 경우 무조건 참으로 간주</a:t>
            </a:r>
            <a:endParaRPr lang="en-US" altLang="ko-KR" dirty="0" smtClean="0"/>
          </a:p>
          <a:p>
            <a:r>
              <a:rPr lang="en-US" altLang="ko-KR" dirty="0" smtClean="0"/>
              <a:t>for(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I = 1; ; 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++)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9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do{</a:t>
            </a:r>
          </a:p>
          <a:p>
            <a:r>
              <a:rPr lang="ko-KR" altLang="en-US" dirty="0" smtClean="0"/>
              <a:t>실행할 코드</a:t>
            </a:r>
            <a:endParaRPr lang="en-US" altLang="ko-KR" dirty="0" smtClean="0"/>
          </a:p>
          <a:p>
            <a:r>
              <a:rPr lang="en-US" altLang="ko-KR" dirty="0" smtClean="0"/>
              <a:t>} while(</a:t>
            </a:r>
            <a:r>
              <a:rPr lang="ko-KR" altLang="en-US" dirty="0" err="1" smtClean="0"/>
              <a:t>조건문</a:t>
            </a:r>
            <a:r>
              <a:rPr lang="en-US" altLang="ko-KR" dirty="0" smtClean="0"/>
              <a:t>);</a:t>
            </a:r>
          </a:p>
          <a:p>
            <a:r>
              <a:rPr lang="en-US" altLang="ko-KR" dirty="0" smtClean="0"/>
              <a:t>	</a:t>
            </a:r>
            <a:r>
              <a:rPr lang="ko-KR" altLang="en-US" dirty="0" smtClean="0"/>
              <a:t>실행할 코드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번은 무조건 실행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continue;</a:t>
            </a:r>
          </a:p>
          <a:p>
            <a:r>
              <a:rPr lang="ko-KR" altLang="en-US" dirty="0" smtClean="0"/>
              <a:t>실행코드</a:t>
            </a:r>
            <a:r>
              <a:rPr lang="en-US" altLang="ko-KR" dirty="0" smtClean="0"/>
              <a:t>;</a:t>
            </a:r>
          </a:p>
          <a:p>
            <a:r>
              <a:rPr lang="ko-KR" altLang="en-US" dirty="0" smtClean="0"/>
              <a:t>실행코드를 실행하지 않고 건너 뜀</a:t>
            </a:r>
            <a:r>
              <a:rPr lang="en-US" altLang="ko-KR" dirty="0" smtClean="0"/>
              <a:t>.(</a:t>
            </a:r>
            <a:r>
              <a:rPr lang="ko-KR" altLang="en-US" dirty="0" err="1" smtClean="0"/>
              <a:t>반복문</a:t>
            </a:r>
            <a:r>
              <a:rPr lang="ko-KR" altLang="en-US" dirty="0" smtClean="0"/>
              <a:t> 처음으로 감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ex)</a:t>
            </a:r>
          </a:p>
          <a:p>
            <a:r>
              <a:rPr lang="en-US" altLang="ko-KR" dirty="0" smtClean="0"/>
              <a:t>while(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&lt;5){</a:t>
            </a:r>
          </a:p>
          <a:p>
            <a:pPr lvl="1"/>
            <a:r>
              <a:rPr lang="en-US" altLang="ko-KR" sz="1800" dirty="0" smtClean="0"/>
              <a:t>if(i%2 == 0){</a:t>
            </a:r>
          </a:p>
          <a:p>
            <a:pPr lvl="1"/>
            <a:r>
              <a:rPr lang="en-US" altLang="ko-KR" sz="1800" dirty="0" smtClean="0"/>
              <a:t>continue;</a:t>
            </a:r>
          </a:p>
          <a:p>
            <a:pPr lvl="1"/>
            <a:r>
              <a:rPr lang="en-US" altLang="ko-KR" sz="1800" dirty="0" smtClean="0"/>
              <a:t>}</a:t>
            </a:r>
          </a:p>
          <a:p>
            <a:r>
              <a:rPr lang="en-US" altLang="ko-KR" dirty="0" err="1" smtClean="0"/>
              <a:t>cout</a:t>
            </a:r>
            <a:r>
              <a:rPr lang="en-US" altLang="ko-KR" dirty="0" smtClean="0"/>
              <a:t> &lt;&lt; “</a:t>
            </a:r>
            <a:r>
              <a:rPr lang="ko-KR" altLang="en-US" dirty="0" smtClean="0"/>
              <a:t>소수다 나는</a:t>
            </a:r>
            <a:r>
              <a:rPr lang="en-US" altLang="ko-KR" dirty="0" smtClean="0"/>
              <a:t>!” &lt;&lt; </a:t>
            </a:r>
            <a:r>
              <a:rPr lang="en-US" altLang="ko-KR" dirty="0" err="1" smtClean="0"/>
              <a:t>endl</a:t>
            </a:r>
            <a:r>
              <a:rPr lang="en-US" altLang="ko-KR" dirty="0" smtClean="0"/>
              <a:t>;</a:t>
            </a:r>
          </a:p>
          <a:p>
            <a:r>
              <a:rPr lang="en-US" altLang="ko-KR" dirty="0"/>
              <a:t>}</a:t>
            </a:r>
            <a:endParaRPr lang="en-US" altLang="ko-KR" dirty="0" smtClean="0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2051720" y="4590256"/>
            <a:ext cx="93610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2983582" y="3933056"/>
            <a:ext cx="4242" cy="648072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>
            <a:off x="1691680" y="3933056"/>
            <a:ext cx="1291902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55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44008" y="732173"/>
            <a:ext cx="4042792" cy="5361459"/>
          </a:xfrm>
        </p:spPr>
        <p:txBody>
          <a:bodyPr/>
          <a:lstStyle/>
          <a:p>
            <a:r>
              <a:rPr lang="en-US" altLang="ko-KR" dirty="0" smtClean="0"/>
              <a:t>C++</a:t>
            </a:r>
            <a:r>
              <a:rPr lang="ko-KR" altLang="en-US" dirty="0"/>
              <a:t> </a:t>
            </a:r>
            <a:r>
              <a:rPr lang="ko-KR" altLang="en-US" dirty="0" smtClean="0"/>
              <a:t>프로그램은 파일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범위 단위에서 크게 </a:t>
            </a:r>
            <a:r>
              <a:rPr lang="ko-KR" altLang="en-US" dirty="0" err="1" smtClean="0"/>
              <a:t>선언부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err="1"/>
              <a:t>동</a:t>
            </a:r>
            <a:r>
              <a:rPr lang="ko-KR" altLang="en-US" dirty="0" err="1" smtClean="0"/>
              <a:t>작부로</a:t>
            </a:r>
            <a:r>
              <a:rPr lang="ko-KR" altLang="en-US" dirty="0" smtClean="0"/>
              <a:t> 구분</a:t>
            </a:r>
            <a:endParaRPr lang="en-US" altLang="ko-KR" dirty="0" smtClean="0"/>
          </a:p>
          <a:p>
            <a:r>
              <a:rPr lang="ko-KR" altLang="en-US" dirty="0" smtClean="0"/>
              <a:t>파일 단위에서 </a:t>
            </a:r>
            <a:r>
              <a:rPr lang="ko-KR" altLang="en-US" dirty="0" err="1" smtClean="0"/>
              <a:t>동작부는</a:t>
            </a:r>
            <a:r>
              <a:rPr lang="ko-KR" altLang="en-US" dirty="0" smtClean="0"/>
              <a:t> 함수로 구성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/>
              <a:t>main()</a:t>
            </a:r>
            <a:r>
              <a:rPr lang="ko-KR" altLang="en-US" dirty="0"/>
              <a:t>에 포함 </a:t>
            </a:r>
            <a:r>
              <a:rPr lang="en-US" altLang="ko-KR" dirty="0"/>
              <a:t>X -&gt; </a:t>
            </a:r>
            <a:r>
              <a:rPr lang="ko-KR" altLang="en-US" dirty="0" err="1" smtClean="0"/>
              <a:t>선언부</a:t>
            </a:r>
            <a:endParaRPr lang="en-US" altLang="ko-KR" dirty="0"/>
          </a:p>
          <a:p>
            <a:r>
              <a:rPr lang="en-US" altLang="ko-KR" dirty="0" smtClean="0"/>
              <a:t>main()</a:t>
            </a:r>
            <a:r>
              <a:rPr lang="ko-KR" altLang="en-US" dirty="0" smtClean="0"/>
              <a:t>에 포함된 내용 </a:t>
            </a:r>
            <a:r>
              <a:rPr lang="en-US" altLang="ko-KR" dirty="0" smtClean="0"/>
              <a:t>-&gt; </a:t>
            </a:r>
            <a:r>
              <a:rPr lang="ko-KR" altLang="en-US" dirty="0" err="1" smtClean="0"/>
              <a:t>동작부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작성한 프로그램을 </a:t>
            </a:r>
            <a:r>
              <a:rPr lang="ko-KR" altLang="en-US" b="1" u="sng" dirty="0" smtClean="0"/>
              <a:t>실행 파일</a:t>
            </a:r>
            <a:r>
              <a:rPr lang="ko-KR" altLang="en-US" dirty="0" smtClean="0"/>
              <a:t>로 변환 하려면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프로젝트 내에 하나의 </a:t>
            </a:r>
            <a:r>
              <a:rPr lang="en-US" altLang="ko-KR" dirty="0" smtClean="0"/>
              <a:t>main()</a:t>
            </a:r>
            <a:r>
              <a:rPr lang="ko-KR" altLang="en-US" dirty="0" smtClean="0"/>
              <a:t>함수가 있어야 함</a:t>
            </a:r>
            <a:r>
              <a:rPr lang="en-US" altLang="ko-KR" dirty="0" smtClean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35832"/>
            <a:ext cx="389572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오른쪽 중괄호 4"/>
          <p:cNvSpPr/>
          <p:nvPr/>
        </p:nvSpPr>
        <p:spPr>
          <a:xfrm>
            <a:off x="2339752" y="835832"/>
            <a:ext cx="216024" cy="504056"/>
          </a:xfrm>
          <a:prstGeom prst="rightBrac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sp>
        <p:nvSpPr>
          <p:cNvPr id="7" name="오른쪽 중괄호 6"/>
          <p:cNvSpPr/>
          <p:nvPr/>
        </p:nvSpPr>
        <p:spPr>
          <a:xfrm>
            <a:off x="2343465" y="1484784"/>
            <a:ext cx="216024" cy="4494111"/>
          </a:xfrm>
          <a:prstGeom prst="rightBrac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 flipH="1" flipV="1">
            <a:off x="2555776" y="1160748"/>
            <a:ext cx="2088232" cy="1044116"/>
          </a:xfrm>
          <a:prstGeom prst="straightConnector1">
            <a:avLst/>
          </a:prstGeom>
          <a:ln w="190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H="1">
            <a:off x="2708176" y="2528900"/>
            <a:ext cx="1935832" cy="324036"/>
          </a:xfrm>
          <a:prstGeom prst="straightConnector1">
            <a:avLst/>
          </a:prstGeom>
          <a:ln w="190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62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namespace</a:t>
            </a:r>
            <a:r>
              <a:rPr lang="ko-KR" altLang="en-US" dirty="0" smtClean="0"/>
              <a:t>의 개념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소속을 알리는 역할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using namespace </a:t>
            </a:r>
            <a:r>
              <a:rPr lang="en-US" altLang="ko-KR" dirty="0" err="1" smtClean="0"/>
              <a:t>std</a:t>
            </a:r>
            <a:r>
              <a:rPr lang="en-US" altLang="ko-KR" dirty="0" smtClean="0"/>
              <a:t>;</a:t>
            </a:r>
          </a:p>
          <a:p>
            <a:r>
              <a:rPr lang="en-US" altLang="ko-KR" dirty="0" err="1" smtClean="0"/>
              <a:t>std</a:t>
            </a:r>
            <a:r>
              <a:rPr lang="ko-KR" altLang="en-US" dirty="0" smtClean="0"/>
              <a:t>에 속한 내용을 사용할 것인데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소속을 알리지 않는</a:t>
            </a:r>
            <a:r>
              <a:rPr lang="ko-KR" altLang="en-US" dirty="0"/>
              <a:t>다</a:t>
            </a:r>
            <a:r>
              <a:rPr lang="ko-KR" altLang="en-US" dirty="0" smtClean="0"/>
              <a:t>면 </a:t>
            </a:r>
            <a:r>
              <a:rPr lang="en-US" altLang="ko-KR" dirty="0" err="1" smtClean="0"/>
              <a:t>std</a:t>
            </a:r>
            <a:r>
              <a:rPr lang="ko-KR" altLang="en-US" dirty="0" smtClean="0"/>
              <a:t>에 포함된 내용으로 간주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서로 다른 범위에 선언된 변수</a:t>
            </a:r>
            <a:endParaRPr lang="en-US" altLang="ko-KR" dirty="0" smtClean="0"/>
          </a:p>
          <a:p>
            <a:r>
              <a:rPr lang="ko-KR" altLang="en-US" dirty="0" smtClean="0"/>
              <a:t>같은 이름으로 선언된 변수를 </a:t>
            </a:r>
            <a:endParaRPr lang="en-US" altLang="ko-KR" dirty="0" smtClean="0"/>
          </a:p>
          <a:p>
            <a:r>
              <a:rPr lang="ko-KR" altLang="en-US" dirty="0" smtClean="0"/>
              <a:t>함께 사용하는 방법은</a:t>
            </a:r>
            <a:r>
              <a:rPr lang="en-US" altLang="ko-KR" dirty="0" smtClean="0"/>
              <a:t>? -&gt; namespace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!!(</a:t>
            </a:r>
            <a:r>
              <a:rPr lang="ko-KR" altLang="en-US" dirty="0" err="1" smtClean="0"/>
              <a:t>선언부에서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사용해야함</a:t>
            </a:r>
            <a:r>
              <a:rPr lang="en-US" altLang="ko-KR" dirty="0" smtClean="0"/>
              <a:t>.)</a:t>
            </a:r>
          </a:p>
          <a:p>
            <a:r>
              <a:rPr lang="en-US" altLang="ko-KR" dirty="0" smtClean="0"/>
              <a:t>namespace </a:t>
            </a:r>
            <a:r>
              <a:rPr lang="ko-KR" altLang="en-US" dirty="0" smtClean="0"/>
              <a:t>이름</a:t>
            </a:r>
            <a:endParaRPr lang="en-US" altLang="ko-KR" dirty="0" smtClean="0"/>
          </a:p>
          <a:p>
            <a:r>
              <a:rPr lang="en-US" altLang="ko-KR" dirty="0" smtClean="0"/>
              <a:t>{</a:t>
            </a:r>
          </a:p>
          <a:p>
            <a:r>
              <a:rPr lang="ko-KR" altLang="en-US" dirty="0" smtClean="0"/>
              <a:t>  선언내용</a:t>
            </a:r>
            <a:r>
              <a:rPr lang="en-US" altLang="ko-KR" dirty="0" smtClean="0"/>
              <a:t>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4" name="오른쪽 중괄호 3"/>
          <p:cNvSpPr/>
          <p:nvPr/>
        </p:nvSpPr>
        <p:spPr>
          <a:xfrm>
            <a:off x="2454253" y="4149080"/>
            <a:ext cx="216024" cy="1224136"/>
          </a:xfrm>
          <a:prstGeom prst="rightBrac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cxnSp>
        <p:nvCxnSpPr>
          <p:cNvPr id="6" name="직선 화살표 연결선 5"/>
          <p:cNvCxnSpPr/>
          <p:nvPr/>
        </p:nvCxnSpPr>
        <p:spPr>
          <a:xfrm flipH="1">
            <a:off x="2915816" y="3861048"/>
            <a:ext cx="2520280" cy="864096"/>
          </a:xfrm>
          <a:prstGeom prst="straightConnector1">
            <a:avLst/>
          </a:prstGeom>
          <a:ln w="190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62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namespace</a:t>
            </a:r>
            <a:r>
              <a:rPr lang="ko-KR" altLang="en-US" dirty="0" smtClean="0"/>
              <a:t>에 선언된 내용을 사용하는 법</a:t>
            </a:r>
            <a:endParaRPr lang="en-US" altLang="ko-KR" dirty="0" smtClean="0"/>
          </a:p>
          <a:p>
            <a:r>
              <a:rPr lang="en-US" altLang="ko-KR" dirty="0" err="1" smtClean="0"/>
              <a:t>namesapce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::</a:t>
            </a:r>
            <a:r>
              <a:rPr lang="ko-KR" altLang="en-US" dirty="0" smtClean="0"/>
              <a:t>멤버</a:t>
            </a:r>
            <a:endParaRPr lang="en-US" altLang="ko-KR" dirty="0" smtClean="0"/>
          </a:p>
          <a:p>
            <a:r>
              <a:rPr lang="en-US" altLang="ko-KR" dirty="0" smtClean="0"/>
              <a:t>ex)</a:t>
            </a:r>
          </a:p>
          <a:p>
            <a:r>
              <a:rPr lang="en-US" altLang="ko-KR" dirty="0" smtClean="0"/>
              <a:t>namespace name{</a:t>
            </a:r>
          </a:p>
          <a:p>
            <a:r>
              <a:rPr lang="en-US" altLang="ko-KR" dirty="0" smtClean="0"/>
              <a:t>char* a = “</a:t>
            </a:r>
            <a:r>
              <a:rPr lang="ko-KR" altLang="en-US" dirty="0" smtClean="0"/>
              <a:t>세웅</a:t>
            </a:r>
            <a:r>
              <a:rPr lang="en-US" altLang="ko-KR" dirty="0" smtClean="0"/>
              <a:t>”;</a:t>
            </a:r>
          </a:p>
          <a:p>
            <a:r>
              <a:rPr lang="en-US" altLang="ko-KR" dirty="0" smtClean="0"/>
              <a:t>}</a:t>
            </a:r>
          </a:p>
          <a:p>
            <a:r>
              <a:rPr lang="en-US" altLang="ko-KR" dirty="0" err="1" smtClean="0"/>
              <a:t>cout</a:t>
            </a:r>
            <a:r>
              <a:rPr lang="en-US" altLang="ko-KR" dirty="0" smtClean="0"/>
              <a:t> &lt;&lt; name::a &lt;&lt; </a:t>
            </a:r>
            <a:r>
              <a:rPr lang="en-US" altLang="ko-KR" dirty="0" err="1" smtClean="0"/>
              <a:t>endl</a:t>
            </a:r>
            <a:r>
              <a:rPr lang="en-US" altLang="ko-KR" dirty="0" smtClean="0"/>
              <a:t>;</a:t>
            </a:r>
          </a:p>
          <a:p>
            <a:endParaRPr lang="en-US" altLang="ko-KR" dirty="0"/>
          </a:p>
          <a:p>
            <a:r>
              <a:rPr lang="en-US" altLang="ko-KR" dirty="0" smtClean="0"/>
              <a:t>using?</a:t>
            </a:r>
          </a:p>
          <a:p>
            <a:r>
              <a:rPr lang="ko-KR" altLang="en-US" dirty="0" smtClean="0"/>
              <a:t>여러 개의</a:t>
            </a:r>
            <a:r>
              <a:rPr lang="en-US" altLang="ko-KR" dirty="0"/>
              <a:t> </a:t>
            </a:r>
            <a:r>
              <a:rPr lang="en-US" altLang="ko-KR" dirty="0" smtClean="0"/>
              <a:t>namespace</a:t>
            </a:r>
            <a:r>
              <a:rPr lang="ko-KR" altLang="en-US" dirty="0" smtClean="0"/>
              <a:t>를 사용할 때 마다 </a:t>
            </a:r>
            <a:r>
              <a:rPr lang="en-US" altLang="ko-KR" dirty="0" err="1"/>
              <a:t>namesapce</a:t>
            </a:r>
            <a:r>
              <a:rPr lang="ko-KR" altLang="en-US" dirty="0"/>
              <a:t>이름</a:t>
            </a:r>
            <a:r>
              <a:rPr lang="en-US" altLang="ko-KR" dirty="0"/>
              <a:t>::</a:t>
            </a:r>
            <a:r>
              <a:rPr lang="ko-KR" altLang="en-US" dirty="0" smtClean="0"/>
              <a:t>멤버 하기 너무 귀찮다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따라서 </a:t>
            </a:r>
            <a:r>
              <a:rPr lang="en-US" altLang="ko-KR" dirty="0" smtClean="0"/>
              <a:t>using </a:t>
            </a:r>
            <a:r>
              <a:rPr lang="ko-KR" altLang="en-US" dirty="0" err="1" smtClean="0"/>
              <a:t>지시자를</a:t>
            </a:r>
            <a:r>
              <a:rPr lang="ko-KR" altLang="en-US" dirty="0" smtClean="0"/>
              <a:t> 사용한다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name:: </a:t>
            </a:r>
            <a:r>
              <a:rPr lang="ko-KR" altLang="en-US" dirty="0" smtClean="0"/>
              <a:t>생략하겠다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using namespace name;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9459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76056" y="764704"/>
            <a:ext cx="3610744" cy="5361459"/>
          </a:xfrm>
        </p:spPr>
        <p:txBody>
          <a:bodyPr/>
          <a:lstStyle/>
          <a:p>
            <a:r>
              <a:rPr lang="ko-KR" altLang="en-US" dirty="0" smtClean="0"/>
              <a:t>단 같은 이름의 변수를 사용하면 </a:t>
            </a:r>
            <a:r>
              <a:rPr lang="ko-KR" altLang="en-US" dirty="0" err="1" smtClean="0"/>
              <a:t>안된다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사용하고 싶으면</a:t>
            </a:r>
            <a:endParaRPr lang="en-US" altLang="ko-KR" dirty="0" smtClean="0"/>
          </a:p>
          <a:p>
            <a:r>
              <a:rPr lang="en-US" altLang="ko-KR" dirty="0" smtClean="0"/>
              <a:t>NS_1::a </a:t>
            </a:r>
            <a:r>
              <a:rPr lang="ko-KR" altLang="en-US" dirty="0" smtClean="0"/>
              <a:t>이렇게 </a:t>
            </a:r>
            <a:r>
              <a:rPr lang="ko-KR" altLang="en-US" dirty="0" err="1" smtClean="0"/>
              <a:t>해야함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err="1" smtClean="0"/>
              <a:t>동작부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4704"/>
            <a:ext cx="4464496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타원 3"/>
          <p:cNvSpPr/>
          <p:nvPr/>
        </p:nvSpPr>
        <p:spPr>
          <a:xfrm>
            <a:off x="539552" y="2420888"/>
            <a:ext cx="2183035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3779912" y="4149080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3491880" y="5013176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cxnSp>
        <p:nvCxnSpPr>
          <p:cNvPr id="8" name="직선 화살표 연결선 7"/>
          <p:cNvCxnSpPr>
            <a:endCxn id="6" idx="1"/>
          </p:cNvCxnSpPr>
          <p:nvPr/>
        </p:nvCxnSpPr>
        <p:spPr>
          <a:xfrm>
            <a:off x="2627784" y="2780928"/>
            <a:ext cx="1204855" cy="141033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2627784" y="2780928"/>
            <a:ext cx="1044116" cy="223224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H="1">
            <a:off x="2843808" y="2348880"/>
            <a:ext cx="2232248" cy="324036"/>
          </a:xfrm>
          <a:prstGeom prst="straightConnector1">
            <a:avLst/>
          </a:prstGeom>
          <a:ln w="190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48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변수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데이터를 저장하는 기억장소</a:t>
            </a:r>
            <a:endParaRPr lang="en-US" altLang="ko-KR" dirty="0" smtClean="0"/>
          </a:p>
          <a:p>
            <a:r>
              <a:rPr lang="ko-KR" altLang="en-US" dirty="0" smtClean="0"/>
              <a:t>포인터</a:t>
            </a:r>
            <a:r>
              <a:rPr lang="en-US" altLang="ko-KR" dirty="0" smtClean="0"/>
              <a:t>(*)?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기억 장소의 주소</a:t>
            </a:r>
            <a:endParaRPr lang="en-US" altLang="ko-KR" dirty="0" smtClean="0"/>
          </a:p>
          <a:p>
            <a:r>
              <a:rPr lang="ko-KR" altLang="en-US" dirty="0" smtClean="0"/>
              <a:t>포인터 변수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주소를 기억하는 변수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shift + F5 -&gt; </a:t>
            </a:r>
            <a:r>
              <a:rPr lang="ko-KR" altLang="en-US" dirty="0" smtClean="0"/>
              <a:t>디버깅 중지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선언과 동시에 초기화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err="1" smtClean="0"/>
              <a:t>자료형</a:t>
            </a:r>
            <a:r>
              <a:rPr lang="en-US" altLang="ko-KR" dirty="0" smtClean="0"/>
              <a:t>* </a:t>
            </a:r>
            <a:r>
              <a:rPr lang="ko-KR" altLang="en-US" dirty="0" smtClean="0"/>
              <a:t>포인터변수 </a:t>
            </a:r>
            <a:r>
              <a:rPr lang="en-US" altLang="ko-KR" dirty="0" smtClean="0"/>
              <a:t>= </a:t>
            </a:r>
            <a:r>
              <a:rPr lang="ko-KR" altLang="en-US" dirty="0" smtClean="0"/>
              <a:t>주소</a:t>
            </a:r>
            <a:endParaRPr lang="en-US" altLang="ko-KR" dirty="0" smtClean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052736"/>
            <a:ext cx="5026918" cy="389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340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88024" y="764704"/>
            <a:ext cx="3888432" cy="536145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값은 변하지만 </a:t>
            </a:r>
            <a:endParaRPr lang="en-US" altLang="ko-KR" dirty="0" smtClean="0"/>
          </a:p>
          <a:p>
            <a:r>
              <a:rPr lang="ko-KR" altLang="en-US" b="1" dirty="0" smtClean="0"/>
              <a:t>주소는 변하지 않는다</a:t>
            </a:r>
            <a:r>
              <a:rPr lang="en-US" altLang="ko-KR" b="1" dirty="0" smtClean="0"/>
              <a:t>.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443865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타원 3"/>
          <p:cNvSpPr/>
          <p:nvPr/>
        </p:nvSpPr>
        <p:spPr>
          <a:xfrm>
            <a:off x="2051720" y="1124745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2051720" y="1412776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H="1">
            <a:off x="3052472" y="1124745"/>
            <a:ext cx="1735552" cy="28803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4" idx="2"/>
          </p:cNvCxnSpPr>
          <p:nvPr/>
        </p:nvCxnSpPr>
        <p:spPr>
          <a:xfrm flipH="1">
            <a:off x="1183944" y="1232757"/>
            <a:ext cx="867776" cy="154817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H="1">
            <a:off x="1331640" y="1628800"/>
            <a:ext cx="1224136" cy="230425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01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836712"/>
            <a:ext cx="3888432" cy="536145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배열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연속적인 기억 공간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배열의 이름은 주소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배열 이름이 배열의 시작주소</a:t>
            </a:r>
            <a:r>
              <a:rPr lang="en-US" altLang="ko-KR" dirty="0" smtClean="0"/>
              <a:t>!</a:t>
            </a:r>
          </a:p>
          <a:p>
            <a:endParaRPr lang="en-US" altLang="ko-KR" dirty="0"/>
          </a:p>
          <a:p>
            <a:r>
              <a:rPr lang="ko-KR" altLang="en-US" dirty="0" smtClean="0"/>
              <a:t>배열이름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숫자</a:t>
            </a:r>
            <a:endParaRPr lang="en-US" altLang="ko-KR" dirty="0" smtClean="0"/>
          </a:p>
          <a:p>
            <a:r>
              <a:rPr lang="en-US" altLang="ko-KR" dirty="0" smtClean="0"/>
              <a:t>&amp;</a:t>
            </a:r>
            <a:r>
              <a:rPr lang="ko-KR" altLang="en-US" dirty="0" smtClean="0"/>
              <a:t>배열이름</a:t>
            </a:r>
            <a:r>
              <a:rPr lang="en-US" altLang="ko-KR" dirty="0" smtClean="0"/>
              <a:t>[]</a:t>
            </a:r>
          </a:p>
          <a:p>
            <a:endParaRPr lang="en-US" altLang="ko-KR" dirty="0"/>
          </a:p>
          <a:p>
            <a:r>
              <a:rPr lang="ko-KR" altLang="en-US" dirty="0" smtClean="0"/>
              <a:t>배열의 사용크기 안 쓰려면 초기화 </a:t>
            </a:r>
            <a:r>
              <a:rPr lang="ko-KR" altLang="en-US" dirty="0" err="1" smtClean="0"/>
              <a:t>해야함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ex)</a:t>
            </a:r>
          </a:p>
          <a:p>
            <a:r>
              <a:rPr lang="en-US" altLang="ko-KR" dirty="0" err="1" smtClean="0"/>
              <a:t>int</a:t>
            </a:r>
            <a:r>
              <a:rPr lang="en-US" altLang="ko-KR" dirty="0" smtClean="0"/>
              <a:t> a[] = {1, 2, 3};</a:t>
            </a:r>
          </a:p>
          <a:p>
            <a:r>
              <a:rPr lang="en-US" altLang="ko-KR" u="sng" dirty="0" err="1" smtClean="0"/>
              <a:t>int</a:t>
            </a:r>
            <a:r>
              <a:rPr lang="en-US" altLang="ko-KR" u="sng" dirty="0" smtClean="0"/>
              <a:t> b[3] = {1, }; // </a:t>
            </a:r>
            <a:r>
              <a:rPr lang="ko-KR" altLang="en-US" u="sng" dirty="0" smtClean="0"/>
              <a:t>나머지는 </a:t>
            </a:r>
            <a:r>
              <a:rPr lang="en-US" altLang="ko-KR" u="sng" dirty="0" smtClean="0"/>
              <a:t>0</a:t>
            </a:r>
            <a:r>
              <a:rPr lang="ko-KR" altLang="en-US" u="sng" dirty="0" smtClean="0"/>
              <a:t>으로 초기화</a:t>
            </a:r>
            <a:endParaRPr lang="en-US" altLang="ko-KR" u="sng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5" y="836712"/>
            <a:ext cx="4581525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타원 3"/>
          <p:cNvSpPr/>
          <p:nvPr/>
        </p:nvSpPr>
        <p:spPr>
          <a:xfrm>
            <a:off x="7164288" y="2492895"/>
            <a:ext cx="592051" cy="22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7236296" y="2732855"/>
            <a:ext cx="634234" cy="22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32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char string[7] = “INTECH”;</a:t>
            </a:r>
          </a:p>
          <a:p>
            <a:r>
              <a:rPr lang="ko-KR" altLang="en-US" dirty="0" smtClean="0"/>
              <a:t>문자 배열은 마지막에 </a:t>
            </a:r>
            <a:r>
              <a:rPr lang="en-US" altLang="ko-KR" dirty="0" smtClean="0"/>
              <a:t>NULL</a:t>
            </a:r>
            <a:r>
              <a:rPr lang="ko-KR" altLang="en-US" dirty="0" smtClean="0"/>
              <a:t>문자 고려</a:t>
            </a:r>
            <a:r>
              <a:rPr lang="en-US" altLang="ko-KR" dirty="0" smtClean="0"/>
              <a:t>!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문자배열에 저장된 문자열은 배열의 시작주소를 이용해서 그 값 출력 가능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160269"/>
              </p:ext>
            </p:extLst>
          </p:nvPr>
        </p:nvGraphicFramePr>
        <p:xfrm>
          <a:off x="539552" y="162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\0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직선 화살표 연결선 9"/>
          <p:cNvCxnSpPr/>
          <p:nvPr/>
        </p:nvCxnSpPr>
        <p:spPr>
          <a:xfrm>
            <a:off x="2843808" y="1412776"/>
            <a:ext cx="3168352" cy="72008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2411760" y="1124744"/>
            <a:ext cx="64807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852936"/>
            <a:ext cx="29908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직선 화살표 연결선 17"/>
          <p:cNvCxnSpPr/>
          <p:nvPr/>
        </p:nvCxnSpPr>
        <p:spPr>
          <a:xfrm>
            <a:off x="4067944" y="2780928"/>
            <a:ext cx="2376264" cy="165618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6732240" y="4454866"/>
            <a:ext cx="792088" cy="14401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6120172" y="4454866"/>
            <a:ext cx="64807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5929798" y="3717032"/>
            <a:ext cx="946457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54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836712"/>
            <a:ext cx="3888432" cy="536145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문자 배열의 주소 출력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일시적으로 형 변환</a:t>
            </a:r>
            <a:r>
              <a:rPr lang="en-US" altLang="ko-KR" dirty="0" smtClean="0"/>
              <a:t>!</a:t>
            </a:r>
          </a:p>
          <a:p>
            <a:endParaRPr lang="en-US" altLang="ko-KR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28800"/>
            <a:ext cx="62674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1907704" y="3284984"/>
            <a:ext cx="1008112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>
            <a:endCxn id="8" idx="0"/>
          </p:cNvCxnSpPr>
          <p:nvPr/>
        </p:nvCxnSpPr>
        <p:spPr>
          <a:xfrm>
            <a:off x="1979712" y="1484784"/>
            <a:ext cx="432048" cy="18002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24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86102" y="720586"/>
            <a:ext cx="3134369" cy="5361459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for</a:t>
            </a:r>
            <a:r>
              <a:rPr lang="ko-KR" altLang="en-US" dirty="0" smtClean="0"/>
              <a:t>문에서 </a:t>
            </a:r>
            <a:r>
              <a:rPr lang="en-US" altLang="ko-KR" dirty="0" smtClean="0"/>
              <a:t>‘\0’</a:t>
            </a:r>
            <a:r>
              <a:rPr lang="ko-KR" altLang="en-US" dirty="0" smtClean="0"/>
              <a:t>이 아니면 반복하는 것이므로</a:t>
            </a:r>
            <a:endParaRPr lang="en-US" altLang="ko-KR" dirty="0" smtClean="0"/>
          </a:p>
          <a:p>
            <a:r>
              <a:rPr lang="en-US" altLang="ko-KR" dirty="0" err="1" smtClean="0"/>
              <a:t>d_str</a:t>
            </a:r>
            <a:r>
              <a:rPr lang="ko-KR" altLang="en-US" dirty="0" smtClean="0"/>
              <a:t>에는 </a:t>
            </a:r>
            <a:r>
              <a:rPr lang="en-US" altLang="ko-KR" dirty="0" smtClean="0"/>
              <a:t>NULL</a:t>
            </a:r>
            <a:r>
              <a:rPr lang="ko-KR" altLang="en-US" dirty="0" smtClean="0"/>
              <a:t>이 할당되지 않은 상태</a:t>
            </a:r>
            <a:r>
              <a:rPr lang="en-US" altLang="ko-KR" dirty="0" smtClean="0"/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00495"/>
            <a:ext cx="5362575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67544" y="3933056"/>
            <a:ext cx="2376264" cy="759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H="1">
            <a:off x="2411760" y="1124744"/>
            <a:ext cx="2880320" cy="280831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04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836712"/>
            <a:ext cx="8352928" cy="536145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문자열 함수</a:t>
            </a:r>
            <a:endParaRPr lang="en-US" altLang="ko-KR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857725"/>
              </p:ext>
            </p:extLst>
          </p:nvPr>
        </p:nvGraphicFramePr>
        <p:xfrm>
          <a:off x="395536" y="1196752"/>
          <a:ext cx="8352928" cy="395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6092"/>
                <a:gridCol w="3736836"/>
              </a:tblGrid>
              <a:tr h="4400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함수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</a:tr>
              <a:tr h="4400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size_t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</a:t>
                      </a:r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strlen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</a:t>
                      </a:r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const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*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_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)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문자열 길이 구하기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4400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char*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strcpy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(char* _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Dest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, 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const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char* _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)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문자열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_</a:t>
                      </a:r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을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_</a:t>
                      </a:r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Dest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에 복사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4400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char* </a:t>
                      </a:r>
                      <a:r>
                        <a:rPr lang="en-US" altLang="ko-KR" sz="12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strncpy</a:t>
                      </a:r>
                      <a:r>
                        <a:rPr lang="en-US" altLang="ko-KR" sz="12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(char* _</a:t>
                      </a:r>
                      <a:r>
                        <a:rPr lang="en-US" altLang="ko-KR" sz="12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Dest</a:t>
                      </a:r>
                      <a:r>
                        <a:rPr lang="en-US" altLang="ko-KR" sz="12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, </a:t>
                      </a:r>
                      <a:r>
                        <a:rPr lang="en-US" altLang="ko-KR" sz="12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const</a:t>
                      </a:r>
                      <a:r>
                        <a:rPr lang="en-US" altLang="ko-KR" sz="12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char* _</a:t>
                      </a:r>
                      <a:r>
                        <a:rPr lang="en-US" altLang="ko-KR" sz="12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</a:t>
                      </a:r>
                      <a:r>
                        <a:rPr lang="en-US" altLang="ko-KR" sz="12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, </a:t>
                      </a:r>
                      <a:r>
                        <a:rPr lang="en-US" altLang="ko-KR" sz="12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size_t</a:t>
                      </a:r>
                      <a:r>
                        <a:rPr lang="en-US" altLang="ko-KR" sz="12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count)</a:t>
                      </a:r>
                      <a:endParaRPr lang="ko-KR" altLang="en-US" sz="12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문자열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_</a:t>
                      </a:r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을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_</a:t>
                      </a:r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Dest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에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count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</a:t>
                      </a:r>
                      <a:r>
                        <a:rPr lang="ko-KR" altLang="en-US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개수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(byte)</a:t>
                      </a:r>
                      <a:r>
                        <a:rPr lang="ko-KR" altLang="en-US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만큼 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복사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4400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char*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strcat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(char* _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Dest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, 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const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char* 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)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문자열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_</a:t>
                      </a:r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의 내용을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_</a:t>
                      </a:r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Dest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에 덧붙이기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4400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char*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strncat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(char* _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Dest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, 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const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char* _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, 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size_t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count)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문자열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_</a:t>
                      </a:r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의 내용에서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count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개수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(byte)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만큼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_</a:t>
                      </a:r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Dest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에 덧붙이기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4400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int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strcmp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const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char* str1, </a:t>
                      </a:r>
                      <a:r>
                        <a:rPr lang="en-US" altLang="ko-KR" sz="1400" b="1" baseline="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const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char* str2)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문자열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str1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과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str2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를 비교하여 결과값을 반환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, </a:t>
                      </a:r>
                      <a:r>
                        <a:rPr lang="ko-KR" altLang="en-US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결과값은 </a:t>
                      </a:r>
                      <a:r>
                        <a:rPr lang="en-US" altLang="ko-KR" sz="14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-1,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0, 1 </a:t>
                      </a:r>
                      <a:r>
                        <a:rPr lang="ko-KR" altLang="en-US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중에 결정됨 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</a:t>
                      </a:r>
                      <a:r>
                        <a:rPr lang="ko-KR" altLang="en-US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비교기준 </a:t>
                      </a:r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ASCII)</a:t>
                      </a:r>
                    </a:p>
                    <a:p>
                      <a:pPr latinLnBrk="1"/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str1 &gt; str2</a:t>
                      </a:r>
                    </a:p>
                    <a:p>
                      <a:pPr latinLnBrk="1"/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str1 == str2</a:t>
                      </a:r>
                    </a:p>
                    <a:p>
                      <a:pPr latinLnBrk="1"/>
                      <a:r>
                        <a:rPr lang="en-US" altLang="ko-KR" sz="1400" b="1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str1 &lt; str2</a:t>
                      </a:r>
                      <a:endParaRPr lang="ko-KR" altLang="en-US" sz="1400" b="1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12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76256" y="724749"/>
            <a:ext cx="1944216" cy="565657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한글은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바이트</a:t>
            </a:r>
            <a:endParaRPr lang="en-US" altLang="ko-KR" dirty="0" smtClean="0"/>
          </a:p>
          <a:p>
            <a:r>
              <a:rPr lang="en-US" altLang="ko-KR" dirty="0" err="1" smtClean="0"/>
              <a:t>countof</a:t>
            </a:r>
            <a:r>
              <a:rPr lang="en-US" altLang="ko-KR" dirty="0" smtClean="0"/>
              <a:t>(</a:t>
            </a:r>
            <a:r>
              <a:rPr lang="ko-KR" altLang="en-US" dirty="0" smtClean="0"/>
              <a:t>배열이름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배열의 크기</a:t>
            </a:r>
            <a:endParaRPr lang="en-US" altLang="ko-KR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8760"/>
            <a:ext cx="639752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1331640" y="5092904"/>
            <a:ext cx="617048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347864" y="3789040"/>
            <a:ext cx="75948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275856" y="5079086"/>
            <a:ext cx="831496" cy="28803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V="1">
            <a:off x="4107352" y="3212976"/>
            <a:ext cx="1256736" cy="1984021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endCxn id="18" idx="1"/>
          </p:cNvCxnSpPr>
          <p:nvPr/>
        </p:nvCxnSpPr>
        <p:spPr>
          <a:xfrm flipV="1">
            <a:off x="3810558" y="2841124"/>
            <a:ext cx="518926" cy="94791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5220072" y="3021712"/>
            <a:ext cx="360040" cy="19126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329484" y="2757304"/>
            <a:ext cx="314524" cy="167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4329484" y="3042488"/>
            <a:ext cx="890588" cy="144016"/>
          </a:xfrm>
          <a:prstGeom prst="rect">
            <a:avLst/>
          </a:prstGeom>
          <a:noFill/>
          <a:ln w="952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326334" y="2924944"/>
            <a:ext cx="890588" cy="119256"/>
          </a:xfrm>
          <a:prstGeom prst="rect">
            <a:avLst/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/>
          <p:cNvCxnSpPr>
            <a:stCxn id="7" idx="0"/>
            <a:endCxn id="22" idx="2"/>
          </p:cNvCxnSpPr>
          <p:nvPr/>
        </p:nvCxnSpPr>
        <p:spPr>
          <a:xfrm flipV="1">
            <a:off x="1640164" y="3186504"/>
            <a:ext cx="3134614" cy="1906400"/>
          </a:xfrm>
          <a:prstGeom prst="straightConnector1">
            <a:avLst/>
          </a:prstGeom>
          <a:ln w="1905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30" idx="0"/>
          </p:cNvCxnSpPr>
          <p:nvPr/>
        </p:nvCxnSpPr>
        <p:spPr>
          <a:xfrm flipV="1">
            <a:off x="1640164" y="3021713"/>
            <a:ext cx="2686170" cy="767533"/>
          </a:xfrm>
          <a:prstGeom prst="straightConnector1">
            <a:avLst/>
          </a:prstGeom>
          <a:ln w="190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331640" y="3789246"/>
            <a:ext cx="617048" cy="2880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997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836712"/>
            <a:ext cx="8352928" cy="536145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포인터 변수는 저장하는 주소의 </a:t>
            </a:r>
            <a:r>
              <a:rPr lang="ko-KR" altLang="en-US" dirty="0" err="1" smtClean="0"/>
              <a:t>자료형과</a:t>
            </a:r>
            <a:r>
              <a:rPr lang="ko-KR" altLang="en-US" dirty="0" smtClean="0"/>
              <a:t> 서로 </a:t>
            </a:r>
            <a:r>
              <a:rPr lang="ko-KR" altLang="en-US" dirty="0" err="1" smtClean="0"/>
              <a:t>일치해야함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ex) </a:t>
            </a:r>
          </a:p>
          <a:p>
            <a:r>
              <a:rPr lang="ko-KR" altLang="en-US" dirty="0" smtClean="0"/>
              <a:t>정수형 포인터 변수는 정수형 변수의 주소를 저장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레퍼런스</a:t>
            </a:r>
            <a:r>
              <a:rPr lang="ko-KR" altLang="en-US" dirty="0" smtClean="0"/>
              <a:t> 변수</a:t>
            </a:r>
            <a:r>
              <a:rPr lang="en-US" altLang="ko-KR" dirty="0" smtClean="0"/>
              <a:t>(</a:t>
            </a:r>
            <a:r>
              <a:rPr lang="ko-KR" altLang="en-US" dirty="0" smtClean="0"/>
              <a:t>참조 변수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이미 선언된 변수를 다른 이름으로 부르는 변수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반드시 초기화 </a:t>
            </a:r>
            <a:r>
              <a:rPr lang="ko-KR" altLang="en-US" dirty="0" err="1" smtClean="0"/>
              <a:t>해야함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자료형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&amp;</a:t>
            </a:r>
            <a:r>
              <a:rPr lang="ko-KR" altLang="en-US" dirty="0" smtClean="0"/>
              <a:t>변수 이름 </a:t>
            </a:r>
            <a:r>
              <a:rPr lang="en-US" altLang="ko-KR" dirty="0" smtClean="0"/>
              <a:t>= 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;</a:t>
            </a:r>
          </a:p>
          <a:p>
            <a:r>
              <a:rPr lang="en-US" altLang="ko-KR" dirty="0" smtClean="0"/>
              <a:t>ex) </a:t>
            </a:r>
          </a:p>
          <a:p>
            <a:r>
              <a:rPr lang="en-US" altLang="ko-KR" dirty="0" err="1" smtClean="0"/>
              <a:t>int</a:t>
            </a:r>
            <a:r>
              <a:rPr lang="en-US" altLang="ko-KR" dirty="0" smtClean="0"/>
              <a:t> a =100;</a:t>
            </a:r>
          </a:p>
          <a:p>
            <a:r>
              <a:rPr lang="en-US" altLang="ko-KR" dirty="0" err="1" smtClean="0"/>
              <a:t>int</a:t>
            </a:r>
            <a:r>
              <a:rPr lang="en-US" altLang="ko-KR" dirty="0" smtClean="0"/>
              <a:t>&amp; </a:t>
            </a:r>
            <a:r>
              <a:rPr lang="en-US" altLang="ko-KR" dirty="0" err="1" smtClean="0"/>
              <a:t>ra</a:t>
            </a:r>
            <a:r>
              <a:rPr lang="en-US" altLang="ko-KR" dirty="0" smtClean="0"/>
              <a:t> = a;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포인터 변수는 간접 접근</a:t>
            </a:r>
            <a:endParaRPr lang="en-US" altLang="ko-KR" dirty="0" smtClean="0"/>
          </a:p>
          <a:p>
            <a:r>
              <a:rPr lang="ko-KR" altLang="en-US" dirty="0" err="1" smtClean="0"/>
              <a:t>레퍼런스</a:t>
            </a:r>
            <a:r>
              <a:rPr lang="ko-KR" altLang="en-US" dirty="0" smtClean="0"/>
              <a:t> 변수는 직접 접근</a:t>
            </a:r>
            <a:endParaRPr lang="en-US" altLang="ko-K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901864"/>
            <a:ext cx="4464496" cy="3720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오른쪽 중괄호 13"/>
          <p:cNvSpPr/>
          <p:nvPr/>
        </p:nvSpPr>
        <p:spPr>
          <a:xfrm rot="10800000">
            <a:off x="3131840" y="3717031"/>
            <a:ext cx="216024" cy="1045039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sp>
        <p:nvSpPr>
          <p:cNvPr id="15" name="오른쪽 중괄호 14"/>
          <p:cNvSpPr/>
          <p:nvPr/>
        </p:nvSpPr>
        <p:spPr>
          <a:xfrm rot="10800000">
            <a:off x="3131838" y="5229199"/>
            <a:ext cx="216025" cy="792088"/>
          </a:xfrm>
          <a:prstGeom prst="rightBrac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709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24749"/>
            <a:ext cx="8568952" cy="5656579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동적할당</a:t>
            </a:r>
            <a:endParaRPr lang="en-US" altLang="ko-KR" dirty="0"/>
          </a:p>
          <a:p>
            <a:r>
              <a:rPr lang="ko-KR" altLang="en-US" dirty="0" err="1" smtClean="0"/>
              <a:t>자료형</a:t>
            </a:r>
            <a:r>
              <a:rPr lang="en-US" altLang="ko-KR" dirty="0" smtClean="0"/>
              <a:t>* </a:t>
            </a:r>
            <a:r>
              <a:rPr lang="ko-KR" altLang="en-US" dirty="0" smtClean="0"/>
              <a:t>포인터변수 </a:t>
            </a:r>
            <a:r>
              <a:rPr lang="en-US" altLang="ko-KR" dirty="0" smtClean="0"/>
              <a:t>=  new </a:t>
            </a:r>
            <a:r>
              <a:rPr lang="ko-KR" altLang="en-US" dirty="0" err="1" smtClean="0"/>
              <a:t>자료형</a:t>
            </a:r>
            <a:r>
              <a:rPr lang="en-US" altLang="ko-KR" dirty="0" smtClean="0"/>
              <a:t>[</a:t>
            </a:r>
            <a:r>
              <a:rPr lang="ko-KR" altLang="en-US" dirty="0" smtClean="0"/>
              <a:t>개수</a:t>
            </a:r>
            <a:r>
              <a:rPr lang="en-US" altLang="ko-KR" dirty="0" smtClean="0"/>
              <a:t>];</a:t>
            </a:r>
          </a:p>
          <a:p>
            <a:r>
              <a:rPr lang="en-US" altLang="ko-KR" dirty="0" smtClean="0"/>
              <a:t>-&gt;</a:t>
            </a:r>
            <a:r>
              <a:rPr lang="ko-KR" altLang="en-US" dirty="0" smtClean="0"/>
              <a:t>기억장소가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개이면 </a:t>
            </a:r>
            <a:r>
              <a:rPr lang="en-US" altLang="ko-KR" dirty="0" smtClean="0"/>
              <a:t>[</a:t>
            </a:r>
            <a:r>
              <a:rPr lang="ko-KR" altLang="en-US" dirty="0" smtClean="0"/>
              <a:t>개수</a:t>
            </a:r>
            <a:r>
              <a:rPr lang="en-US" altLang="ko-KR" dirty="0" smtClean="0"/>
              <a:t>] </a:t>
            </a:r>
            <a:r>
              <a:rPr lang="ko-KR" altLang="en-US" dirty="0" smtClean="0"/>
              <a:t>생략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err="1" smtClean="0"/>
              <a:t>동적할당</a:t>
            </a:r>
            <a:r>
              <a:rPr lang="ko-KR" altLang="en-US" dirty="0" smtClean="0"/>
              <a:t> 해제</a:t>
            </a:r>
            <a:endParaRPr lang="en-US" altLang="ko-KR" dirty="0"/>
          </a:p>
          <a:p>
            <a:r>
              <a:rPr lang="en-US" altLang="ko-KR" dirty="0" smtClean="0"/>
              <a:t>delete </a:t>
            </a:r>
            <a:r>
              <a:rPr lang="ko-KR" altLang="en-US" dirty="0" smtClean="0"/>
              <a:t>포인터변수</a:t>
            </a:r>
            <a:r>
              <a:rPr lang="en-US" altLang="ko-KR" dirty="0" smtClean="0"/>
              <a:t>; //</a:t>
            </a:r>
            <a:r>
              <a:rPr lang="ko-KR" altLang="en-US" dirty="0" smtClean="0"/>
              <a:t>하나의 기억장소 해제</a:t>
            </a:r>
            <a:endParaRPr lang="en-US" altLang="ko-KR" dirty="0" smtClean="0"/>
          </a:p>
          <a:p>
            <a:r>
              <a:rPr lang="en-US" altLang="ko-KR" dirty="0" smtClean="0"/>
              <a:t>delete[] </a:t>
            </a:r>
            <a:r>
              <a:rPr lang="ko-KR" altLang="en-US" dirty="0" smtClean="0"/>
              <a:t>포인터변수</a:t>
            </a:r>
            <a:r>
              <a:rPr lang="en-US" altLang="ko-KR" dirty="0" smtClean="0"/>
              <a:t>; // </a:t>
            </a:r>
            <a:r>
              <a:rPr lang="ko-KR" altLang="en-US" dirty="0" smtClean="0"/>
              <a:t>여러 개의 기억장소 해제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해제 </a:t>
            </a:r>
            <a:r>
              <a:rPr lang="ko-KR" altLang="en-US" dirty="0" err="1" smtClean="0"/>
              <a:t>해야하는</a:t>
            </a:r>
            <a:r>
              <a:rPr lang="ko-KR" altLang="en-US" dirty="0" smtClean="0"/>
              <a:t> 이유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Heap</a:t>
            </a:r>
            <a:r>
              <a:rPr lang="ko-KR" altLang="en-US" dirty="0" smtClean="0"/>
              <a:t>영역에 할당되기 때문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err="1" smtClean="0"/>
              <a:t>cf</a:t>
            </a:r>
            <a:r>
              <a:rPr lang="en-US" altLang="ko-KR" dirty="0" smtClean="0"/>
              <a:t>) </a:t>
            </a:r>
            <a:r>
              <a:rPr lang="ko-KR" altLang="en-US" dirty="0" smtClean="0"/>
              <a:t>정적으로 할당된 변수들은 </a:t>
            </a:r>
            <a:r>
              <a:rPr lang="en-US" altLang="ko-KR" dirty="0" smtClean="0"/>
              <a:t>Stack</a:t>
            </a:r>
            <a:r>
              <a:rPr lang="ko-KR" altLang="en-US" dirty="0" smtClean="0"/>
              <a:t>에 할당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545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24749"/>
            <a:ext cx="8568952" cy="565657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구조체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여러 자료를 하나의 자료처럼 묶어 놓은 형태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DB</a:t>
            </a:r>
            <a:r>
              <a:rPr lang="ko-KR" altLang="en-US" dirty="0" smtClean="0"/>
              <a:t>용어</a:t>
            </a:r>
            <a:endParaRPr lang="en-US" altLang="ko-KR" dirty="0"/>
          </a:p>
          <a:p>
            <a:r>
              <a:rPr lang="ko-KR" altLang="en-US" dirty="0" smtClean="0"/>
              <a:t>레코드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연관된 자료 항목이 모여 있는 형태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필드</a:t>
            </a:r>
            <a:r>
              <a:rPr lang="en-US" altLang="ko-KR" dirty="0" smtClean="0"/>
              <a:t>(</a:t>
            </a:r>
            <a:r>
              <a:rPr lang="ko-KR" altLang="en-US" dirty="0" smtClean="0"/>
              <a:t>항목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아이템</a:t>
            </a:r>
            <a:r>
              <a:rPr lang="en-US" altLang="ko-KR" dirty="0"/>
              <a:t>)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레코드를 구성하는 기본 단위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레코드 단위의 변수 선언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1. </a:t>
            </a:r>
            <a:r>
              <a:rPr lang="ko-KR" altLang="en-US" dirty="0" smtClean="0"/>
              <a:t>레코드가 어떤 구조를 갖는지 정의</a:t>
            </a:r>
            <a:r>
              <a:rPr lang="en-US" altLang="ko-KR" dirty="0" smtClean="0"/>
              <a:t>(</a:t>
            </a:r>
            <a:r>
              <a:rPr lang="ko-KR" altLang="en-US" dirty="0" smtClean="0"/>
              <a:t>구조체의 정의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구조체를 구성하는 필드</a:t>
            </a:r>
            <a:r>
              <a:rPr lang="en-US" altLang="ko-KR" dirty="0" smtClean="0"/>
              <a:t>(</a:t>
            </a:r>
            <a:r>
              <a:rPr lang="ko-KR" altLang="en-US" dirty="0" smtClean="0"/>
              <a:t>구조체 멤버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and </a:t>
            </a:r>
            <a:r>
              <a:rPr lang="ko-KR" altLang="en-US" dirty="0" smtClean="0"/>
              <a:t>필드의 </a:t>
            </a:r>
            <a:r>
              <a:rPr lang="ko-KR" altLang="en-US" dirty="0" err="1" smtClean="0"/>
              <a:t>자료형</a:t>
            </a:r>
            <a:r>
              <a:rPr lang="ko-KR" altLang="en-US" dirty="0" smtClean="0"/>
              <a:t> 결정</a:t>
            </a:r>
            <a:endParaRPr lang="en-US" altLang="ko-KR" dirty="0"/>
          </a:p>
          <a:p>
            <a:r>
              <a:rPr lang="en-US" altLang="ko-KR" dirty="0" smtClean="0"/>
              <a:t>-&gt; </a:t>
            </a:r>
            <a:r>
              <a:rPr lang="ko-KR" altLang="en-US" b="1" dirty="0" smtClean="0"/>
              <a:t>레코드 </a:t>
            </a:r>
            <a:r>
              <a:rPr lang="en-US" altLang="ko-KR" b="1" dirty="0" smtClean="0"/>
              <a:t>= </a:t>
            </a:r>
            <a:r>
              <a:rPr lang="ko-KR" altLang="en-US" b="1" dirty="0" smtClean="0"/>
              <a:t>구조체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레코드를 구성하는 필드 </a:t>
            </a:r>
            <a:r>
              <a:rPr lang="en-US" altLang="ko-KR" b="1" dirty="0" smtClean="0"/>
              <a:t>= </a:t>
            </a:r>
            <a:r>
              <a:rPr lang="ko-KR" altLang="en-US" b="1" dirty="0" smtClean="0"/>
              <a:t>구조체의 멤버</a:t>
            </a:r>
            <a:endParaRPr lang="en-US" altLang="ko-KR" b="1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2952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24749"/>
            <a:ext cx="4104456" cy="5656579"/>
          </a:xfrm>
        </p:spPr>
        <p:txBody>
          <a:bodyPr>
            <a:normAutofit/>
          </a:bodyPr>
          <a:lstStyle/>
          <a:p>
            <a:r>
              <a:rPr lang="ko-KR" altLang="en-US" sz="1600" dirty="0" smtClean="0"/>
              <a:t>구조체의 정의</a:t>
            </a:r>
            <a:endParaRPr lang="en-US" altLang="ko-KR" sz="1600" dirty="0" smtClean="0"/>
          </a:p>
          <a:p>
            <a:r>
              <a:rPr lang="en-US" altLang="ko-KR" sz="1600" dirty="0" err="1" smtClean="0"/>
              <a:t>struct</a:t>
            </a:r>
            <a:r>
              <a:rPr lang="en-US" altLang="ko-KR" sz="1600" dirty="0" smtClean="0"/>
              <a:t> [</a:t>
            </a:r>
            <a:r>
              <a:rPr lang="ko-KR" altLang="en-US" sz="1600" dirty="0" smtClean="0"/>
              <a:t>태그 이름</a:t>
            </a:r>
            <a:r>
              <a:rPr lang="en-US" altLang="ko-KR" sz="1600" dirty="0" smtClean="0"/>
              <a:t>]</a:t>
            </a:r>
          </a:p>
          <a:p>
            <a:r>
              <a:rPr lang="en-US" altLang="ko-KR" sz="1600" dirty="0" smtClean="0"/>
              <a:t>{</a:t>
            </a:r>
          </a:p>
          <a:p>
            <a:r>
              <a:rPr lang="ko-KR" altLang="en-US" sz="1600" dirty="0" smtClean="0"/>
              <a:t>  구조체 멤버 선언</a:t>
            </a:r>
            <a:r>
              <a:rPr lang="en-US" altLang="ko-KR" sz="1600" dirty="0" smtClean="0"/>
              <a:t>;</a:t>
            </a:r>
          </a:p>
          <a:p>
            <a:r>
              <a:rPr lang="en-US" altLang="ko-KR" sz="1600" dirty="0" smtClean="0"/>
              <a:t>} [</a:t>
            </a:r>
            <a:r>
              <a:rPr lang="ko-KR" altLang="en-US" sz="1600" dirty="0" smtClean="0"/>
              <a:t>변수이름</a:t>
            </a:r>
            <a:r>
              <a:rPr lang="en-US" altLang="ko-KR" sz="1600" dirty="0" smtClean="0"/>
              <a:t>1], [</a:t>
            </a:r>
            <a:r>
              <a:rPr lang="ko-KR" altLang="en-US" sz="1600" dirty="0" smtClean="0"/>
              <a:t>변수이름</a:t>
            </a:r>
            <a:r>
              <a:rPr lang="en-US" altLang="ko-KR" sz="1600" dirty="0" smtClean="0"/>
              <a:t>2];</a:t>
            </a:r>
          </a:p>
          <a:p>
            <a:endParaRPr lang="en-US" altLang="ko-KR" sz="1600" dirty="0" smtClean="0"/>
          </a:p>
          <a:p>
            <a:r>
              <a:rPr lang="en-US" altLang="ko-KR" sz="1600" dirty="0" err="1"/>
              <a:t>struct</a:t>
            </a:r>
            <a:r>
              <a:rPr lang="en-US" altLang="ko-KR" sz="1600" dirty="0"/>
              <a:t> [</a:t>
            </a:r>
            <a:r>
              <a:rPr lang="ko-KR" altLang="en-US" sz="1600" dirty="0"/>
              <a:t>태그 이름</a:t>
            </a:r>
            <a:r>
              <a:rPr lang="en-US" altLang="ko-KR" sz="1600" dirty="0"/>
              <a:t>]</a:t>
            </a:r>
          </a:p>
          <a:p>
            <a:r>
              <a:rPr lang="en-US" altLang="ko-KR" sz="1600" dirty="0"/>
              <a:t>{</a:t>
            </a:r>
          </a:p>
          <a:p>
            <a:r>
              <a:rPr lang="ko-KR" altLang="en-US" sz="1600" dirty="0"/>
              <a:t>  구조체 멤버 선언</a:t>
            </a:r>
            <a:r>
              <a:rPr lang="en-US" altLang="ko-KR" sz="1600" dirty="0"/>
              <a:t>;</a:t>
            </a:r>
          </a:p>
          <a:p>
            <a:r>
              <a:rPr lang="en-US" altLang="ko-KR" sz="1600" dirty="0" smtClean="0"/>
              <a:t>}</a:t>
            </a:r>
          </a:p>
          <a:p>
            <a:r>
              <a:rPr lang="en-US" altLang="ko-KR" sz="1600" dirty="0" err="1" smtClean="0"/>
              <a:t>struct</a:t>
            </a:r>
            <a:r>
              <a:rPr lang="en-US" altLang="ko-KR" sz="1600" dirty="0" smtClean="0"/>
              <a:t> [</a:t>
            </a:r>
            <a:r>
              <a:rPr lang="ko-KR" altLang="en-US" sz="1600" dirty="0" smtClean="0"/>
              <a:t>태그 이름</a:t>
            </a:r>
            <a:r>
              <a:rPr lang="en-US" altLang="ko-KR" sz="1600" dirty="0" smtClean="0"/>
              <a:t>] [</a:t>
            </a:r>
            <a:r>
              <a:rPr lang="ko-KR" altLang="en-US" sz="1600" dirty="0" smtClean="0"/>
              <a:t>변수 이름</a:t>
            </a:r>
            <a:r>
              <a:rPr lang="en-US" altLang="ko-KR" sz="1600" dirty="0" smtClean="0"/>
              <a:t>1], [</a:t>
            </a:r>
            <a:r>
              <a:rPr lang="ko-KR" altLang="en-US" sz="1600" dirty="0" smtClean="0"/>
              <a:t>변수 이름</a:t>
            </a:r>
            <a:r>
              <a:rPr lang="en-US" altLang="ko-KR" sz="1600" dirty="0" smtClean="0"/>
              <a:t>2];</a:t>
            </a:r>
          </a:p>
        </p:txBody>
      </p:sp>
      <p:sp>
        <p:nvSpPr>
          <p:cNvPr id="4" name="타원 3"/>
          <p:cNvSpPr/>
          <p:nvPr/>
        </p:nvSpPr>
        <p:spPr>
          <a:xfrm>
            <a:off x="899592" y="962726"/>
            <a:ext cx="100811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>
            <a:endCxn id="4" idx="6"/>
          </p:cNvCxnSpPr>
          <p:nvPr/>
        </p:nvCxnSpPr>
        <p:spPr>
          <a:xfrm flipH="1">
            <a:off x="1907704" y="1052736"/>
            <a:ext cx="2620646" cy="900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내용 개체 틀 2"/>
          <p:cNvSpPr txBox="1">
            <a:spLocks/>
          </p:cNvSpPr>
          <p:nvPr/>
        </p:nvSpPr>
        <p:spPr>
          <a:xfrm>
            <a:off x="4528350" y="874404"/>
            <a:ext cx="4104456" cy="5656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생략 가능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생략 불가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자료형과</a:t>
            </a:r>
            <a:r>
              <a:rPr lang="ko-KR" altLang="en-US" dirty="0" smtClean="0"/>
              <a:t> 구조체형은 동급</a:t>
            </a:r>
            <a:r>
              <a:rPr lang="en-US" altLang="ko-KR" dirty="0" smtClean="0"/>
              <a:t>!</a:t>
            </a:r>
          </a:p>
          <a:p>
            <a:endParaRPr lang="en-US" altLang="ko-KR" dirty="0"/>
          </a:p>
          <a:p>
            <a:r>
              <a:rPr lang="ko-KR" altLang="en-US" dirty="0" smtClean="0"/>
              <a:t>구조체 변수가 멤버를 지칭할 때 </a:t>
            </a:r>
            <a:endParaRPr lang="en-US" altLang="ko-KR" dirty="0" smtClean="0"/>
          </a:p>
          <a:p>
            <a:r>
              <a:rPr lang="en-US" altLang="ko-KR" dirty="0" smtClean="0"/>
              <a:t>“</a:t>
            </a:r>
            <a:r>
              <a:rPr lang="ko-KR" altLang="en-US" dirty="0" smtClean="0"/>
              <a:t>멤버를 참조한다</a:t>
            </a:r>
            <a:r>
              <a:rPr lang="en-US" altLang="ko-KR" dirty="0" smtClean="0"/>
              <a:t>.” </a:t>
            </a:r>
            <a:r>
              <a:rPr lang="ko-KR" altLang="en-US" dirty="0" smtClean="0"/>
              <a:t>라고 표현</a:t>
            </a:r>
            <a:endParaRPr lang="en-US" altLang="ko-KR" dirty="0" smtClean="0"/>
          </a:p>
        </p:txBody>
      </p:sp>
      <p:sp>
        <p:nvSpPr>
          <p:cNvPr id="11" name="타원 10"/>
          <p:cNvSpPr/>
          <p:nvPr/>
        </p:nvSpPr>
        <p:spPr>
          <a:xfrm>
            <a:off x="827584" y="2436846"/>
            <a:ext cx="1008112" cy="3600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endCxn id="11" idx="6"/>
          </p:cNvCxnSpPr>
          <p:nvPr/>
        </p:nvCxnSpPr>
        <p:spPr>
          <a:xfrm flipH="1" flipV="1">
            <a:off x="1835696" y="2616866"/>
            <a:ext cx="2692654" cy="92054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5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24749"/>
            <a:ext cx="3816424" cy="5656579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struct</a:t>
            </a:r>
            <a:endParaRPr lang="en-US" altLang="ko-KR" dirty="0" smtClean="0"/>
          </a:p>
          <a:p>
            <a:r>
              <a:rPr lang="en-US" altLang="ko-KR" dirty="0" smtClean="0"/>
              <a:t>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char Name[30];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char </a:t>
            </a:r>
            <a:r>
              <a:rPr lang="en-US" altLang="ko-KR" dirty="0" err="1" smtClean="0"/>
              <a:t>Mphone</a:t>
            </a:r>
            <a:r>
              <a:rPr lang="en-US" altLang="ko-KR" dirty="0" smtClean="0"/>
              <a:t>[20];</a:t>
            </a:r>
          </a:p>
          <a:p>
            <a:r>
              <a:rPr lang="en-US" altLang="ko-KR" dirty="0" smtClean="0"/>
              <a:t>} friend = {“</a:t>
            </a:r>
            <a:r>
              <a:rPr lang="ko-KR" altLang="en-US" dirty="0" err="1" smtClean="0"/>
              <a:t>김인텍</a:t>
            </a:r>
            <a:r>
              <a:rPr lang="en-US" altLang="ko-KR" dirty="0" smtClean="0"/>
              <a:t>”, “031-218-4800”};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932040" y="764868"/>
            <a:ext cx="3816424" cy="5656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초기화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편리함</a:t>
            </a:r>
            <a:r>
              <a:rPr lang="en-US" altLang="ko-KR" dirty="0" smtClean="0"/>
              <a:t>(</a:t>
            </a:r>
            <a:r>
              <a:rPr lang="ko-KR" altLang="en-US" dirty="0" smtClean="0"/>
              <a:t>한번에 대입</a:t>
            </a:r>
            <a:r>
              <a:rPr lang="en-US" altLang="ko-KR" dirty="0" smtClean="0"/>
              <a:t>(</a:t>
            </a:r>
            <a:r>
              <a:rPr lang="ko-KR" altLang="en-US" dirty="0" smtClean="0"/>
              <a:t>할당</a:t>
            </a:r>
            <a:r>
              <a:rPr lang="en-US" altLang="ko-KR" dirty="0" smtClean="0"/>
              <a:t>)</a:t>
            </a:r>
            <a:r>
              <a:rPr lang="ko-KR" altLang="en-US" dirty="0" smtClean="0"/>
              <a:t> 가능</a:t>
            </a:r>
            <a:r>
              <a:rPr lang="en-US" altLang="ko-KR" dirty="0"/>
              <a:t>)</a:t>
            </a:r>
            <a:endParaRPr lang="en-US" altLang="ko-KR" dirty="0" smtClean="0"/>
          </a:p>
        </p:txBody>
      </p:sp>
      <p:sp>
        <p:nvSpPr>
          <p:cNvPr id="5" name="타원 4"/>
          <p:cNvSpPr/>
          <p:nvPr/>
        </p:nvSpPr>
        <p:spPr>
          <a:xfrm>
            <a:off x="467544" y="1988840"/>
            <a:ext cx="3456384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3419872" y="980728"/>
            <a:ext cx="1584176" cy="10081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08920"/>
            <a:ext cx="5544616" cy="3890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타원 13"/>
          <p:cNvSpPr/>
          <p:nvPr/>
        </p:nvSpPr>
        <p:spPr>
          <a:xfrm>
            <a:off x="179512" y="4077072"/>
            <a:ext cx="2627784" cy="28803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273575" y="4876382"/>
            <a:ext cx="1893824" cy="28803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2382044" y="2132856"/>
            <a:ext cx="2766020" cy="1920631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1983904" y="2132856"/>
            <a:ext cx="3164160" cy="2743526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5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24749"/>
            <a:ext cx="8568952" cy="565657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구조체 멤버가 구조체 변수를 포함 할 때</a:t>
            </a:r>
            <a:endParaRPr lang="en-US" altLang="ko-KR" dirty="0" smtClean="0"/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구조체 변수</a:t>
            </a:r>
            <a:r>
              <a:rPr lang="en-US" altLang="ko-KR" dirty="0" smtClean="0"/>
              <a:t>].[</a:t>
            </a:r>
            <a:r>
              <a:rPr lang="ko-KR" altLang="en-US" dirty="0" smtClean="0"/>
              <a:t>멤버인 구조체형 변수</a:t>
            </a:r>
            <a:r>
              <a:rPr lang="en-US" altLang="ko-KR" dirty="0" smtClean="0"/>
              <a:t>].[</a:t>
            </a:r>
            <a:r>
              <a:rPr lang="ko-KR" altLang="en-US" dirty="0" smtClean="0"/>
              <a:t>멤버</a:t>
            </a:r>
            <a:r>
              <a:rPr lang="en-US" altLang="ko-KR" dirty="0" smtClean="0"/>
              <a:t>]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43769"/>
            <a:ext cx="5168999" cy="4864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95536" y="4149080"/>
            <a:ext cx="1728192" cy="100811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23528" y="1039713"/>
            <a:ext cx="3816424" cy="37306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907704" y="1412776"/>
            <a:ext cx="0" cy="2736304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5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24749"/>
            <a:ext cx="8568952" cy="5656579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typedef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이미 정의된 내용을 다시 정의</a:t>
            </a:r>
            <a:endParaRPr lang="en-US" altLang="ko-KR" dirty="0" smtClean="0"/>
          </a:p>
          <a:p>
            <a:r>
              <a:rPr lang="en-US" altLang="ko-KR" dirty="0" smtClean="0"/>
              <a:t>why? -&gt; </a:t>
            </a:r>
            <a:r>
              <a:rPr lang="ko-KR" altLang="en-US" dirty="0" smtClean="0"/>
              <a:t>구조체 형은 사용자가 필요한 내용의 멤버들이 포함되어 있어 길다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이미 정의된 내용</a:t>
            </a:r>
            <a:r>
              <a:rPr lang="en-US" altLang="ko-KR" dirty="0" smtClean="0"/>
              <a:t>] [</a:t>
            </a:r>
            <a:r>
              <a:rPr lang="ko-KR" altLang="en-US" dirty="0" smtClean="0"/>
              <a:t>새로 정의해서 사용할 내용</a:t>
            </a:r>
            <a:r>
              <a:rPr lang="en-US" altLang="ko-KR" dirty="0" smtClean="0"/>
              <a:t>];</a:t>
            </a:r>
          </a:p>
          <a:p>
            <a:endParaRPr lang="en-US" altLang="ko-KR" dirty="0"/>
          </a:p>
          <a:p>
            <a:r>
              <a:rPr lang="en-US" altLang="ko-KR" dirty="0" err="1" smtClean="0"/>
              <a:t>typedef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struct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sam</a:t>
            </a:r>
            <a:r>
              <a:rPr lang="en-US" altLang="ko-KR" dirty="0" smtClean="0"/>
              <a:t> SAM;</a:t>
            </a:r>
          </a:p>
          <a:p>
            <a:r>
              <a:rPr lang="en-US" altLang="ko-KR" dirty="0" smtClean="0"/>
              <a:t>SAM Friend, Friend2;</a:t>
            </a:r>
          </a:p>
          <a:p>
            <a:endParaRPr lang="en-US" altLang="ko-KR" dirty="0"/>
          </a:p>
        </p:txBody>
      </p:sp>
      <p:sp>
        <p:nvSpPr>
          <p:cNvPr id="4" name="타원 3"/>
          <p:cNvSpPr/>
          <p:nvPr/>
        </p:nvSpPr>
        <p:spPr>
          <a:xfrm>
            <a:off x="323528" y="1700808"/>
            <a:ext cx="1584176" cy="3600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2026864" y="1700808"/>
            <a:ext cx="2473127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187625" y="2076421"/>
            <a:ext cx="432047" cy="34446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1085837" y="2420888"/>
            <a:ext cx="1109899" cy="28803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2627784" y="2060848"/>
            <a:ext cx="576064" cy="34446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2153109" y="2405314"/>
            <a:ext cx="618691" cy="3036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274490" y="2709516"/>
            <a:ext cx="618691" cy="3036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686" y="2381115"/>
            <a:ext cx="3688570" cy="4141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795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24749"/>
            <a:ext cx="3744416" cy="565657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구조체 선언 위치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헤더 파일 별도로 관리하는 것이 편리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#include “</a:t>
            </a:r>
            <a:r>
              <a:rPr lang="en-US" altLang="ko-KR" dirty="0" err="1" smtClean="0"/>
              <a:t>config.h</a:t>
            </a:r>
            <a:r>
              <a:rPr lang="en-US" altLang="ko-KR" dirty="0" smtClean="0"/>
              <a:t>”</a:t>
            </a:r>
          </a:p>
          <a:p>
            <a:endParaRPr lang="en-US" altLang="ko-KR" dirty="0"/>
          </a:p>
          <a:p>
            <a:r>
              <a:rPr lang="en-US" altLang="ko-KR" dirty="0" err="1" smtClean="0"/>
              <a:t>typedef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struct</a:t>
            </a:r>
            <a:endParaRPr lang="en-US" altLang="ko-KR" dirty="0" smtClean="0"/>
          </a:p>
          <a:p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>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Month; //4</a:t>
            </a:r>
            <a:r>
              <a:rPr lang="ko-KR" altLang="en-US" dirty="0" smtClean="0"/>
              <a:t>바이트</a:t>
            </a:r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Day; //4</a:t>
            </a:r>
            <a:r>
              <a:rPr lang="ko-KR" altLang="en-US" dirty="0" smtClean="0"/>
              <a:t>바이트</a:t>
            </a:r>
            <a:endParaRPr lang="en-US" altLang="ko-KR" dirty="0" smtClean="0"/>
          </a:p>
          <a:p>
            <a:r>
              <a:rPr lang="en-US" altLang="ko-KR" dirty="0" smtClean="0"/>
              <a:t>   char </a:t>
            </a:r>
            <a:r>
              <a:rPr lang="en-US" altLang="ko-KR" dirty="0" err="1" smtClean="0"/>
              <a:t>ItemName</a:t>
            </a:r>
            <a:r>
              <a:rPr lang="en-US" altLang="ko-KR" dirty="0" smtClean="0"/>
              <a:t>[50]; // 52</a:t>
            </a:r>
            <a:r>
              <a:rPr lang="ko-KR" altLang="en-US" dirty="0" smtClean="0"/>
              <a:t>바이트</a:t>
            </a:r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Quantity; //4</a:t>
            </a:r>
            <a:r>
              <a:rPr lang="ko-KR" altLang="en-US" dirty="0" smtClean="0"/>
              <a:t>바이트</a:t>
            </a:r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UnitCost</a:t>
            </a:r>
            <a:r>
              <a:rPr lang="en-US" altLang="ko-KR" dirty="0" smtClean="0"/>
              <a:t>; //4</a:t>
            </a:r>
            <a:r>
              <a:rPr lang="ko-KR" altLang="en-US" dirty="0" smtClean="0"/>
              <a:t>바이트</a:t>
            </a:r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Price; // 4</a:t>
            </a:r>
            <a:r>
              <a:rPr lang="ko-KR" altLang="en-US" dirty="0" smtClean="0"/>
              <a:t>바이트</a:t>
            </a:r>
            <a:endParaRPr lang="en-US" altLang="ko-KR" dirty="0" smtClean="0"/>
          </a:p>
          <a:p>
            <a:r>
              <a:rPr lang="en-US" altLang="ko-KR" dirty="0" smtClean="0"/>
              <a:t>} ITEM;</a:t>
            </a:r>
          </a:p>
          <a:p>
            <a:r>
              <a:rPr lang="en-US" altLang="ko-KR" dirty="0" smtClean="0"/>
              <a:t>ITEM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72</a:t>
            </a:r>
            <a:r>
              <a:rPr lang="ko-KR" altLang="en-US" dirty="0" smtClean="0"/>
              <a:t>바이트</a:t>
            </a:r>
            <a:endParaRPr lang="en-US" altLang="ko-KR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505066"/>
              </p:ext>
            </p:extLst>
          </p:nvPr>
        </p:nvGraphicFramePr>
        <p:xfrm>
          <a:off x="4572000" y="836712"/>
          <a:ext cx="410445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228"/>
                <a:gridCol w="205222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변수명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누적 </a:t>
                      </a:r>
                      <a:r>
                        <a:rPr lang="en-US" altLang="ko-KR" dirty="0" smtClean="0"/>
                        <a:t>byte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Month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Day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8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ItemName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60(58</a:t>
                      </a:r>
                      <a:r>
                        <a:rPr lang="ko-KR" altLang="en-US" dirty="0" smtClean="0"/>
                        <a:t>은 </a:t>
                      </a:r>
                      <a:r>
                        <a:rPr lang="en-US" altLang="ko-KR" dirty="0" smtClean="0"/>
                        <a:t>4</a:t>
                      </a:r>
                      <a:r>
                        <a:rPr lang="ko-KR" altLang="en-US" dirty="0" smtClean="0"/>
                        <a:t>의 배수가 아니라서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Quantity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64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UnitCost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68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Price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72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타원 5"/>
          <p:cNvSpPr/>
          <p:nvPr/>
        </p:nvSpPr>
        <p:spPr>
          <a:xfrm>
            <a:off x="107505" y="5013176"/>
            <a:ext cx="2016224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2126814" y="3717032"/>
            <a:ext cx="4677434" cy="14761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5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24749"/>
            <a:ext cx="8568952" cy="5656579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setw</a:t>
            </a:r>
            <a:r>
              <a:rPr lang="en-US" altLang="ko-KR" dirty="0" smtClean="0"/>
              <a:t>(</a:t>
            </a:r>
            <a:r>
              <a:rPr lang="ko-KR" altLang="en-US" dirty="0" smtClean="0"/>
              <a:t>숫자</a:t>
            </a:r>
            <a:r>
              <a:rPr lang="en-US" altLang="ko-KR" dirty="0" smtClean="0"/>
              <a:t>) // </a:t>
            </a:r>
            <a:r>
              <a:rPr lang="ko-KR" altLang="en-US" dirty="0" smtClean="0"/>
              <a:t>숫자 만큼 공백을 만드는 함수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err="1" smtClean="0"/>
              <a:t>setiosflags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ㅁ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/* </a:t>
            </a:r>
            <a:r>
              <a:rPr lang="ko-KR" altLang="en-US" dirty="0" smtClean="0"/>
              <a:t>출력방식을 설정하는 함수</a:t>
            </a:r>
            <a:r>
              <a:rPr lang="en-US" altLang="ko-KR" dirty="0" smtClean="0"/>
              <a:t>.</a:t>
            </a:r>
          </a:p>
          <a:p>
            <a:r>
              <a:rPr lang="en-US" altLang="ko-KR" dirty="0" err="1" smtClean="0"/>
              <a:t>cout</a:t>
            </a:r>
            <a:r>
              <a:rPr lang="ko-KR" altLang="en-US" dirty="0" smtClean="0"/>
              <a:t>과 함께 사용</a:t>
            </a:r>
            <a:endParaRPr lang="en-US" altLang="ko-KR" dirty="0" smtClean="0"/>
          </a:p>
          <a:p>
            <a:r>
              <a:rPr lang="ko-KR" altLang="en-US" dirty="0" err="1" smtClean="0"/>
              <a:t>ㅁ에는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showbase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showpos</a:t>
            </a:r>
            <a:r>
              <a:rPr lang="en-US" altLang="ko-KR" dirty="0" smtClean="0"/>
              <a:t>, uppercase</a:t>
            </a:r>
            <a:r>
              <a:rPr lang="ko-KR" altLang="en-US" dirty="0" smtClean="0"/>
              <a:t>등이 들어감</a:t>
            </a:r>
            <a:r>
              <a:rPr lang="en-US" altLang="ko-KR" dirty="0" smtClean="0"/>
              <a:t>.</a:t>
            </a:r>
          </a:p>
          <a:p>
            <a:r>
              <a:rPr lang="en-US" altLang="ko-KR" dirty="0" err="1" smtClean="0"/>
              <a:t>showbase</a:t>
            </a:r>
            <a:r>
              <a:rPr lang="en-US" altLang="ko-KR" dirty="0" smtClean="0"/>
              <a:t> : </a:t>
            </a:r>
            <a:r>
              <a:rPr lang="ko-KR" altLang="en-US" dirty="0" smtClean="0"/>
              <a:t>출력되는 값의 진법 설정</a:t>
            </a:r>
            <a:endParaRPr lang="en-US" altLang="ko-KR" dirty="0" smtClean="0"/>
          </a:p>
          <a:p>
            <a:r>
              <a:rPr lang="en-US" altLang="ko-KR" dirty="0" err="1" smtClean="0"/>
              <a:t>showpos</a:t>
            </a:r>
            <a:r>
              <a:rPr lang="en-US" altLang="ko-KR" dirty="0" smtClean="0"/>
              <a:t> : + </a:t>
            </a:r>
            <a:r>
              <a:rPr lang="ko-KR" altLang="en-US" dirty="0" smtClean="0"/>
              <a:t>기호를 붙인 상태로 양수를 표현</a:t>
            </a:r>
            <a:endParaRPr lang="en-US" altLang="ko-KR" dirty="0" smtClean="0"/>
          </a:p>
          <a:p>
            <a:r>
              <a:rPr lang="en-US" altLang="ko-KR" dirty="0" smtClean="0"/>
              <a:t>uppercase : 16</a:t>
            </a:r>
            <a:r>
              <a:rPr lang="ko-KR" altLang="en-US" dirty="0" smtClean="0"/>
              <a:t>진수 표시에 사용되는 영문자를 대문자로 표시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11996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59832" y="5255170"/>
            <a:ext cx="3254002" cy="1224136"/>
          </a:xfrm>
        </p:spPr>
        <p:txBody>
          <a:bodyPr>
            <a:normAutofit/>
          </a:bodyPr>
          <a:lstStyle/>
          <a:p>
            <a:endParaRPr lang="en-US" altLang="ko-KR" dirty="0" smtClean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692695"/>
            <a:ext cx="531495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0" y="692695"/>
            <a:ext cx="2486025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타원 6"/>
          <p:cNvSpPr/>
          <p:nvPr/>
        </p:nvSpPr>
        <p:spPr>
          <a:xfrm>
            <a:off x="5796136" y="3284984"/>
            <a:ext cx="2506638" cy="302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3289498" y="3501008"/>
            <a:ext cx="1253319" cy="302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4644008" y="3524349"/>
            <a:ext cx="792088" cy="302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3059832" y="2822754"/>
            <a:ext cx="2448272" cy="302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00520" y="2060848"/>
            <a:ext cx="2703328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2612978" y="2276872"/>
            <a:ext cx="734886" cy="54588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51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24749"/>
            <a:ext cx="8640960" cy="5656579"/>
          </a:xfrm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ko-KR" altLang="en-US" sz="1600" dirty="0" smtClean="0"/>
              <a:t>구조체 배열</a:t>
            </a:r>
            <a:endParaRPr lang="en-US" altLang="ko-KR" sz="1600" dirty="0" smtClean="0"/>
          </a:p>
          <a:p>
            <a:r>
              <a:rPr lang="en-US" altLang="ko-KR" sz="1600" dirty="0" smtClean="0"/>
              <a:t>-&gt; </a:t>
            </a:r>
            <a:r>
              <a:rPr lang="ko-KR" altLang="en-US" sz="1600" dirty="0" smtClean="0"/>
              <a:t>정의한 구조체형 변수가 연이어 할당된 형태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err="1" smtClean="0"/>
              <a:t>typedef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struct</a:t>
            </a:r>
            <a:endParaRPr lang="en-US" altLang="ko-KR" sz="1600" dirty="0" smtClean="0"/>
          </a:p>
          <a:p>
            <a:r>
              <a:rPr lang="en-US" altLang="ko-KR" sz="1600" dirty="0" smtClean="0"/>
              <a:t>{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char Name[30];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char </a:t>
            </a:r>
            <a:r>
              <a:rPr lang="en-US" altLang="ko-KR" sz="1600" dirty="0" err="1" smtClean="0"/>
              <a:t>MPhoneNum</a:t>
            </a:r>
            <a:r>
              <a:rPr lang="en-US" altLang="ko-KR" sz="1600" dirty="0" smtClean="0"/>
              <a:t>[20];</a:t>
            </a:r>
          </a:p>
          <a:p>
            <a:r>
              <a:rPr lang="en-US" altLang="ko-KR" sz="1600" dirty="0" smtClean="0"/>
              <a:t>} SAM;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SAM </a:t>
            </a:r>
            <a:r>
              <a:rPr lang="en-US" altLang="ko-KR" sz="1600" dirty="0" err="1" smtClean="0"/>
              <a:t>arr</a:t>
            </a:r>
            <a:r>
              <a:rPr lang="en-US" altLang="ko-KR" sz="1600" dirty="0" smtClean="0"/>
              <a:t>[3];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	</a:t>
            </a:r>
            <a:r>
              <a:rPr lang="en-US" altLang="ko-KR" sz="1600" dirty="0" err="1" smtClean="0"/>
              <a:t>arr</a:t>
            </a:r>
            <a:r>
              <a:rPr lang="en-US" altLang="ko-KR" sz="1600" dirty="0" smtClean="0"/>
              <a:t>[0]			</a:t>
            </a:r>
            <a:r>
              <a:rPr lang="en-US" altLang="ko-KR" sz="1600" dirty="0" err="1" smtClean="0"/>
              <a:t>arr</a:t>
            </a:r>
            <a:r>
              <a:rPr lang="en-US" altLang="ko-KR" sz="1600" dirty="0" smtClean="0"/>
              <a:t>[1]			</a:t>
            </a:r>
            <a:r>
              <a:rPr lang="en-US" altLang="ko-KR" sz="1600" dirty="0" err="1" smtClean="0"/>
              <a:t>arr</a:t>
            </a:r>
            <a:r>
              <a:rPr lang="en-US" altLang="ko-KR" sz="1600" dirty="0" smtClean="0"/>
              <a:t>[2]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050113"/>
              </p:ext>
            </p:extLst>
          </p:nvPr>
        </p:nvGraphicFramePr>
        <p:xfrm>
          <a:off x="179512" y="3861048"/>
          <a:ext cx="28083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156"/>
                <a:gridCol w="1404156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30byte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20byte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Name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MPhoneNum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417328"/>
              </p:ext>
            </p:extLst>
          </p:nvPr>
        </p:nvGraphicFramePr>
        <p:xfrm>
          <a:off x="3176228" y="3861048"/>
          <a:ext cx="28083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156"/>
                <a:gridCol w="1404156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30byte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20byte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Name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MPhoneNum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69292"/>
              </p:ext>
            </p:extLst>
          </p:nvPr>
        </p:nvGraphicFramePr>
        <p:xfrm>
          <a:off x="6156176" y="3861048"/>
          <a:ext cx="28083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156"/>
                <a:gridCol w="1404156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30byte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20byte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Name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MPhoneNum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107504" y="3789040"/>
            <a:ext cx="2952328" cy="14401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3131840" y="3789040"/>
            <a:ext cx="2880320" cy="14401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6084168" y="3789040"/>
            <a:ext cx="2952328" cy="14401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14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179512" y="692696"/>
            <a:ext cx="8424936" cy="5656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smtClean="0"/>
              <a:t>구조체 포인터</a:t>
            </a:r>
            <a:endParaRPr lang="en-US" altLang="ko-KR" sz="1600" dirty="0" smtClean="0"/>
          </a:p>
          <a:p>
            <a:r>
              <a:rPr lang="en-US" altLang="ko-KR" sz="1600" dirty="0" smtClean="0"/>
              <a:t>-&gt; </a:t>
            </a:r>
            <a:r>
              <a:rPr lang="ko-KR" altLang="en-US" sz="1600" dirty="0" smtClean="0"/>
              <a:t>구조체형 변수의 주소를 저장하는 것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err="1" smtClean="0"/>
              <a:t>typedef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struct</a:t>
            </a:r>
            <a:endParaRPr lang="en-US" altLang="ko-KR" sz="1600" dirty="0" smtClean="0"/>
          </a:p>
          <a:p>
            <a:r>
              <a:rPr lang="en-US" altLang="ko-KR" sz="1600" dirty="0" smtClean="0"/>
              <a:t>{</a:t>
            </a:r>
          </a:p>
          <a:p>
            <a:r>
              <a:rPr lang="en-US" altLang="ko-KR" sz="1600" dirty="0" smtClean="0"/>
              <a:t>  char Name[30];</a:t>
            </a:r>
          </a:p>
          <a:p>
            <a:r>
              <a:rPr lang="en-US" altLang="ko-KR" sz="1600" dirty="0" smtClean="0"/>
              <a:t>  char </a:t>
            </a:r>
            <a:r>
              <a:rPr lang="en-US" altLang="ko-KR" sz="1600" dirty="0" err="1" smtClean="0"/>
              <a:t>MPhoneNum</a:t>
            </a:r>
            <a:r>
              <a:rPr lang="en-US" altLang="ko-KR" sz="1600" dirty="0" smtClean="0"/>
              <a:t>[20];</a:t>
            </a:r>
          </a:p>
          <a:p>
            <a:r>
              <a:rPr lang="en-US" altLang="ko-KR" sz="1600" dirty="0" smtClean="0"/>
              <a:t>} SAM;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SAM a = {“</a:t>
            </a:r>
            <a:r>
              <a:rPr lang="ko-KR" altLang="en-US" sz="1600" dirty="0" err="1" smtClean="0"/>
              <a:t>장멘잡</a:t>
            </a:r>
            <a:r>
              <a:rPr lang="en-US" altLang="ko-KR" sz="1600" dirty="0" smtClean="0"/>
              <a:t>”, “010-6522-8834”};</a:t>
            </a:r>
          </a:p>
          <a:p>
            <a:r>
              <a:rPr lang="en-US" altLang="ko-KR" sz="1600" dirty="0" smtClean="0"/>
              <a:t>SAM* pa;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pa = &amp;a;		        </a:t>
            </a:r>
            <a:r>
              <a:rPr lang="ko-KR" altLang="en-US" sz="2000" b="1" dirty="0" smtClean="0"/>
              <a:t>同</a:t>
            </a:r>
            <a:endParaRPr lang="en-US" altLang="ko-KR" sz="2000" b="1" dirty="0" smtClean="0"/>
          </a:p>
          <a:p>
            <a:endParaRPr lang="en-US" altLang="ko-KR" sz="1600" dirty="0"/>
          </a:p>
          <a:p>
            <a:r>
              <a:rPr lang="en-US" altLang="ko-KR" sz="1600" dirty="0" err="1" smtClean="0"/>
              <a:t>cout</a:t>
            </a:r>
            <a:r>
              <a:rPr lang="en-US" altLang="ko-KR" sz="1600" dirty="0" smtClean="0"/>
              <a:t> &lt;&lt; (*pa).Name &lt;&lt; </a:t>
            </a:r>
            <a:r>
              <a:rPr lang="en-US" altLang="ko-KR" sz="1600" dirty="0" err="1" smtClean="0"/>
              <a:t>endl</a:t>
            </a:r>
            <a:r>
              <a:rPr lang="en-US" altLang="ko-KR" sz="1600" dirty="0" smtClean="0"/>
              <a:t>; //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smtClean="0"/>
              <a:t>pa-&gt;Name </a:t>
            </a:r>
            <a:r>
              <a:rPr lang="en-US" altLang="ko-KR" sz="1600" dirty="0"/>
              <a:t>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  <a:endParaRPr lang="en-US" altLang="ko-KR" sz="1600" dirty="0" smtClean="0"/>
          </a:p>
          <a:p>
            <a:endParaRPr lang="en-US" altLang="ko-KR" sz="1600" dirty="0" smtClean="0"/>
          </a:p>
        </p:txBody>
      </p:sp>
      <p:sp>
        <p:nvSpPr>
          <p:cNvPr id="5" name="타원 4"/>
          <p:cNvSpPr/>
          <p:nvPr/>
        </p:nvSpPr>
        <p:spPr>
          <a:xfrm>
            <a:off x="827584" y="4869160"/>
            <a:ext cx="115212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3419872" y="4869160"/>
            <a:ext cx="115212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 10"/>
          <p:cNvSpPr/>
          <p:nvPr/>
        </p:nvSpPr>
        <p:spPr>
          <a:xfrm>
            <a:off x="1403648" y="4617132"/>
            <a:ext cx="2592288" cy="252028"/>
          </a:xfrm>
          <a:custGeom>
            <a:avLst/>
            <a:gdLst>
              <a:gd name="connsiteX0" fmla="*/ 0 w 2734573"/>
              <a:gd name="connsiteY0" fmla="*/ 534896 h 534896"/>
              <a:gd name="connsiteX1" fmla="*/ 1371600 w 2734573"/>
              <a:gd name="connsiteY1" fmla="*/ 58 h 534896"/>
              <a:gd name="connsiteX2" fmla="*/ 2734573 w 2734573"/>
              <a:gd name="connsiteY2" fmla="*/ 500390 h 534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4573" h="534896">
                <a:moveTo>
                  <a:pt x="0" y="534896"/>
                </a:moveTo>
                <a:cubicBezTo>
                  <a:pt x="457919" y="270352"/>
                  <a:pt x="915838" y="5809"/>
                  <a:pt x="1371600" y="58"/>
                </a:cubicBezTo>
                <a:cubicBezTo>
                  <a:pt x="1827362" y="-5693"/>
                  <a:pt x="2516037" y="417001"/>
                  <a:pt x="2734573" y="50039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14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179512" y="692696"/>
            <a:ext cx="8424936" cy="5656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1600" dirty="0" smtClean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50619" y="764704"/>
            <a:ext cx="8424936" cy="5656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1600" dirty="0" smtClean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06760" y="845094"/>
            <a:ext cx="8424936" cy="5656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smtClean="0"/>
              <a:t>함수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메소드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-&gt; </a:t>
            </a:r>
            <a:r>
              <a:rPr lang="ko-KR" altLang="en-US" sz="1600" dirty="0" smtClean="0"/>
              <a:t>약속된 기능을 수행하는 하나의 단위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ko-KR" altLang="en-US" sz="1600" dirty="0" smtClean="0"/>
              <a:t>매개변수는 반드시 </a:t>
            </a:r>
            <a:r>
              <a:rPr lang="ko-KR" altLang="en-US" sz="1600" dirty="0" err="1" smtClean="0"/>
              <a:t>자료형</a:t>
            </a:r>
            <a:r>
              <a:rPr lang="ko-KR" altLang="en-US" sz="1600" dirty="0" smtClean="0"/>
              <a:t> 명시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ko-KR" altLang="en-US" sz="1600" dirty="0" smtClean="0"/>
              <a:t>헤더파일 작성에서 </a:t>
            </a:r>
            <a:r>
              <a:rPr lang="ko-KR" altLang="en-US" sz="1600" dirty="0" err="1" smtClean="0"/>
              <a:t>전저리기</a:t>
            </a:r>
            <a:r>
              <a:rPr lang="ko-KR" altLang="en-US" sz="1600" dirty="0" smtClean="0"/>
              <a:t> 사용</a:t>
            </a:r>
            <a:endParaRPr lang="en-US" altLang="ko-KR" sz="1600" dirty="0" smtClean="0"/>
          </a:p>
          <a:p>
            <a:r>
              <a:rPr lang="ko-KR" altLang="en-US" sz="1600" dirty="0" err="1" smtClean="0"/>
              <a:t>전처리기</a:t>
            </a:r>
            <a:r>
              <a:rPr lang="en-US" altLang="ko-KR" sz="1600" dirty="0" smtClean="0"/>
              <a:t>?</a:t>
            </a:r>
          </a:p>
          <a:p>
            <a:r>
              <a:rPr lang="en-US" altLang="ko-KR" sz="1600" dirty="0" smtClean="0"/>
              <a:t>-&gt; </a:t>
            </a:r>
            <a:r>
              <a:rPr lang="ko-KR" altLang="en-US" sz="1600" dirty="0" smtClean="0"/>
              <a:t>프로그램을 컴파일 할 때  </a:t>
            </a:r>
            <a:r>
              <a:rPr lang="ko-KR" altLang="en-US" sz="1600" dirty="0"/>
              <a:t>컴</a:t>
            </a:r>
            <a:r>
              <a:rPr lang="ko-KR" altLang="en-US" sz="1600" dirty="0" smtClean="0"/>
              <a:t>파일 직전에 실행되는 별도의 프로그램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-&gt; </a:t>
            </a:r>
            <a:r>
              <a:rPr lang="ko-KR" altLang="en-US" sz="1600" dirty="0" err="1" smtClean="0"/>
              <a:t>전처리기가</a:t>
            </a:r>
            <a:r>
              <a:rPr lang="ko-KR" altLang="en-US" sz="1600" dirty="0" smtClean="0"/>
              <a:t> 실행되면 각 코드 파일에서 </a:t>
            </a:r>
            <a:r>
              <a:rPr lang="ko-KR" altLang="en-US" sz="1600" dirty="0" err="1" smtClean="0"/>
              <a:t>지시자를</a:t>
            </a:r>
            <a:r>
              <a:rPr lang="ko-KR" altLang="en-US" sz="1600" dirty="0" smtClean="0"/>
              <a:t> 찾는다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-&gt; </a:t>
            </a:r>
            <a:r>
              <a:rPr lang="ko-KR" altLang="en-US" sz="1600" dirty="0" smtClean="0"/>
              <a:t>헤더 파일에서 선언된 내용을 한 번만 참조하게 될 때 사용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ko-KR" altLang="en-US" sz="1600" dirty="0" smtClean="0"/>
              <a:t>지시자</a:t>
            </a:r>
            <a:r>
              <a:rPr lang="en-US" altLang="ko-KR" sz="1600" dirty="0" smtClean="0"/>
              <a:t>?</a:t>
            </a:r>
          </a:p>
          <a:p>
            <a:r>
              <a:rPr lang="en-US" altLang="ko-KR" sz="1600" dirty="0" smtClean="0"/>
              <a:t>-&gt; #</a:t>
            </a:r>
            <a:r>
              <a:rPr lang="ko-KR" altLang="en-US" sz="1600" dirty="0" smtClean="0"/>
              <a:t>으로 시작해서 줄 바꿈으로 끝나는 코드</a:t>
            </a:r>
            <a:endParaRPr lang="en-US" altLang="ko-KR" sz="1600" dirty="0" smtClean="0"/>
          </a:p>
          <a:p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96347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#</a:t>
            </a:r>
            <a:r>
              <a:rPr lang="en-US" altLang="ko-KR" dirty="0" err="1" smtClean="0"/>
              <a:t>ifdef</a:t>
            </a:r>
            <a:endParaRPr lang="en-US" altLang="ko-KR" dirty="0" smtClean="0"/>
          </a:p>
          <a:p>
            <a:r>
              <a:rPr lang="ko-KR" altLang="en-US" dirty="0" smtClean="0"/>
              <a:t>내용</a:t>
            </a:r>
            <a:endParaRPr lang="en-US" altLang="ko-KR" dirty="0" smtClean="0"/>
          </a:p>
          <a:p>
            <a:r>
              <a:rPr lang="en-US" altLang="ko-KR" dirty="0" smtClean="0"/>
              <a:t>#else</a:t>
            </a:r>
          </a:p>
          <a:p>
            <a:r>
              <a:rPr lang="ko-KR" altLang="en-US" dirty="0" smtClean="0"/>
              <a:t>내</a:t>
            </a:r>
            <a:r>
              <a:rPr lang="ko-KR" altLang="en-US" dirty="0"/>
              <a:t>용</a:t>
            </a:r>
            <a:endParaRPr lang="en-US" altLang="ko-KR" dirty="0" smtClean="0"/>
          </a:p>
          <a:p>
            <a:r>
              <a:rPr lang="en-US" altLang="ko-KR" dirty="0" smtClean="0"/>
              <a:t>#</a:t>
            </a:r>
            <a:r>
              <a:rPr lang="en-US" altLang="ko-KR" dirty="0" err="1" smtClean="0"/>
              <a:t>endif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AAA</a:t>
            </a:r>
            <a:r>
              <a:rPr lang="ko-KR" altLang="en-US" dirty="0" smtClean="0"/>
              <a:t>가 정의 되어 있다면</a:t>
            </a:r>
            <a:r>
              <a:rPr lang="en-US" altLang="ko-KR" dirty="0"/>
              <a:t> </a:t>
            </a:r>
            <a:r>
              <a:rPr lang="en-US" altLang="ko-KR" dirty="0" err="1" smtClean="0"/>
              <a:t>ifdef</a:t>
            </a:r>
            <a:r>
              <a:rPr lang="ko-KR" altLang="en-US" dirty="0"/>
              <a:t>과 </a:t>
            </a:r>
            <a:r>
              <a:rPr lang="en-US" altLang="ko-KR" dirty="0"/>
              <a:t>else</a:t>
            </a:r>
            <a:r>
              <a:rPr lang="ko-KR" altLang="en-US" dirty="0"/>
              <a:t>사이의 내용을 컴파일 하고</a:t>
            </a:r>
            <a:endParaRPr lang="en-US" altLang="ko-KR" dirty="0"/>
          </a:p>
          <a:p>
            <a:r>
              <a:rPr lang="en-US" altLang="ko-KR" dirty="0" smtClean="0"/>
              <a:t>AAA</a:t>
            </a:r>
            <a:r>
              <a:rPr lang="ko-KR" altLang="en-US" dirty="0"/>
              <a:t>가 정의 되어 있지 않다면 </a:t>
            </a:r>
            <a:r>
              <a:rPr lang="en-US" altLang="ko-KR" dirty="0"/>
              <a:t>else</a:t>
            </a:r>
            <a:r>
              <a:rPr lang="ko-KR" altLang="en-US" dirty="0"/>
              <a:t>와 </a:t>
            </a:r>
            <a:r>
              <a:rPr lang="en-US" altLang="ko-KR" dirty="0" err="1"/>
              <a:t>endif</a:t>
            </a:r>
            <a:r>
              <a:rPr lang="ko-KR" altLang="en-US" dirty="0"/>
              <a:t>사이의 내용을 컴파일</a:t>
            </a:r>
            <a:r>
              <a:rPr lang="en-US" altLang="ko-KR" dirty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467544" y="2420888"/>
            <a:ext cx="56886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58831" y="2780928"/>
            <a:ext cx="5688632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4788024" y="3284983"/>
            <a:ext cx="4129692" cy="3024336"/>
            <a:chOff x="4719707" y="2564903"/>
            <a:chExt cx="4129692" cy="3024336"/>
          </a:xfrm>
        </p:grpSpPr>
        <p:pic>
          <p:nvPicPr>
            <p:cNvPr id="1433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9707" y="2636911"/>
              <a:ext cx="4129692" cy="2952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>
              <a:off x="4719707" y="2564903"/>
              <a:ext cx="4099763" cy="3024335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458831" y="3284984"/>
            <a:ext cx="4231361" cy="3024337"/>
            <a:chOff x="467545" y="2564902"/>
            <a:chExt cx="4231361" cy="3024337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2665248"/>
              <a:ext cx="4159354" cy="29239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467545" y="2564902"/>
              <a:ext cx="4201566" cy="30243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441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#</a:t>
            </a:r>
            <a:r>
              <a:rPr lang="en-US" altLang="ko-KR" dirty="0" err="1"/>
              <a:t>ifndef</a:t>
            </a:r>
            <a:r>
              <a:rPr lang="en-US" altLang="ko-KR" dirty="0"/>
              <a:t> AAA</a:t>
            </a:r>
          </a:p>
          <a:p>
            <a:r>
              <a:rPr lang="en-US" altLang="ko-KR" dirty="0"/>
              <a:t>#else</a:t>
            </a:r>
          </a:p>
          <a:p>
            <a:r>
              <a:rPr lang="en-US" altLang="ko-KR" dirty="0"/>
              <a:t>#</a:t>
            </a:r>
            <a:r>
              <a:rPr lang="en-US" altLang="ko-KR" dirty="0" err="1"/>
              <a:t>endif</a:t>
            </a:r>
            <a:endParaRPr lang="en-US" altLang="ko-KR" dirty="0"/>
          </a:p>
          <a:p>
            <a:r>
              <a:rPr lang="en-US" altLang="ko-KR" dirty="0"/>
              <a:t>AAA</a:t>
            </a:r>
            <a:r>
              <a:rPr lang="ko-KR" altLang="en-US" dirty="0"/>
              <a:t>가 정의 되어 있지 않다면 </a:t>
            </a:r>
            <a:r>
              <a:rPr lang="en-US" altLang="ko-KR" dirty="0" err="1"/>
              <a:t>ifndef</a:t>
            </a:r>
            <a:r>
              <a:rPr lang="ko-KR" altLang="en-US" dirty="0"/>
              <a:t>과 </a:t>
            </a:r>
            <a:r>
              <a:rPr lang="en-US" altLang="ko-KR" dirty="0"/>
              <a:t>else</a:t>
            </a:r>
            <a:r>
              <a:rPr lang="ko-KR" altLang="en-US" dirty="0"/>
              <a:t>사이의 내용을 컴파일 하고</a:t>
            </a:r>
            <a:endParaRPr lang="en-US" altLang="ko-KR" dirty="0"/>
          </a:p>
          <a:p>
            <a:r>
              <a:rPr lang="en-US" altLang="ko-KR" dirty="0"/>
              <a:t>AAA</a:t>
            </a:r>
            <a:r>
              <a:rPr lang="ko-KR" altLang="en-US" dirty="0"/>
              <a:t>가 정의 되어 있다면 </a:t>
            </a:r>
            <a:r>
              <a:rPr lang="en-US" altLang="ko-KR" dirty="0"/>
              <a:t>else</a:t>
            </a:r>
            <a:r>
              <a:rPr lang="ko-KR" altLang="en-US" dirty="0"/>
              <a:t>와 </a:t>
            </a:r>
            <a:r>
              <a:rPr lang="en-US" altLang="ko-KR" dirty="0" err="1"/>
              <a:t>endif</a:t>
            </a:r>
            <a:r>
              <a:rPr lang="ko-KR" altLang="en-US" dirty="0"/>
              <a:t>사이의 내용을 컴파일 해라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#</a:t>
            </a:r>
            <a:r>
              <a:rPr lang="en-US" altLang="ko-KR" dirty="0" err="1" smtClean="0"/>
              <a:t>ifdef</a:t>
            </a:r>
            <a:r>
              <a:rPr lang="en-US" altLang="ko-KR" dirty="0" smtClean="0"/>
              <a:t> _</a:t>
            </a:r>
            <a:r>
              <a:rPr lang="ko-KR" altLang="en-US" dirty="0" smtClean="0"/>
              <a:t>헤더 파일 이름을 대문자로 표시</a:t>
            </a:r>
            <a:r>
              <a:rPr lang="en-US" altLang="ko-KR" dirty="0" smtClean="0"/>
              <a:t>_</a:t>
            </a:r>
          </a:p>
          <a:p>
            <a:r>
              <a:rPr lang="en-US" altLang="ko-KR" dirty="0" smtClean="0"/>
              <a:t>#define _</a:t>
            </a:r>
            <a:r>
              <a:rPr lang="ko-KR" altLang="en-US" dirty="0" smtClean="0"/>
              <a:t>헤더 파일 이름을 대문자로 표시</a:t>
            </a:r>
            <a:r>
              <a:rPr lang="en-US" altLang="ko-KR" dirty="0" smtClean="0"/>
              <a:t>_</a:t>
            </a:r>
          </a:p>
          <a:p>
            <a:endParaRPr lang="en-US" altLang="ko-KR" dirty="0"/>
          </a:p>
          <a:p>
            <a:r>
              <a:rPr lang="ko-KR" altLang="en-US" dirty="0" smtClean="0"/>
              <a:t>선언내용</a:t>
            </a:r>
            <a:endParaRPr lang="en-US" altLang="ko-KR" dirty="0" smtClean="0"/>
          </a:p>
          <a:p>
            <a:r>
              <a:rPr lang="en-US" altLang="ko-KR" dirty="0" smtClean="0"/>
              <a:t>#else</a:t>
            </a:r>
          </a:p>
          <a:p>
            <a:r>
              <a:rPr lang="en-US" altLang="ko-KR" dirty="0" smtClean="0"/>
              <a:t>#</a:t>
            </a:r>
            <a:r>
              <a:rPr lang="en-US" altLang="ko-KR" dirty="0" err="1" smtClean="0"/>
              <a:t>endif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591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함수의 매개변수 전달</a:t>
            </a:r>
            <a:endParaRPr lang="en-US" altLang="ko-KR" dirty="0" smtClean="0"/>
          </a:p>
          <a:p>
            <a:r>
              <a:rPr lang="en-US" altLang="ko-KR" dirty="0" smtClean="0"/>
              <a:t>Call by </a:t>
            </a:r>
            <a:r>
              <a:rPr lang="en-US" altLang="ko-KR" dirty="0" err="1" smtClean="0"/>
              <a:t>Vlaue</a:t>
            </a:r>
            <a:r>
              <a:rPr lang="en-US" altLang="ko-KR" dirty="0" smtClean="0"/>
              <a:t> -&gt; </a:t>
            </a:r>
            <a:r>
              <a:rPr lang="ko-KR" altLang="en-US" b="1" dirty="0" smtClean="0"/>
              <a:t>값을 직접 전달</a:t>
            </a:r>
            <a:r>
              <a:rPr lang="en-US" altLang="ko-KR" b="1" dirty="0" smtClean="0"/>
              <a:t>.</a:t>
            </a:r>
          </a:p>
          <a:p>
            <a:r>
              <a:rPr lang="en-US" altLang="ko-KR" dirty="0" smtClean="0"/>
              <a:t>Call by Reference -&gt; </a:t>
            </a:r>
            <a:r>
              <a:rPr lang="ko-KR" altLang="en-US" dirty="0" smtClean="0"/>
              <a:t>포인터 변수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참조변수 등 </a:t>
            </a:r>
            <a:r>
              <a:rPr lang="ko-KR" altLang="en-US" b="1" dirty="0" smtClean="0"/>
              <a:t>주소를 전달</a:t>
            </a:r>
            <a:r>
              <a:rPr lang="en-US" altLang="ko-KR" b="1" dirty="0" smtClean="0"/>
              <a:t>.</a:t>
            </a:r>
          </a:p>
          <a:p>
            <a:endParaRPr lang="en-US" altLang="ko-KR" b="1" dirty="0"/>
          </a:p>
          <a:p>
            <a:r>
              <a:rPr lang="ko-KR" altLang="en-US" dirty="0" smtClean="0"/>
              <a:t>디폴트 매개변수</a:t>
            </a:r>
            <a:endParaRPr lang="en-US" altLang="ko-KR" dirty="0" smtClean="0"/>
          </a:p>
          <a:p>
            <a:r>
              <a:rPr lang="en-US" altLang="ko-KR" dirty="0" smtClean="0"/>
              <a:t>ex)</a:t>
            </a:r>
          </a:p>
          <a:p>
            <a:r>
              <a:rPr lang="en-US" altLang="ko-KR" dirty="0" err="1" smtClean="0"/>
              <a:t>int</a:t>
            </a:r>
            <a:r>
              <a:rPr lang="en-US" altLang="ko-KR" dirty="0" smtClean="0"/>
              <a:t> Func1(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 =100);</a:t>
            </a:r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591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3387"/>
            <a:ext cx="4581525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763387"/>
            <a:ext cx="2143125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포인트가 5개인 별 3"/>
          <p:cNvSpPr/>
          <p:nvPr/>
        </p:nvSpPr>
        <p:spPr>
          <a:xfrm>
            <a:off x="4910248" y="2100396"/>
            <a:ext cx="324036" cy="370327"/>
          </a:xfrm>
          <a:prstGeom prst="star5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포인트가 5개인 별 9"/>
          <p:cNvSpPr/>
          <p:nvPr/>
        </p:nvSpPr>
        <p:spPr>
          <a:xfrm>
            <a:off x="4914038" y="3719591"/>
            <a:ext cx="324036" cy="370327"/>
          </a:xfrm>
          <a:prstGeom prst="star5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076056" y="3904755"/>
            <a:ext cx="2143125" cy="1440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099970" y="2285560"/>
            <a:ext cx="2143125" cy="1440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91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3538736" cy="5361459"/>
          </a:xfrm>
        </p:spPr>
        <p:txBody>
          <a:bodyPr/>
          <a:lstStyle/>
          <a:p>
            <a:r>
              <a:rPr lang="en-US" altLang="ko-KR" dirty="0" err="1" smtClean="0"/>
              <a:t>const</a:t>
            </a:r>
            <a:endParaRPr lang="en-US" altLang="ko-KR" dirty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기호 상수를 정의하는 </a:t>
            </a:r>
            <a:r>
              <a:rPr lang="ko-KR" altLang="en-US" dirty="0" err="1" smtClean="0"/>
              <a:t>예약어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int</a:t>
            </a:r>
            <a:r>
              <a:rPr lang="en-US" altLang="ko-KR" dirty="0" smtClean="0"/>
              <a:t> TestFunc3(</a:t>
            </a:r>
            <a:r>
              <a:rPr lang="en-US" altLang="ko-KR" dirty="0" err="1" smtClean="0"/>
              <a:t>const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a){</a:t>
            </a:r>
          </a:p>
          <a:p>
            <a:r>
              <a:rPr lang="en-US" altLang="ko-KR" dirty="0" smtClean="0"/>
              <a:t>  </a:t>
            </a:r>
            <a:r>
              <a:rPr lang="en-US" altLang="ko-KR" dirty="0" err="1" smtClean="0"/>
              <a:t>cout</a:t>
            </a:r>
            <a:r>
              <a:rPr lang="en-US" altLang="ko-KR" dirty="0" smtClean="0"/>
              <a:t> &lt;&lt;“a= “&lt;&lt; a &lt;&lt; </a:t>
            </a:r>
            <a:r>
              <a:rPr lang="en-US" altLang="ko-KR" dirty="0" err="1" smtClean="0"/>
              <a:t>endl</a:t>
            </a:r>
            <a:r>
              <a:rPr lang="en-US" altLang="ko-KR" dirty="0" smtClean="0"/>
              <a:t>;</a:t>
            </a:r>
          </a:p>
          <a:p>
            <a:r>
              <a:rPr lang="en-US" altLang="ko-KR" dirty="0" smtClean="0"/>
              <a:t>  a = 999;</a:t>
            </a:r>
          </a:p>
          <a:p>
            <a:r>
              <a:rPr lang="en-US" altLang="ko-KR" dirty="0" smtClean="0"/>
              <a:t>  </a:t>
            </a:r>
            <a:r>
              <a:rPr lang="en-US" altLang="ko-KR" dirty="0" err="1" smtClean="0"/>
              <a:t>cout</a:t>
            </a:r>
            <a:r>
              <a:rPr lang="en-US" altLang="ko-KR" dirty="0" smtClean="0"/>
              <a:t> &lt;&lt; “a=“&lt;&lt; a &lt;&lt; </a:t>
            </a:r>
            <a:r>
              <a:rPr lang="en-US" altLang="ko-KR" dirty="0" err="1" smtClean="0"/>
              <a:t>endl</a:t>
            </a:r>
            <a:r>
              <a:rPr lang="en-US" altLang="ko-KR" dirty="0" smtClean="0"/>
              <a:t>;</a:t>
            </a:r>
          </a:p>
          <a:p>
            <a:endParaRPr lang="en-US" altLang="ko-KR" dirty="0"/>
          </a:p>
          <a:p>
            <a:r>
              <a:rPr lang="en-US" altLang="ko-KR" dirty="0" smtClean="0"/>
              <a:t>  return 0;</a:t>
            </a:r>
          </a:p>
          <a:p>
            <a:r>
              <a:rPr lang="en-US" altLang="ko-KR" dirty="0"/>
              <a:t>}</a:t>
            </a:r>
            <a:endParaRPr lang="en-US" altLang="ko-KR" dirty="0" smtClean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355976" y="917103"/>
            <a:ext cx="3538736" cy="536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에러 발생</a:t>
            </a:r>
            <a:endParaRPr lang="en-US" altLang="ko-KR" dirty="0" smtClean="0"/>
          </a:p>
          <a:p>
            <a:r>
              <a:rPr lang="en-US" altLang="ko-KR" dirty="0" err="1" smtClean="0"/>
              <a:t>const</a:t>
            </a:r>
            <a:r>
              <a:rPr lang="ko-KR" altLang="en-US" dirty="0" smtClean="0"/>
              <a:t>로 지정했기 때문에 수정 불가</a:t>
            </a:r>
            <a:r>
              <a:rPr lang="en-US" altLang="ko-KR" dirty="0" smtClean="0"/>
              <a:t>.</a:t>
            </a:r>
          </a:p>
        </p:txBody>
      </p:sp>
      <p:cxnSp>
        <p:nvCxnSpPr>
          <p:cNvPr id="6" name="직선 화살표 연결선 5"/>
          <p:cNvCxnSpPr/>
          <p:nvPr/>
        </p:nvCxnSpPr>
        <p:spPr>
          <a:xfrm flipH="1">
            <a:off x="1475656" y="2420888"/>
            <a:ext cx="2952328" cy="2160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91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함수 오버로딩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함수의 이름은 같음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함수의 반환형이나 매개변수가 다름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ko-KR" altLang="en-US" dirty="0" smtClean="0">
                <a:sym typeface="Wingdings" panose="05000000000000000000" pitchFamily="2" charset="2"/>
              </a:rPr>
              <a:t>같은 이름의 함수로 여러 개의 함수를 작성 </a:t>
            </a:r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ko-KR" altLang="en-US" dirty="0" smtClean="0">
                <a:sym typeface="Wingdings" panose="05000000000000000000" pitchFamily="2" charset="2"/>
              </a:rPr>
              <a:t>효율성 증가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 smtClean="0"/>
              <a:t>함수를 식별하는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가지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함수 </a:t>
            </a:r>
            <a:r>
              <a:rPr lang="ko-KR" altLang="en-US" b="1" dirty="0" smtClean="0"/>
              <a:t>반환형</a:t>
            </a:r>
            <a:endParaRPr lang="en-US" altLang="ko-KR" b="1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함수 </a:t>
            </a:r>
            <a:r>
              <a:rPr lang="ko-KR" altLang="en-US" b="1" dirty="0" smtClean="0"/>
              <a:t>이름</a:t>
            </a:r>
            <a:endParaRPr lang="en-US" altLang="ko-KR" b="1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함수 </a:t>
            </a:r>
            <a:r>
              <a:rPr lang="ko-KR" altLang="en-US" b="1" dirty="0" smtClean="0"/>
              <a:t>매개변수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1303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-23610" y="-28043"/>
            <a:ext cx="3888432" cy="5361459"/>
          </a:xfrm>
          <a:ln w="19050">
            <a:noFill/>
          </a:ln>
        </p:spPr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ko-KR" altLang="en-US" dirty="0" smtClean="0"/>
              <a:t>  정의가 안 돼있으면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  </a:t>
            </a:r>
            <a:r>
              <a:rPr lang="en-US" altLang="ko-KR" dirty="0" smtClean="0"/>
              <a:t>	  </a:t>
            </a:r>
            <a:r>
              <a:rPr lang="ko-KR" altLang="en-US" dirty="0" smtClean="0"/>
              <a:t>정의가 돼있으면</a:t>
            </a:r>
            <a:endParaRPr lang="ko-KR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9" y="34730"/>
            <a:ext cx="3390900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왼쪽 중괄호 4"/>
          <p:cNvSpPr/>
          <p:nvPr/>
        </p:nvSpPr>
        <p:spPr>
          <a:xfrm rot="10800000">
            <a:off x="3283195" y="150917"/>
            <a:ext cx="720080" cy="1872209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 중괄호 6"/>
          <p:cNvSpPr/>
          <p:nvPr/>
        </p:nvSpPr>
        <p:spPr>
          <a:xfrm rot="10800000">
            <a:off x="3283195" y="2202738"/>
            <a:ext cx="720080" cy="296416"/>
          </a:xfrm>
          <a:prstGeom prst="leftBrac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H="1">
            <a:off x="2087592" y="1200491"/>
            <a:ext cx="1318468" cy="17756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H="1">
            <a:off x="2087592" y="2350946"/>
            <a:ext cx="1377478" cy="1294078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424" y="927280"/>
            <a:ext cx="2164433" cy="314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953" y="4149080"/>
            <a:ext cx="2184496" cy="1496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790" y="990847"/>
            <a:ext cx="2508152" cy="3147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4" y="4254305"/>
            <a:ext cx="2204269" cy="235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20"/>
          <p:cNvSpPr/>
          <p:nvPr/>
        </p:nvSpPr>
        <p:spPr>
          <a:xfrm>
            <a:off x="4644008" y="764704"/>
            <a:ext cx="4464496" cy="48810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228184" y="4427820"/>
            <a:ext cx="275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ch06_06_compare.cpp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221403" y="6243603"/>
            <a:ext cx="275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main.cpp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710609" y="409004"/>
            <a:ext cx="275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ch06_compare.h</a:t>
            </a:r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7134" y="4172425"/>
            <a:ext cx="3266060" cy="24405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17134" y="-1"/>
            <a:ext cx="4122818" cy="2673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03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구조체를 함수의 인수로 사용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Call by Value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Call by Reference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 smtClean="0"/>
              <a:t>Call by Value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함수 내에서 값을 수정해도 함수 호출에서 사용한 변수에 영향을 미치지 않음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err="1" smtClean="0"/>
              <a:t>typedef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struct</a:t>
            </a:r>
            <a:r>
              <a:rPr lang="en-US" altLang="ko-KR" dirty="0" smtClean="0"/>
              <a:t> 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char name[30];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age;</a:t>
            </a:r>
          </a:p>
          <a:p>
            <a:r>
              <a:rPr lang="en-US" altLang="ko-KR" dirty="0" smtClean="0"/>
              <a:t>} PERSON;</a:t>
            </a:r>
          </a:p>
          <a:p>
            <a:endParaRPr lang="en-US" altLang="ko-KR" dirty="0"/>
          </a:p>
          <a:p>
            <a:r>
              <a:rPr lang="en-US" altLang="ko-KR" dirty="0" err="1" smtClean="0"/>
              <a:t>int</a:t>
            </a:r>
            <a:r>
              <a:rPr lang="en-US" altLang="ko-KR" dirty="0" smtClean="0"/>
              <a:t> TEST1(PERSON a);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77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Call by Reference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함수 </a:t>
            </a:r>
            <a:r>
              <a:rPr lang="ko-KR" altLang="en-US" dirty="0"/>
              <a:t>내에서 값을 수정해도 함수 호출에서 사용한 변수에 영향을 </a:t>
            </a:r>
            <a:r>
              <a:rPr lang="ko-KR" altLang="en-US" dirty="0" smtClean="0"/>
              <a:t>미침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err="1" smtClean="0"/>
              <a:t>typedef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struct</a:t>
            </a:r>
            <a:r>
              <a:rPr lang="en-US" altLang="ko-KR" dirty="0" smtClean="0"/>
              <a:t> 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char name[30];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age;</a:t>
            </a:r>
          </a:p>
          <a:p>
            <a:r>
              <a:rPr lang="en-US" altLang="ko-KR" dirty="0" smtClean="0"/>
              <a:t>} PERSON;</a:t>
            </a:r>
          </a:p>
          <a:p>
            <a:endParaRPr lang="en-US" altLang="ko-KR" dirty="0"/>
          </a:p>
          <a:p>
            <a:r>
              <a:rPr lang="en-US" altLang="ko-KR" dirty="0" err="1" smtClean="0"/>
              <a:t>int</a:t>
            </a:r>
            <a:r>
              <a:rPr lang="en-US" altLang="ko-KR" dirty="0" smtClean="0"/>
              <a:t> TEST2 (PERSON* a);</a:t>
            </a:r>
            <a:endParaRPr lang="en-US" altLang="ko-KR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401" y="1532229"/>
            <a:ext cx="2771775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530185"/>
            <a:ext cx="287655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172" y="4802237"/>
            <a:ext cx="2873553" cy="1949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모서리가 둥근 직사각형 4"/>
          <p:cNvSpPr/>
          <p:nvPr/>
        </p:nvSpPr>
        <p:spPr>
          <a:xfrm>
            <a:off x="3563888" y="5661248"/>
            <a:ext cx="2448272" cy="437133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6300192" y="2712302"/>
            <a:ext cx="2304256" cy="437133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159172" y="5777082"/>
            <a:ext cx="1941220" cy="97484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6305909" y="3704946"/>
            <a:ext cx="2726816" cy="437133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5041550" y="1124744"/>
            <a:ext cx="1834706" cy="288032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7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smtClean="0"/>
              <a:t>객체지향 프로그램이란</a:t>
            </a:r>
            <a:r>
              <a:rPr lang="en-US" altLang="ko-KR" b="1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프로그램을 수많은 </a:t>
            </a:r>
            <a:r>
              <a:rPr lang="en-US" altLang="ko-KR" b="1" dirty="0" smtClean="0"/>
              <a:t>‘</a:t>
            </a:r>
            <a:r>
              <a:rPr lang="ko-KR" altLang="en-US" b="1" dirty="0" smtClean="0"/>
              <a:t>객체</a:t>
            </a:r>
            <a:r>
              <a:rPr lang="en-US" altLang="ko-KR" b="1" dirty="0" smtClean="0"/>
              <a:t>’</a:t>
            </a:r>
            <a:r>
              <a:rPr lang="ko-KR" altLang="en-US" b="1" dirty="0" smtClean="0"/>
              <a:t>라는 기본 단위로 나눔</a:t>
            </a:r>
            <a:endParaRPr lang="en-US" altLang="ko-KR" b="1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이 </a:t>
            </a:r>
            <a:r>
              <a:rPr lang="ko-KR" altLang="en-US" b="1" dirty="0" smtClean="0"/>
              <a:t>객체들의 상호작용으로 서술</a:t>
            </a:r>
            <a:r>
              <a:rPr lang="ko-KR" altLang="en-US" dirty="0" smtClean="0"/>
              <a:t>하는 방식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b="1" dirty="0" smtClean="0"/>
              <a:t>객체란</a:t>
            </a:r>
            <a:r>
              <a:rPr lang="en-US" altLang="ko-KR" b="1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하나의 역할을 수행하는 </a:t>
            </a:r>
            <a:r>
              <a:rPr lang="en-US" altLang="ko-KR" b="1" dirty="0" smtClean="0"/>
              <a:t>‘</a:t>
            </a:r>
            <a:r>
              <a:rPr lang="ko-KR" altLang="en-US" b="1" dirty="0" err="1" smtClean="0"/>
              <a:t>메소드와</a:t>
            </a:r>
            <a:r>
              <a:rPr lang="ko-KR" altLang="en-US" b="1" dirty="0" smtClean="0"/>
              <a:t> 변수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데이터</a:t>
            </a:r>
            <a:r>
              <a:rPr lang="en-US" altLang="ko-KR" b="1" dirty="0" smtClean="0"/>
              <a:t>)’</a:t>
            </a:r>
            <a:r>
              <a:rPr lang="ko-KR" altLang="en-US" b="1" dirty="0" smtClean="0"/>
              <a:t>의 묶음</a:t>
            </a:r>
            <a:endParaRPr lang="en-US" altLang="ko-KR" b="1" dirty="0" smtClean="0"/>
          </a:p>
          <a:p>
            <a:r>
              <a:rPr lang="en-US" altLang="ko-KR" b="1" dirty="0" smtClean="0"/>
              <a:t>-&gt; </a:t>
            </a:r>
            <a:r>
              <a:rPr lang="ko-KR" altLang="en-US" b="1" dirty="0" smtClean="0"/>
              <a:t>프로그램 동작 주체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en-US" altLang="ko-KR" dirty="0" smtClean="0"/>
              <a:t>ex) </a:t>
            </a:r>
          </a:p>
          <a:p>
            <a:r>
              <a:rPr lang="ko-KR" altLang="en-US" dirty="0" smtClean="0"/>
              <a:t>윈도우</a:t>
            </a:r>
            <a:r>
              <a:rPr lang="en-US" altLang="ko-KR" dirty="0" smtClean="0"/>
              <a:t> </a:t>
            </a:r>
            <a:r>
              <a:rPr lang="ko-KR" altLang="en-US" dirty="0" smtClean="0"/>
              <a:t>자체는 클래스</a:t>
            </a:r>
            <a:endParaRPr lang="en-US" altLang="ko-KR" dirty="0" smtClean="0"/>
          </a:p>
          <a:p>
            <a:r>
              <a:rPr lang="ko-KR" altLang="en-US" dirty="0"/>
              <a:t>탐색기</a:t>
            </a:r>
            <a:r>
              <a:rPr lang="en-US" altLang="ko-KR" dirty="0"/>
              <a:t>, </a:t>
            </a:r>
            <a:r>
              <a:rPr lang="ko-KR" altLang="en-US" dirty="0"/>
              <a:t>내 컴퓨터</a:t>
            </a:r>
            <a:r>
              <a:rPr lang="en-US" altLang="ko-KR" dirty="0"/>
              <a:t>, </a:t>
            </a:r>
            <a:r>
              <a:rPr lang="ko-KR" altLang="en-US" dirty="0"/>
              <a:t>제어판의 </a:t>
            </a:r>
            <a:r>
              <a:rPr lang="ko-KR" altLang="en-US" dirty="0" smtClean="0"/>
              <a:t>창은 객체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36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4258816" cy="5361459"/>
          </a:xfrm>
        </p:spPr>
        <p:txBody>
          <a:bodyPr/>
          <a:lstStyle/>
          <a:p>
            <a:r>
              <a:rPr lang="ko-KR" altLang="en-US" dirty="0" smtClean="0"/>
              <a:t>객체지향 프로그래밍 분석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누가</a:t>
            </a:r>
            <a:r>
              <a:rPr lang="en-US" altLang="ko-KR" dirty="0" smtClean="0"/>
              <a:t>(</a:t>
            </a:r>
            <a:r>
              <a:rPr lang="ko-KR" altLang="en-US" dirty="0" smtClean="0"/>
              <a:t>객체</a:t>
            </a:r>
            <a:r>
              <a:rPr lang="en-US" altLang="ko-KR" dirty="0" smtClean="0"/>
              <a:t>) </a:t>
            </a:r>
            <a:r>
              <a:rPr lang="ko-KR" altLang="en-US" dirty="0" smtClean="0"/>
              <a:t>어떻게 문제를 해결 할 것인가</a:t>
            </a:r>
            <a:r>
              <a:rPr lang="en-US" altLang="ko-KR" dirty="0" smtClean="0"/>
              <a:t>?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객체 생성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작업 대상을 기억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주어진 기능 수행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-&gt; main()</a:t>
            </a:r>
            <a:r>
              <a:rPr lang="ko-KR" altLang="en-US" dirty="0" smtClean="0"/>
              <a:t>함수 내에서 이루어짐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클래스 </a:t>
            </a:r>
            <a:r>
              <a:rPr lang="en-US" altLang="ko-KR" dirty="0" smtClean="0"/>
              <a:t>-&gt; </a:t>
            </a:r>
            <a:r>
              <a:rPr lang="ko-KR" altLang="en-US" dirty="0" err="1" smtClean="0"/>
              <a:t>자료형</a:t>
            </a:r>
            <a:endParaRPr lang="en-US" altLang="ko-KR" dirty="0" smtClean="0"/>
          </a:p>
          <a:p>
            <a:r>
              <a:rPr lang="ko-KR" altLang="en-US" dirty="0" smtClean="0"/>
              <a:t>객체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변수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355636"/>
              </p:ext>
            </p:extLst>
          </p:nvPr>
        </p:nvGraphicFramePr>
        <p:xfrm>
          <a:off x="539552" y="4005064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클래스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객체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사람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장멘잡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err="1" smtClean="0"/>
                        <a:t>멘잡장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자동차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아반떼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소나타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운동화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나이키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err="1" smtClean="0"/>
                        <a:t>아디다스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타원 4"/>
          <p:cNvSpPr/>
          <p:nvPr/>
        </p:nvSpPr>
        <p:spPr>
          <a:xfrm>
            <a:off x="467544" y="3068960"/>
            <a:ext cx="720080" cy="3600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423445" y="2492896"/>
            <a:ext cx="4258816" cy="2536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객체를 추상화</a:t>
            </a:r>
            <a:endParaRPr lang="en-US" altLang="ko-KR" dirty="0" smtClean="0"/>
          </a:p>
        </p:txBody>
      </p:sp>
      <p:cxnSp>
        <p:nvCxnSpPr>
          <p:cNvPr id="8" name="직선 화살표 연결선 7"/>
          <p:cNvCxnSpPr>
            <a:endCxn id="5" idx="7"/>
          </p:cNvCxnSpPr>
          <p:nvPr/>
        </p:nvCxnSpPr>
        <p:spPr>
          <a:xfrm flipH="1">
            <a:off x="1082171" y="2708920"/>
            <a:ext cx="3273805" cy="41276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클래스의 정의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누가 하는가</a:t>
            </a:r>
            <a:r>
              <a:rPr lang="en-US" altLang="ko-KR" dirty="0" smtClean="0"/>
              <a:t>? (</a:t>
            </a:r>
            <a:r>
              <a:rPr lang="ko-KR" altLang="en-US" dirty="0" smtClean="0"/>
              <a:t>객체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무엇이 대상</a:t>
            </a:r>
            <a:r>
              <a:rPr lang="en-US" altLang="ko-KR" dirty="0" smtClean="0"/>
              <a:t>? (</a:t>
            </a:r>
            <a:r>
              <a:rPr lang="ko-KR" altLang="en-US" dirty="0" smtClean="0"/>
              <a:t>멤버 변수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어떻게</a:t>
            </a:r>
            <a:r>
              <a:rPr lang="en-US" altLang="ko-KR" dirty="0" smtClean="0"/>
              <a:t>? (</a:t>
            </a:r>
            <a:r>
              <a:rPr lang="ko-KR" altLang="en-US" dirty="0" smtClean="0"/>
              <a:t>멤버 함수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객체 생성 조건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해당 객체의 클래스가 정의 되어 </a:t>
            </a:r>
            <a:r>
              <a:rPr lang="ko-KR" altLang="en-US" dirty="0" err="1" smtClean="0"/>
              <a:t>있어야함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클래스의 구성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타원 3"/>
          <p:cNvSpPr/>
          <p:nvPr/>
        </p:nvSpPr>
        <p:spPr>
          <a:xfrm>
            <a:off x="755576" y="1340768"/>
            <a:ext cx="1584176" cy="1368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문제 분석</a:t>
            </a:r>
            <a:endParaRPr lang="ko-KR" altLang="en-US" sz="1600" dirty="0"/>
          </a:p>
        </p:txBody>
      </p:sp>
      <p:sp>
        <p:nvSpPr>
          <p:cNvPr id="10" name="타원 9"/>
          <p:cNvSpPr/>
          <p:nvPr/>
        </p:nvSpPr>
        <p:spPr>
          <a:xfrm>
            <a:off x="3491880" y="1340768"/>
            <a:ext cx="1584176" cy="1368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객체 식별</a:t>
            </a:r>
            <a:endParaRPr lang="ko-KR" altLang="en-US" sz="1600" dirty="0"/>
          </a:p>
        </p:txBody>
      </p:sp>
      <p:sp>
        <p:nvSpPr>
          <p:cNvPr id="11" name="타원 10"/>
          <p:cNvSpPr/>
          <p:nvPr/>
        </p:nvSpPr>
        <p:spPr>
          <a:xfrm>
            <a:off x="6156176" y="1340768"/>
            <a:ext cx="1584176" cy="1368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해당 객체의 클래스 정의</a:t>
            </a:r>
            <a:endParaRPr lang="ko-KR" altLang="en-US" sz="1600" dirty="0"/>
          </a:p>
        </p:txBody>
      </p:sp>
      <p:sp>
        <p:nvSpPr>
          <p:cNvPr id="13" name="오른쪽 화살표 12"/>
          <p:cNvSpPr/>
          <p:nvPr/>
        </p:nvSpPr>
        <p:spPr>
          <a:xfrm>
            <a:off x="2627784" y="1844824"/>
            <a:ext cx="57606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/>
          <p:nvPr/>
        </p:nvSpPr>
        <p:spPr>
          <a:xfrm>
            <a:off x="5364088" y="1853208"/>
            <a:ext cx="57606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686654"/>
              </p:ext>
            </p:extLst>
          </p:nvPr>
        </p:nvGraphicFramePr>
        <p:xfrm>
          <a:off x="467544" y="5517232"/>
          <a:ext cx="5328592" cy="7366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84132"/>
                <a:gridCol w="4144460"/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멤버변수</a:t>
                      </a:r>
                      <a:endParaRPr lang="ko-KR" altLang="en-US" b="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상태를 저장</a:t>
                      </a:r>
                      <a:endParaRPr lang="ko-KR" altLang="en-US" b="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멤버 함수</a:t>
                      </a:r>
                      <a:endParaRPr lang="ko-KR" altLang="en-US" b="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멤버변수를 이용</a:t>
                      </a:r>
                      <a:r>
                        <a:rPr lang="en-US" altLang="ko-KR" b="0" baseline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</a:t>
                      </a:r>
                      <a:r>
                        <a:rPr lang="ko-KR" altLang="en-US" b="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동작을 수행</a:t>
                      </a:r>
                      <a:endParaRPr lang="ko-KR" altLang="en-US" b="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7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2458616" cy="5361459"/>
          </a:xfrm>
        </p:spPr>
        <p:txBody>
          <a:bodyPr/>
          <a:lstStyle/>
          <a:p>
            <a:r>
              <a:rPr lang="en-US" altLang="ko-KR" dirty="0" smtClean="0"/>
              <a:t>class </a:t>
            </a:r>
            <a:r>
              <a:rPr lang="ko-KR" altLang="en-US" dirty="0" smtClean="0"/>
              <a:t>클래스 이름 </a:t>
            </a:r>
            <a:r>
              <a:rPr lang="en-US" altLang="ko-KR" dirty="0" smtClean="0"/>
              <a:t>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멤버</a:t>
            </a:r>
            <a:r>
              <a:rPr lang="en-US" altLang="ko-KR" dirty="0" smtClean="0"/>
              <a:t>;</a:t>
            </a:r>
          </a:p>
          <a:p>
            <a:r>
              <a:rPr lang="en-US" altLang="ko-KR" dirty="0" smtClean="0"/>
              <a:t>};</a:t>
            </a:r>
          </a:p>
          <a:p>
            <a:endParaRPr lang="en-US" altLang="ko-KR" dirty="0"/>
          </a:p>
          <a:p>
            <a:r>
              <a:rPr lang="en-US" altLang="ko-KR" dirty="0" smtClean="0"/>
              <a:t>class </a:t>
            </a:r>
            <a:r>
              <a:rPr lang="ko-KR" altLang="en-US" dirty="0" smtClean="0"/>
              <a:t>클래스 이름</a:t>
            </a:r>
            <a:endParaRPr lang="en-US" altLang="ko-KR" dirty="0" smtClean="0"/>
          </a:p>
          <a:p>
            <a:r>
              <a:rPr lang="en-US" altLang="ko-KR" dirty="0" smtClean="0"/>
              <a:t>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멤버</a:t>
            </a:r>
            <a:r>
              <a:rPr lang="en-US" altLang="ko-KR" dirty="0" smtClean="0"/>
              <a:t>;</a:t>
            </a:r>
          </a:p>
          <a:p>
            <a:r>
              <a:rPr lang="en-US" altLang="ko-KR" dirty="0" smtClean="0"/>
              <a:t>};</a:t>
            </a:r>
          </a:p>
          <a:p>
            <a:endParaRPr lang="en-US" altLang="ko-KR" dirty="0" smtClean="0"/>
          </a:p>
          <a:p>
            <a:r>
              <a:rPr lang="en-US" altLang="ko-KR" dirty="0" err="1" smtClean="0"/>
              <a:t>intSample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obj</a:t>
            </a:r>
            <a:r>
              <a:rPr lang="en-US" altLang="ko-KR" dirty="0" smtClean="0"/>
              <a:t>;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3419872" y="764704"/>
            <a:ext cx="2458616" cy="536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   멤버변수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생성하는 객체 이름</a:t>
            </a:r>
            <a:endParaRPr lang="en-US" altLang="ko-KR" dirty="0" smtClean="0"/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클래스 이름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398720" y="4005064"/>
            <a:ext cx="1821352" cy="4042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419872" y="4653136"/>
            <a:ext cx="1229308" cy="40426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>
            <a:stCxn id="6" idx="1"/>
          </p:cNvCxnSpPr>
          <p:nvPr/>
        </p:nvCxnSpPr>
        <p:spPr>
          <a:xfrm flipH="1" flipV="1">
            <a:off x="1043608" y="4077073"/>
            <a:ext cx="2376264" cy="778194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H="1" flipV="1">
            <a:off x="1835696" y="4077073"/>
            <a:ext cx="1543589" cy="13012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왼쪽 중괄호 14"/>
          <p:cNvSpPr/>
          <p:nvPr/>
        </p:nvSpPr>
        <p:spPr>
          <a:xfrm rot="10800000">
            <a:off x="2319458" y="836712"/>
            <a:ext cx="288032" cy="864096"/>
          </a:xfrm>
          <a:prstGeom prst="leftBrac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2627784" y="980728"/>
            <a:ext cx="1008112" cy="16511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498833" y="3041172"/>
            <a:ext cx="256743" cy="40426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498832" y="2132857"/>
            <a:ext cx="544776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7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4474840" cy="5361459"/>
          </a:xfrm>
        </p:spPr>
        <p:txBody>
          <a:bodyPr/>
          <a:lstStyle/>
          <a:p>
            <a:r>
              <a:rPr lang="ko-KR" altLang="en-US" dirty="0" smtClean="0"/>
              <a:t>접근속성</a:t>
            </a:r>
            <a:endParaRPr lang="en-US" altLang="ko-KR" dirty="0" smtClean="0"/>
          </a:p>
          <a:p>
            <a:r>
              <a:rPr lang="en-US" altLang="ko-KR" dirty="0" smtClean="0"/>
              <a:t>private : </a:t>
            </a:r>
            <a:r>
              <a:rPr lang="ko-KR" altLang="en-US" dirty="0" smtClean="0"/>
              <a:t>같은 클래스 멤버만 접근 허용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protected : </a:t>
            </a:r>
            <a:r>
              <a:rPr lang="ko-KR" altLang="en-US" dirty="0" smtClean="0"/>
              <a:t>상속 </a:t>
            </a:r>
            <a:r>
              <a:rPr lang="ko-KR" altLang="en-US" dirty="0" err="1" smtClean="0"/>
              <a:t>관계일때</a:t>
            </a:r>
            <a:r>
              <a:rPr lang="ko-KR" altLang="en-US" dirty="0" smtClean="0"/>
              <a:t> 접근 허용</a:t>
            </a:r>
            <a:endParaRPr lang="en-US" altLang="ko-KR" dirty="0" smtClean="0"/>
          </a:p>
          <a:p>
            <a:r>
              <a:rPr lang="en-US" altLang="ko-KR" dirty="0" smtClean="0"/>
              <a:t>public : </a:t>
            </a:r>
            <a:r>
              <a:rPr lang="ko-KR" altLang="en-US" dirty="0" smtClean="0"/>
              <a:t>모든 위치에서 접근 허용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멤버 함수</a:t>
            </a:r>
            <a:endParaRPr lang="en-US" altLang="ko-KR" dirty="0" smtClean="0"/>
          </a:p>
          <a:p>
            <a:r>
              <a:rPr lang="ko-KR" altLang="en-US" dirty="0" err="1" smtClean="0"/>
              <a:t>자료형</a:t>
            </a:r>
            <a:r>
              <a:rPr lang="ko-KR" altLang="en-US" dirty="0" smtClean="0"/>
              <a:t> 클래스 이름</a:t>
            </a:r>
            <a:r>
              <a:rPr lang="en-US" altLang="ko-KR" dirty="0" smtClean="0"/>
              <a:t>::</a:t>
            </a:r>
            <a:r>
              <a:rPr lang="ko-KR" altLang="en-US" dirty="0" smtClean="0"/>
              <a:t>멤버 함수 이름</a:t>
            </a:r>
            <a:r>
              <a:rPr lang="en-US" altLang="ko-KR" dirty="0" smtClean="0"/>
              <a:t>(</a:t>
            </a:r>
            <a:r>
              <a:rPr lang="ko-KR" altLang="en-US" dirty="0" smtClean="0"/>
              <a:t>매개 변수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{</a:t>
            </a:r>
          </a:p>
          <a:p>
            <a:r>
              <a:rPr lang="ko-KR" altLang="en-US" dirty="0" smtClean="0"/>
              <a:t>  함수 내용</a:t>
            </a:r>
            <a:r>
              <a:rPr lang="en-US" altLang="ko-KR" dirty="0" smtClean="0"/>
              <a:t>;</a:t>
            </a:r>
            <a:endParaRPr lang="en-US" altLang="ko-KR" dirty="0"/>
          </a:p>
          <a:p>
            <a:r>
              <a:rPr lang="en-US" altLang="ko-KR" dirty="0" smtClean="0"/>
              <a:t>}</a:t>
            </a:r>
          </a:p>
          <a:p>
            <a:r>
              <a:rPr lang="en-US" altLang="ko-KR" dirty="0" smtClean="0"/>
              <a:t>ex)</a:t>
            </a:r>
          </a:p>
          <a:p>
            <a:r>
              <a:rPr lang="en-US" altLang="ko-KR" dirty="0" smtClean="0"/>
              <a:t>void </a:t>
            </a:r>
            <a:r>
              <a:rPr lang="en-US" altLang="ko-KR" dirty="0" err="1" smtClean="0"/>
              <a:t>IntSanple</a:t>
            </a:r>
            <a:r>
              <a:rPr lang="en-US" altLang="ko-KR" dirty="0" smtClean="0"/>
              <a:t>::</a:t>
            </a:r>
            <a:r>
              <a:rPr lang="en-US" altLang="ko-KR" dirty="0" err="1" smtClean="0"/>
              <a:t>ShowScore</a:t>
            </a:r>
            <a:r>
              <a:rPr lang="en-US" altLang="ko-KR" dirty="0" smtClean="0"/>
              <a:t>()</a:t>
            </a:r>
          </a:p>
          <a:p>
            <a:r>
              <a:rPr lang="en-US" altLang="ko-KR" dirty="0" smtClean="0"/>
              <a:t>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cout</a:t>
            </a:r>
            <a:r>
              <a:rPr lang="en-US" altLang="ko-KR" dirty="0" smtClean="0"/>
              <a:t> &lt;&lt; “Score: ” &lt;&lt; score &lt;&lt; </a:t>
            </a:r>
            <a:r>
              <a:rPr lang="en-US" altLang="ko-KR" dirty="0" err="1" smtClean="0"/>
              <a:t>endl</a:t>
            </a:r>
            <a:r>
              <a:rPr lang="en-US" altLang="ko-KR" dirty="0" smtClean="0"/>
              <a:t>;</a:t>
            </a:r>
          </a:p>
          <a:p>
            <a:r>
              <a:rPr lang="en-US" altLang="ko-KR" dirty="0"/>
              <a:t>}</a:t>
            </a:r>
            <a:endParaRPr lang="en-US" altLang="ko-KR" dirty="0" smtClean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572000" y="753031"/>
            <a:ext cx="4474840" cy="536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접근 속성의 기본값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일반적으</a:t>
            </a:r>
            <a:r>
              <a:rPr lang="ko-KR" altLang="en-US" dirty="0"/>
              <a:t>로</a:t>
            </a:r>
            <a:endParaRPr lang="en-US" altLang="ko-KR" dirty="0"/>
          </a:p>
          <a:p>
            <a:r>
              <a:rPr lang="ko-KR" altLang="en-US" dirty="0" smtClean="0"/>
              <a:t>멤버변수와 내부처리 일 경우 </a:t>
            </a:r>
            <a:r>
              <a:rPr lang="en-US" altLang="ko-KR" dirty="0" smtClean="0"/>
              <a:t>private</a:t>
            </a:r>
          </a:p>
          <a:p>
            <a:r>
              <a:rPr lang="ko-KR" altLang="en-US" dirty="0" smtClean="0"/>
              <a:t>외부에서 수행할 멤버 함수 경우 </a:t>
            </a:r>
            <a:r>
              <a:rPr lang="en-US" altLang="ko-KR" dirty="0" smtClean="0"/>
              <a:t>public</a:t>
            </a:r>
          </a:p>
          <a:p>
            <a:r>
              <a:rPr lang="ko-KR" altLang="en-US" dirty="0" err="1" smtClean="0"/>
              <a:t>으로</a:t>
            </a:r>
            <a:r>
              <a:rPr lang="ko-KR" altLang="en-US" dirty="0" smtClean="0"/>
              <a:t> 설정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일반적으로</a:t>
            </a:r>
            <a:endParaRPr lang="en-US" altLang="ko-KR" dirty="0" smtClean="0"/>
          </a:p>
          <a:p>
            <a:r>
              <a:rPr lang="en-US" altLang="ko-KR" dirty="0" smtClean="0"/>
              <a:t>public </a:t>
            </a:r>
            <a:r>
              <a:rPr lang="ko-KR" altLang="en-US" dirty="0" smtClean="0"/>
              <a:t>멤버함수 </a:t>
            </a:r>
            <a:r>
              <a:rPr lang="en-US" altLang="ko-KR" dirty="0" smtClean="0"/>
              <a:t>-&gt; get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err="1" smtClean="0"/>
              <a:t>접근자</a:t>
            </a:r>
            <a:endParaRPr lang="en-US" altLang="ko-KR" dirty="0" smtClean="0"/>
          </a:p>
          <a:p>
            <a:r>
              <a:rPr lang="en-US" altLang="ko-KR" dirty="0" smtClean="0"/>
              <a:t>private </a:t>
            </a:r>
            <a:r>
              <a:rPr lang="ko-KR" altLang="en-US" dirty="0" smtClean="0"/>
              <a:t>멤버함수 </a:t>
            </a:r>
            <a:r>
              <a:rPr lang="en-US" altLang="ko-KR" dirty="0" smtClean="0"/>
              <a:t>-&gt; set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변경</a:t>
            </a:r>
            <a:r>
              <a:rPr lang="ko-KR" altLang="en-US" dirty="0">
                <a:sym typeface="Wingdings" panose="05000000000000000000" pitchFamily="2" charset="2"/>
              </a:rPr>
              <a:t>자</a:t>
            </a:r>
            <a:endParaRPr lang="en-US" altLang="ko-KR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467544" y="1124745"/>
            <a:ext cx="79208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1247821" y="980728"/>
            <a:ext cx="3396187" cy="2160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3563888" y="764704"/>
            <a:ext cx="5122912" cy="5361459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764704"/>
            <a:ext cx="2781300" cy="581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67544" y="1556792"/>
            <a:ext cx="2016224" cy="86409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75217" y="5589240"/>
            <a:ext cx="1376503" cy="36004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5146327"/>
            <a:ext cx="33528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7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976664"/>
          </a:xfrm>
        </p:spPr>
        <p:txBody>
          <a:bodyPr/>
          <a:lstStyle/>
          <a:p>
            <a:r>
              <a:rPr lang="ko-KR" altLang="en-US" dirty="0" smtClean="0"/>
              <a:t>객체지향의 특성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추상화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캡슐화</a:t>
            </a:r>
            <a:endParaRPr lang="en-US" altLang="ko-KR" dirty="0" smtClean="0"/>
          </a:p>
          <a:p>
            <a:r>
              <a:rPr lang="ko-KR" altLang="en-US" dirty="0" smtClean="0"/>
              <a:t>클래스는 기본적으로 외부와의 연결 차단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정해진 문을 통해서만 그 참조가 허락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algn="ctr"/>
            <a:r>
              <a:rPr lang="en-US" altLang="ko-KR" sz="3200" b="1" dirty="0" smtClean="0"/>
              <a:t>‘</a:t>
            </a:r>
            <a:r>
              <a:rPr lang="ko-KR" altLang="en-US" sz="3200" b="1" dirty="0" smtClean="0"/>
              <a:t>추상화</a:t>
            </a:r>
            <a:r>
              <a:rPr lang="en-US" altLang="ko-KR" sz="3200" b="1" dirty="0" smtClean="0"/>
              <a:t>’</a:t>
            </a:r>
            <a:r>
              <a:rPr lang="ko-KR" altLang="en-US" sz="3200" b="1" dirty="0" smtClean="0"/>
              <a:t>랑</a:t>
            </a:r>
            <a:r>
              <a:rPr lang="en-US" altLang="ko-KR" sz="3200" b="1" dirty="0" smtClean="0"/>
              <a:t> ‘</a:t>
            </a:r>
            <a:r>
              <a:rPr lang="ko-KR" altLang="en-US" sz="3200" b="1" dirty="0" smtClean="0"/>
              <a:t>캡슐화</a:t>
            </a:r>
            <a:r>
              <a:rPr lang="en-US" altLang="ko-KR" sz="3200" b="1" dirty="0" smtClean="0"/>
              <a:t>’</a:t>
            </a:r>
            <a:r>
              <a:rPr lang="ko-KR" altLang="en-US" sz="3200" b="1" dirty="0" smtClean="0"/>
              <a:t>는 함께 수행</a:t>
            </a:r>
            <a:endParaRPr lang="en-US" altLang="ko-KR" sz="3200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542793"/>
              </p:ext>
            </p:extLst>
          </p:nvPr>
        </p:nvGraphicFramePr>
        <p:xfrm>
          <a:off x="539552" y="1397000"/>
          <a:ext cx="8064896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520280"/>
                <a:gridCol w="5544616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/>
                        <a:t>추상화</a:t>
                      </a:r>
                      <a:r>
                        <a:rPr lang="en-US" altLang="ko-KR" b="0" dirty="0" smtClean="0"/>
                        <a:t>(</a:t>
                      </a:r>
                      <a:r>
                        <a:rPr lang="en-US" altLang="ko-KR" b="0" baseline="0" dirty="0" smtClean="0"/>
                        <a:t>Abstraction)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/>
                        <a:t>객체를 개념화하는 작업</a:t>
                      </a:r>
                      <a:r>
                        <a:rPr lang="en-US" altLang="ko-KR" b="0" dirty="0" smtClean="0"/>
                        <a:t>(</a:t>
                      </a:r>
                      <a:r>
                        <a:rPr lang="ko-KR" altLang="en-US" b="0" dirty="0" smtClean="0"/>
                        <a:t>작업영역 구분</a:t>
                      </a:r>
                      <a:r>
                        <a:rPr lang="en-US" altLang="ko-KR" b="0" dirty="0" smtClean="0"/>
                        <a:t>)</a:t>
                      </a:r>
                      <a:endParaRPr lang="ko-KR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/>
                        <a:t>캡슐화</a:t>
                      </a:r>
                      <a:r>
                        <a:rPr lang="en-US" altLang="ko-KR" b="0" dirty="0" smtClean="0"/>
                        <a:t>(Encapsulation)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/>
                        <a:t>자신의 정보를 외부에 노출하지 않고 포함한 형태</a:t>
                      </a:r>
                      <a:endParaRPr lang="ko-KR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/>
                        <a:t>상속</a:t>
                      </a:r>
                      <a:r>
                        <a:rPr lang="en-US" altLang="ko-KR" b="0" dirty="0" smtClean="0"/>
                        <a:t>(Inheritance)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 smtClean="0"/>
                        <a:t>다형성</a:t>
                      </a:r>
                      <a:r>
                        <a:rPr lang="en-US" altLang="ko-KR" b="0" dirty="0" smtClean="0"/>
                        <a:t>(Polymorphism)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395536" y="3573016"/>
            <a:ext cx="144016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클래스 선언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419872" y="3573016"/>
            <a:ext cx="144016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사용자 프로그램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7236296" y="3573016"/>
            <a:ext cx="144016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멤버 함수 정의</a:t>
            </a:r>
            <a:endParaRPr lang="ko-KR" altLang="en-US" sz="1400" dirty="0"/>
          </a:p>
        </p:txBody>
      </p:sp>
      <p:cxnSp>
        <p:nvCxnSpPr>
          <p:cNvPr id="9" name="직선 화살표 연결선 8"/>
          <p:cNvCxnSpPr>
            <a:stCxn id="5" idx="3"/>
            <a:endCxn id="6" idx="1"/>
          </p:cNvCxnSpPr>
          <p:nvPr/>
        </p:nvCxnSpPr>
        <p:spPr>
          <a:xfrm>
            <a:off x="1835696" y="3825044"/>
            <a:ext cx="15841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23728" y="361003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사용 규칙 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정보 제공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4788024" y="361540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사용자 프로그램 사용 규칙에 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맞게 객체생성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멤버 참조</a:t>
            </a:r>
            <a:endParaRPr lang="ko-KR" altLang="en-US" sz="1200" dirty="0"/>
          </a:p>
        </p:txBody>
      </p:sp>
      <p:cxnSp>
        <p:nvCxnSpPr>
          <p:cNvPr id="14" name="직선 화살표 연결선 13"/>
          <p:cNvCxnSpPr>
            <a:stCxn id="6" idx="3"/>
            <a:endCxn id="7" idx="1"/>
          </p:cNvCxnSpPr>
          <p:nvPr/>
        </p:nvCxnSpPr>
        <p:spPr>
          <a:xfrm>
            <a:off x="4860032" y="3825044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323528" y="3068960"/>
            <a:ext cx="8496944" cy="244827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화살표 17"/>
          <p:cNvSpPr/>
          <p:nvPr/>
        </p:nvSpPr>
        <p:spPr>
          <a:xfrm rot="5400000">
            <a:off x="4139952" y="5517232"/>
            <a:ext cx="79208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3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 smtClean="0"/>
              <a:t>생성자</a:t>
            </a:r>
            <a:endParaRPr lang="en-US" altLang="ko-KR" b="1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객체가 </a:t>
            </a:r>
            <a:r>
              <a:rPr lang="ko-KR" altLang="en-US" b="1" dirty="0" smtClean="0"/>
              <a:t>생성될 때</a:t>
            </a:r>
            <a:r>
              <a:rPr lang="ko-KR" altLang="en-US" dirty="0" smtClean="0"/>
              <a:t> 자동으로 호출되는 멤버 함수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b="1" dirty="0" err="1" smtClean="0"/>
              <a:t>소멸자</a:t>
            </a:r>
            <a:endParaRPr lang="en-US" altLang="ko-KR" b="1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객체가 </a:t>
            </a:r>
            <a:r>
              <a:rPr lang="ko-KR" altLang="en-US" b="1" dirty="0" smtClean="0"/>
              <a:t>소멸될 때</a:t>
            </a:r>
            <a:r>
              <a:rPr lang="ko-KR" altLang="en-US" dirty="0" smtClean="0"/>
              <a:t> 자동으로 호출되는 멤버 함수</a:t>
            </a:r>
            <a:endParaRPr lang="en-US" altLang="ko-KR" dirty="0" smtClean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033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4330824" cy="5361459"/>
          </a:xfrm>
        </p:spPr>
        <p:txBody>
          <a:bodyPr/>
          <a:lstStyle/>
          <a:p>
            <a:r>
              <a:rPr lang="ko-KR" altLang="en-US" dirty="0" err="1" smtClean="0"/>
              <a:t>생성자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함수의 </a:t>
            </a:r>
            <a:r>
              <a:rPr lang="ko-KR" altLang="en-US" dirty="0" err="1" smtClean="0"/>
              <a:t>반환값</a:t>
            </a:r>
            <a:r>
              <a:rPr lang="ko-KR" altLang="en-US" dirty="0" smtClean="0"/>
              <a:t> 없음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클래스 이름과 </a:t>
            </a:r>
            <a:r>
              <a:rPr lang="ko-KR" altLang="en-US" dirty="0" err="1" smtClean="0"/>
              <a:t>같아야함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-&gt; public</a:t>
            </a:r>
          </a:p>
          <a:p>
            <a:endParaRPr lang="en-US" altLang="ko-KR" dirty="0"/>
          </a:p>
          <a:p>
            <a:r>
              <a:rPr lang="ko-KR" altLang="en-US" dirty="0" smtClean="0"/>
              <a:t>클래스이름</a:t>
            </a:r>
            <a:r>
              <a:rPr lang="en-US" altLang="ko-KR" dirty="0" smtClean="0"/>
              <a:t>::</a:t>
            </a:r>
            <a:r>
              <a:rPr lang="ko-KR" altLang="en-US" dirty="0" smtClean="0"/>
              <a:t>클래스이름</a:t>
            </a:r>
            <a:endParaRPr lang="en-US" altLang="ko-KR" dirty="0" smtClean="0"/>
          </a:p>
          <a:p>
            <a:r>
              <a:rPr lang="en-US" altLang="ko-KR" dirty="0" smtClean="0"/>
              <a:t>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초기화</a:t>
            </a:r>
            <a:r>
              <a:rPr lang="en-US" altLang="ko-KR" dirty="0" smtClean="0"/>
              <a:t>;</a:t>
            </a:r>
          </a:p>
          <a:p>
            <a:r>
              <a:rPr lang="en-US" altLang="ko-KR" dirty="0" smtClean="0"/>
              <a:t>}</a:t>
            </a:r>
          </a:p>
          <a:p>
            <a:endParaRPr lang="en-US" altLang="ko-KR" dirty="0"/>
          </a:p>
          <a:p>
            <a:r>
              <a:rPr lang="ko-KR" altLang="en-US" dirty="0" smtClean="0"/>
              <a:t>객체를 생성하면 생성자가 자동으로 호출된다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644008" y="836712"/>
            <a:ext cx="4330824" cy="59046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class </a:t>
            </a:r>
            <a:r>
              <a:rPr lang="ko-KR" altLang="en-US" dirty="0" smtClean="0"/>
              <a:t>장세웅</a:t>
            </a:r>
            <a:r>
              <a:rPr lang="en-US" altLang="ko-KR" dirty="0" smtClean="0"/>
              <a:t>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public:</a:t>
            </a:r>
          </a:p>
          <a:p>
            <a:r>
              <a:rPr lang="en-US" altLang="ko-KR" dirty="0"/>
              <a:t> </a:t>
            </a:r>
            <a:r>
              <a:rPr lang="ko-KR" altLang="en-US" dirty="0" smtClean="0"/>
              <a:t>장세웅</a:t>
            </a:r>
            <a:r>
              <a:rPr lang="en-US" altLang="ko-KR" dirty="0" smtClean="0"/>
              <a:t>();</a:t>
            </a:r>
          </a:p>
          <a:p>
            <a:r>
              <a:rPr lang="en-US" altLang="ko-KR" dirty="0"/>
              <a:t> </a:t>
            </a:r>
            <a:r>
              <a:rPr lang="ko-KR" altLang="en-US" dirty="0" err="1" smtClean="0"/>
              <a:t>하고싶은</a:t>
            </a:r>
            <a:r>
              <a:rPr lang="en-US" altLang="ko-KR" dirty="0"/>
              <a:t>_</a:t>
            </a:r>
            <a:r>
              <a:rPr lang="ko-KR" altLang="en-US" dirty="0" smtClean="0"/>
              <a:t>말</a:t>
            </a:r>
            <a:r>
              <a:rPr lang="en-US" altLang="ko-KR" dirty="0" smtClean="0"/>
              <a:t>();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char name[7];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char saying[500];</a:t>
            </a:r>
          </a:p>
          <a:p>
            <a:r>
              <a:rPr lang="en-US" altLang="ko-KR" dirty="0" smtClean="0"/>
              <a:t>};</a:t>
            </a:r>
          </a:p>
          <a:p>
            <a:endParaRPr lang="en-US" altLang="ko-KR" dirty="0"/>
          </a:p>
          <a:p>
            <a:r>
              <a:rPr lang="ko-KR" altLang="en-US" dirty="0" smtClean="0"/>
              <a:t>장세웅</a:t>
            </a:r>
            <a:r>
              <a:rPr lang="en-US" altLang="ko-KR" dirty="0" smtClean="0"/>
              <a:t>::</a:t>
            </a:r>
            <a:r>
              <a:rPr lang="ko-KR" altLang="en-US" dirty="0" smtClean="0"/>
              <a:t>장세웅</a:t>
            </a:r>
            <a:r>
              <a:rPr lang="en-US" altLang="ko-KR" dirty="0" smtClean="0"/>
              <a:t>(){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name = “</a:t>
            </a:r>
            <a:r>
              <a:rPr lang="ko-KR" altLang="en-US" dirty="0" smtClean="0"/>
              <a:t>장세웅</a:t>
            </a:r>
            <a:r>
              <a:rPr lang="en-US" altLang="ko-KR" dirty="0" smtClean="0"/>
              <a:t>”;</a:t>
            </a:r>
          </a:p>
          <a:p>
            <a:r>
              <a:rPr lang="en-US" altLang="ko-KR" dirty="0" smtClean="0"/>
              <a:t>}</a:t>
            </a:r>
          </a:p>
          <a:p>
            <a:r>
              <a:rPr lang="en-US" altLang="ko-KR" dirty="0" smtClean="0"/>
              <a:t>void </a:t>
            </a:r>
            <a:r>
              <a:rPr lang="ko-KR" altLang="en-US" dirty="0" smtClean="0"/>
              <a:t>장세웅</a:t>
            </a:r>
            <a:r>
              <a:rPr lang="en-US" altLang="ko-KR" dirty="0" smtClean="0"/>
              <a:t>::</a:t>
            </a:r>
            <a:r>
              <a:rPr lang="ko-KR" altLang="en-US" dirty="0" err="1" smtClean="0"/>
              <a:t>하고싶은</a:t>
            </a:r>
            <a:r>
              <a:rPr lang="en-US" altLang="ko-KR" dirty="0" smtClean="0"/>
              <a:t>_</a:t>
            </a:r>
            <a:r>
              <a:rPr lang="ko-KR" altLang="en-US" dirty="0" smtClean="0"/>
              <a:t>말</a:t>
            </a:r>
            <a:r>
              <a:rPr lang="en-US" altLang="ko-KR" dirty="0" smtClean="0"/>
              <a:t>(){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saying = “</a:t>
            </a:r>
            <a:r>
              <a:rPr lang="ko-KR" altLang="en-US" dirty="0" err="1" smtClean="0"/>
              <a:t>멘잡멘잡</a:t>
            </a:r>
            <a:r>
              <a:rPr lang="en-US" altLang="ko-KR" dirty="0" smtClean="0"/>
              <a:t>!”;</a:t>
            </a:r>
          </a:p>
          <a:p>
            <a:r>
              <a:rPr lang="en-US" altLang="ko-KR" dirty="0"/>
              <a:t>}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int</a:t>
            </a:r>
            <a:r>
              <a:rPr lang="en-US" altLang="ko-KR" dirty="0" smtClean="0"/>
              <a:t> main(){</a:t>
            </a:r>
          </a:p>
          <a:p>
            <a:r>
              <a:rPr lang="en-US" altLang="ko-KR" dirty="0"/>
              <a:t> </a:t>
            </a:r>
            <a:r>
              <a:rPr lang="ko-KR" altLang="en-US" dirty="0" smtClean="0"/>
              <a:t>장세웅 </a:t>
            </a:r>
            <a:r>
              <a:rPr lang="en-US" altLang="ko-KR" dirty="0"/>
              <a:t>a</a:t>
            </a:r>
            <a:r>
              <a:rPr lang="en-US" altLang="ko-KR" dirty="0" smtClean="0"/>
              <a:t>;</a:t>
            </a:r>
          </a:p>
          <a:p>
            <a:r>
              <a:rPr lang="en-US" altLang="ko-KR" dirty="0" smtClean="0"/>
              <a:t> a.</a:t>
            </a:r>
            <a:r>
              <a:rPr lang="ko-KR" altLang="en-US" dirty="0" err="1" smtClean="0"/>
              <a:t>하고싶은말</a:t>
            </a:r>
            <a:r>
              <a:rPr lang="en-US" altLang="ko-KR" dirty="0" smtClean="0"/>
              <a:t>();</a:t>
            </a:r>
          </a:p>
          <a:p>
            <a:r>
              <a:rPr lang="en-US" altLang="ko-KR" dirty="0" smtClean="0"/>
              <a:t>……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5" name="타원 4"/>
          <p:cNvSpPr/>
          <p:nvPr/>
        </p:nvSpPr>
        <p:spPr>
          <a:xfrm>
            <a:off x="4652998" y="5373216"/>
            <a:ext cx="1071130" cy="36004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>
            <a:stCxn id="5" idx="2"/>
          </p:cNvCxnSpPr>
          <p:nvPr/>
        </p:nvCxnSpPr>
        <p:spPr>
          <a:xfrm flipH="1" flipV="1">
            <a:off x="2555776" y="4437112"/>
            <a:ext cx="2097222" cy="1116124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67544" y="4005064"/>
            <a:ext cx="4032448" cy="43204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67544" y="764704"/>
            <a:ext cx="2448272" cy="144016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716016" y="3068960"/>
            <a:ext cx="1728192" cy="93610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716016" y="1124744"/>
            <a:ext cx="864096" cy="5760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>
            <a:stCxn id="12" idx="3"/>
            <a:endCxn id="14" idx="1"/>
          </p:cNvCxnSpPr>
          <p:nvPr/>
        </p:nvCxnSpPr>
        <p:spPr>
          <a:xfrm flipV="1">
            <a:off x="2915816" y="1412776"/>
            <a:ext cx="1800200" cy="720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12" idx="3"/>
            <a:endCxn id="13" idx="1"/>
          </p:cNvCxnSpPr>
          <p:nvPr/>
        </p:nvCxnSpPr>
        <p:spPr>
          <a:xfrm>
            <a:off x="2915816" y="1484784"/>
            <a:ext cx="1800200" cy="205222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54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5554960" cy="5361459"/>
          </a:xfrm>
        </p:spPr>
        <p:txBody>
          <a:bodyPr/>
          <a:lstStyle/>
          <a:p>
            <a:r>
              <a:rPr lang="ko-KR" altLang="en-US" dirty="0" err="1" smtClean="0"/>
              <a:t>생성자</a:t>
            </a:r>
            <a:r>
              <a:rPr lang="ko-KR" altLang="en-US" dirty="0" smtClean="0"/>
              <a:t> 오버로딩</a:t>
            </a:r>
            <a:endParaRPr lang="en-US" altLang="ko-KR" dirty="0" smtClean="0"/>
          </a:p>
          <a:p>
            <a:r>
              <a:rPr lang="ko-KR" altLang="en-US" dirty="0" smtClean="0"/>
              <a:t>오버로딩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함수의 이름은 같으나 매개변수가 다르게 하여 함수 재정의</a:t>
            </a:r>
            <a:endParaRPr lang="en-US" altLang="ko-KR" dirty="0" smtClean="0"/>
          </a:p>
          <a:p>
            <a:endParaRPr lang="en-US" altLang="ko-KR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5076056" y="2060847"/>
            <a:ext cx="3242320" cy="536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오버로딩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즉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student p2(2, 3, 4);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smtClean="0"/>
              <a:t>p2.student(2, 3, 4);</a:t>
            </a:r>
          </a:p>
          <a:p>
            <a:endParaRPr lang="en-US" altLang="ko-KR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68" y="1797247"/>
            <a:ext cx="30670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왼쪽 중괄호 3"/>
          <p:cNvSpPr/>
          <p:nvPr/>
        </p:nvSpPr>
        <p:spPr>
          <a:xfrm rot="10800000">
            <a:off x="3107908" y="2204864"/>
            <a:ext cx="324035" cy="360040"/>
          </a:xfrm>
          <a:prstGeom prst="leftBrac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 중괄호 6"/>
          <p:cNvSpPr/>
          <p:nvPr/>
        </p:nvSpPr>
        <p:spPr>
          <a:xfrm rot="10800000">
            <a:off x="2182894" y="5391984"/>
            <a:ext cx="324035" cy="360040"/>
          </a:xfrm>
          <a:prstGeom prst="leftBrac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2506929" y="2492896"/>
            <a:ext cx="2785151" cy="3079108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V="1">
            <a:off x="3431943" y="2323973"/>
            <a:ext cx="1644113" cy="47101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등호 14"/>
          <p:cNvSpPr/>
          <p:nvPr/>
        </p:nvSpPr>
        <p:spPr>
          <a:xfrm rot="5400000">
            <a:off x="5796135" y="3836589"/>
            <a:ext cx="648072" cy="76038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112059" y="3460700"/>
            <a:ext cx="2016224" cy="32834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076056" y="4714865"/>
            <a:ext cx="2016224" cy="32834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4932041" y="3068961"/>
            <a:ext cx="2376264" cy="216024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54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생성자</a:t>
            </a:r>
            <a:r>
              <a:rPr lang="ko-KR" altLang="en-US" dirty="0" smtClean="0"/>
              <a:t> 초기화 목록</a:t>
            </a:r>
            <a:endParaRPr lang="en-US" altLang="ko-KR" dirty="0" smtClean="0"/>
          </a:p>
          <a:p>
            <a:r>
              <a:rPr lang="ko-KR" altLang="en-US" dirty="0" smtClean="0"/>
              <a:t>매개변수가 </a:t>
            </a:r>
            <a:r>
              <a:rPr lang="ko-KR" altLang="en-US" dirty="0" err="1" smtClean="0"/>
              <a:t>없을때는</a:t>
            </a:r>
            <a:r>
              <a:rPr lang="ko-KR" altLang="en-US" dirty="0" smtClean="0"/>
              <a:t> 초기화한 값 할당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매개변수 </a:t>
            </a:r>
            <a:r>
              <a:rPr lang="ko-KR" altLang="en-US" dirty="0" err="1" smtClean="0"/>
              <a:t>있을때</a:t>
            </a:r>
            <a:r>
              <a:rPr lang="ko-KR" altLang="en-US" dirty="0" smtClean="0"/>
              <a:t> 전달된 값 할당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student::student(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 = 0){</a:t>
            </a:r>
          </a:p>
          <a:p>
            <a:r>
              <a:rPr lang="en-US" altLang="ko-KR" dirty="0" smtClean="0"/>
              <a:t> score = a;</a:t>
            </a:r>
          </a:p>
          <a:p>
            <a:r>
              <a:rPr lang="en-US" altLang="ko-KR" dirty="0" smtClean="0"/>
              <a:t>}</a:t>
            </a:r>
          </a:p>
          <a:p>
            <a:endParaRPr lang="en-US" altLang="ko-KR" dirty="0"/>
          </a:p>
          <a:p>
            <a:r>
              <a:rPr lang="en-US" altLang="ko-KR" dirty="0" smtClean="0"/>
              <a:t>student s1; //score &lt;- 0</a:t>
            </a:r>
          </a:p>
          <a:p>
            <a:r>
              <a:rPr lang="en-US" altLang="ko-KR" dirty="0" smtClean="0"/>
              <a:t>student s2(10); //score &lt;- 10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err="1" smtClean="0"/>
              <a:t>생성자</a:t>
            </a:r>
            <a:r>
              <a:rPr lang="ko-KR" altLang="en-US" dirty="0" smtClean="0"/>
              <a:t> 초기화를 사용해서 </a:t>
            </a:r>
            <a:endParaRPr lang="en-US" altLang="ko-KR" dirty="0" smtClean="0"/>
          </a:p>
          <a:p>
            <a:r>
              <a:rPr lang="ko-KR" altLang="en-US" dirty="0" smtClean="0"/>
              <a:t>함수 기본 매개변수 값과 같은 기능 수행 가능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39552" y="1136680"/>
            <a:ext cx="3384376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35101" y="1484784"/>
            <a:ext cx="2884771" cy="288032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35101" y="3501008"/>
            <a:ext cx="1084571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483767" y="2132856"/>
            <a:ext cx="576065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35101" y="3807818"/>
            <a:ext cx="1516620" cy="288032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503465" y="2186140"/>
            <a:ext cx="212091" cy="288032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54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60032" y="764704"/>
            <a:ext cx="3826768" cy="5361459"/>
          </a:xfrm>
        </p:spPr>
        <p:txBody>
          <a:bodyPr/>
          <a:lstStyle/>
          <a:p>
            <a:r>
              <a:rPr lang="ko-KR" altLang="en-US" dirty="0" err="1" smtClean="0"/>
              <a:t>복사생성자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이미 선언된 변수의 값을 이용하여 새 변수를 초기화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객체 생성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복사생성자</a:t>
            </a:r>
            <a:r>
              <a:rPr lang="ko-KR" altLang="en-US" dirty="0" smtClean="0"/>
              <a:t> 호출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3888432" cy="5307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611560" y="5085184"/>
            <a:ext cx="1008112" cy="1800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1619672" y="1700808"/>
            <a:ext cx="2952328" cy="3474386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왼쪽 중괄호 6"/>
          <p:cNvSpPr/>
          <p:nvPr/>
        </p:nvSpPr>
        <p:spPr>
          <a:xfrm>
            <a:off x="4360471" y="764704"/>
            <a:ext cx="648072" cy="1584176"/>
          </a:xfrm>
          <a:prstGeom prst="lef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54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소멸자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객체가 소멸할 때 자동으로 실행되는 함수</a:t>
            </a:r>
            <a:endParaRPr lang="en-US" altLang="ko-KR" dirty="0" smtClean="0"/>
          </a:p>
          <a:p>
            <a:r>
              <a:rPr lang="en-US" altLang="ko-KR" dirty="0" smtClean="0"/>
              <a:t>~</a:t>
            </a:r>
            <a:r>
              <a:rPr lang="ko-KR" altLang="en-US" dirty="0" smtClean="0"/>
              <a:t>클래스이름</a:t>
            </a:r>
            <a:r>
              <a:rPr lang="en-US" altLang="ko-KR" dirty="0" smtClean="0"/>
              <a:t>();</a:t>
            </a:r>
          </a:p>
          <a:p>
            <a:endParaRPr lang="en-US" altLang="ko-KR" dirty="0"/>
          </a:p>
          <a:p>
            <a:r>
              <a:rPr lang="ko-KR" altLang="en-US" dirty="0" smtClean="0"/>
              <a:t>정적으로 생성된 객체는 프로그램 종료 후 자동 소멸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err="1" smtClean="0"/>
              <a:t>소멸자는</a:t>
            </a:r>
            <a:r>
              <a:rPr lang="ko-KR" altLang="en-US" dirty="0" smtClean="0"/>
              <a:t> 오버로딩 사용 불가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492896"/>
            <a:ext cx="5004048" cy="4122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39552" y="2132856"/>
            <a:ext cx="4536504" cy="2880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436096" y="5157192"/>
            <a:ext cx="504056" cy="14401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635896" y="4700428"/>
            <a:ext cx="1728192" cy="5287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54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포인터 객체와 </a:t>
            </a:r>
            <a:r>
              <a:rPr lang="en-US" altLang="ko-KR" dirty="0" smtClean="0"/>
              <a:t>this </a:t>
            </a:r>
            <a:r>
              <a:rPr lang="ko-KR" altLang="en-US" dirty="0" smtClean="0"/>
              <a:t>포인터</a:t>
            </a:r>
            <a:endParaRPr lang="en-US" altLang="ko-KR" dirty="0" smtClean="0"/>
          </a:p>
          <a:p>
            <a:r>
              <a:rPr lang="ko-KR" altLang="en-US" dirty="0" smtClean="0"/>
              <a:t>포인터 객체 선언</a:t>
            </a:r>
            <a:r>
              <a:rPr lang="en-US" altLang="ko-KR" dirty="0" smtClean="0"/>
              <a:t>(</a:t>
            </a:r>
            <a:r>
              <a:rPr lang="ko-KR" altLang="en-US" dirty="0" smtClean="0"/>
              <a:t>정적 객체 생성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클래스 이름</a:t>
            </a:r>
            <a:r>
              <a:rPr lang="en-US" altLang="ko-KR" dirty="0" smtClean="0"/>
              <a:t>* </a:t>
            </a:r>
            <a:r>
              <a:rPr lang="ko-KR" altLang="en-US" dirty="0" smtClean="0"/>
              <a:t>포인터객체</a:t>
            </a:r>
            <a:r>
              <a:rPr lang="en-US" altLang="ko-KR" dirty="0" smtClean="0"/>
              <a:t>;</a:t>
            </a:r>
          </a:p>
          <a:p>
            <a:endParaRPr lang="en-US" altLang="ko-KR" dirty="0"/>
          </a:p>
          <a:p>
            <a:r>
              <a:rPr lang="en-US" altLang="ko-KR" dirty="0" smtClean="0"/>
              <a:t>ex)</a:t>
            </a:r>
          </a:p>
          <a:p>
            <a:r>
              <a:rPr lang="en-US" altLang="ko-KR" dirty="0" smtClean="0"/>
              <a:t>Student </a:t>
            </a:r>
            <a:r>
              <a:rPr lang="en-US" altLang="ko-KR" dirty="0" err="1" smtClean="0"/>
              <a:t>Obj</a:t>
            </a:r>
            <a:r>
              <a:rPr lang="en-US" altLang="ko-KR" dirty="0" smtClean="0"/>
              <a:t>(1, 2, 3); //</a:t>
            </a:r>
            <a:r>
              <a:rPr lang="ko-KR" altLang="en-US" dirty="0" smtClean="0"/>
              <a:t>객체 생성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생성자</a:t>
            </a:r>
            <a:r>
              <a:rPr lang="ko-KR" altLang="en-US" dirty="0" smtClean="0"/>
              <a:t> 호출</a:t>
            </a:r>
            <a:endParaRPr lang="en-US" altLang="ko-KR" dirty="0" smtClean="0"/>
          </a:p>
          <a:p>
            <a:r>
              <a:rPr lang="en-US" altLang="ko-KR" dirty="0" smtClean="0"/>
              <a:t>Student* </a:t>
            </a:r>
            <a:r>
              <a:rPr lang="en-US" altLang="ko-KR" dirty="0" err="1" smtClean="0"/>
              <a:t>p_Obj</a:t>
            </a:r>
            <a:r>
              <a:rPr lang="en-US" altLang="ko-KR" dirty="0" smtClean="0"/>
              <a:t>; //</a:t>
            </a:r>
            <a:r>
              <a:rPr lang="ko-KR" altLang="en-US" dirty="0" smtClean="0"/>
              <a:t>포인터 객체 생성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err="1" smtClean="0"/>
              <a:t>p_Obj</a:t>
            </a:r>
            <a:r>
              <a:rPr lang="en-US" altLang="ko-KR" dirty="0" smtClean="0"/>
              <a:t> = &amp;</a:t>
            </a:r>
            <a:r>
              <a:rPr lang="en-US" altLang="ko-KR" dirty="0" err="1" smtClean="0"/>
              <a:t>Obj</a:t>
            </a:r>
            <a:r>
              <a:rPr lang="en-US" altLang="ko-KR" dirty="0" smtClean="0"/>
              <a:t>; // </a:t>
            </a:r>
            <a:r>
              <a:rPr lang="ko-KR" altLang="en-US" dirty="0" smtClean="0"/>
              <a:t>포인터 객체에 동일 클래스의 객체 주소 할당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err="1" smtClean="0"/>
              <a:t>Obj.Sum</a:t>
            </a:r>
            <a:r>
              <a:rPr lang="en-US" altLang="ko-KR" dirty="0" smtClean="0"/>
              <a:t>(); // </a:t>
            </a:r>
            <a:r>
              <a:rPr lang="ko-KR" altLang="en-US" dirty="0" smtClean="0"/>
              <a:t>객체 멤버 함수에 접근하여 함수 호출</a:t>
            </a:r>
            <a:endParaRPr lang="en-US" altLang="ko-KR" dirty="0" smtClean="0"/>
          </a:p>
          <a:p>
            <a:r>
              <a:rPr lang="en-US" altLang="ko-KR" dirty="0" err="1" smtClean="0"/>
              <a:t>p_Obj</a:t>
            </a:r>
            <a:r>
              <a:rPr lang="en-US" altLang="ko-KR" dirty="0" smtClean="0"/>
              <a:t>-&gt;Sum(); //</a:t>
            </a:r>
            <a:r>
              <a:rPr lang="ko-KR" altLang="en-US" dirty="0" smtClean="0"/>
              <a:t>객체 멤버 함수의 주소에 접근하여 객체멤버 함수 접근하고 함수 호출</a:t>
            </a:r>
            <a:endParaRPr lang="en-US" altLang="ko-KR" dirty="0" smtClean="0"/>
          </a:p>
          <a:p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8" name="직사각형 7"/>
          <p:cNvSpPr/>
          <p:nvPr/>
        </p:nvSpPr>
        <p:spPr>
          <a:xfrm>
            <a:off x="467544" y="2132856"/>
            <a:ext cx="7776864" cy="273630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폭발 1 8"/>
          <p:cNvSpPr/>
          <p:nvPr/>
        </p:nvSpPr>
        <p:spPr>
          <a:xfrm>
            <a:off x="2411760" y="4859857"/>
            <a:ext cx="4608512" cy="1809503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정적객체</a:t>
            </a:r>
            <a:r>
              <a:rPr lang="ko-KR" altLang="en-US" dirty="0">
                <a:solidFill>
                  <a:srgbClr val="FF0000"/>
                </a:solidFill>
              </a:rPr>
              <a:t> 생성 방법</a:t>
            </a:r>
          </a:p>
        </p:txBody>
      </p:sp>
      <p:sp>
        <p:nvSpPr>
          <p:cNvPr id="5" name="아래쪽 화살표 4"/>
          <p:cNvSpPr/>
          <p:nvPr/>
        </p:nvSpPr>
        <p:spPr>
          <a:xfrm>
            <a:off x="4355976" y="4797152"/>
            <a:ext cx="504056" cy="720080"/>
          </a:xfrm>
          <a:prstGeom prst="downArrow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694708"/>
              </p:ext>
            </p:extLst>
          </p:nvPr>
        </p:nvGraphicFramePr>
        <p:xfrm>
          <a:off x="4873793" y="985280"/>
          <a:ext cx="2471936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471936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…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객체 </a:t>
                      </a:r>
                      <a:r>
                        <a:rPr lang="en-US" altLang="ko-KR" sz="1400" dirty="0" err="1" smtClean="0"/>
                        <a:t>Obj</a:t>
                      </a:r>
                      <a:r>
                        <a:rPr lang="ko-KR" altLang="en-US" sz="1400" dirty="0" smtClean="0"/>
                        <a:t>에 할당된 공간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…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 smtClean="0"/>
                        <a:t> </a:t>
                      </a:r>
                      <a:r>
                        <a:rPr lang="en-US" altLang="ko-KR" sz="1400" baseline="0" dirty="0" err="1" smtClean="0"/>
                        <a:t>Obj</a:t>
                      </a:r>
                      <a:r>
                        <a:rPr lang="ko-KR" altLang="en-US" sz="1400" baseline="0" dirty="0" smtClean="0"/>
                        <a:t>의 주소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…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956376" y="13407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Obj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956376" y="212356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p_Obj</a:t>
            </a:r>
            <a:endParaRPr lang="ko-KR" altLang="en-US" dirty="0"/>
          </a:p>
        </p:txBody>
      </p:sp>
      <p:cxnSp>
        <p:nvCxnSpPr>
          <p:cNvPr id="15" name="직선 화살표 연결선 14"/>
          <p:cNvCxnSpPr>
            <a:stCxn id="14" idx="1"/>
          </p:cNvCxnSpPr>
          <p:nvPr/>
        </p:nvCxnSpPr>
        <p:spPr>
          <a:xfrm flipH="1">
            <a:off x="7164288" y="2308230"/>
            <a:ext cx="79208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>
            <a:off x="7164288" y="1525434"/>
            <a:ext cx="7200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/>
          <p:cNvGrpSpPr/>
          <p:nvPr/>
        </p:nvGrpSpPr>
        <p:grpSpPr>
          <a:xfrm>
            <a:off x="4427984" y="1525434"/>
            <a:ext cx="1080120" cy="782796"/>
            <a:chOff x="5004048" y="1525434"/>
            <a:chExt cx="504056" cy="782796"/>
          </a:xfrm>
        </p:grpSpPr>
        <p:cxnSp>
          <p:nvCxnSpPr>
            <p:cNvPr id="25" name="직선 연결선 24"/>
            <p:cNvCxnSpPr/>
            <p:nvPr/>
          </p:nvCxnSpPr>
          <p:spPr>
            <a:xfrm flipH="1">
              <a:off x="5004048" y="2308230"/>
              <a:ext cx="504056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>
            <a:xfrm>
              <a:off x="5004048" y="1525434"/>
              <a:ext cx="0" cy="775955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/>
            <p:nvPr/>
          </p:nvCxnSpPr>
          <p:spPr>
            <a:xfrm>
              <a:off x="5004048" y="1527536"/>
              <a:ext cx="302434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354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포인터객체 선언</a:t>
            </a:r>
            <a:r>
              <a:rPr lang="en-US" altLang="ko-KR" dirty="0" smtClean="0"/>
              <a:t>(</a:t>
            </a:r>
            <a:r>
              <a:rPr lang="ko-KR" altLang="en-US" dirty="0" smtClean="0"/>
              <a:t>동적 객체 생성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포인터 객체 </a:t>
            </a:r>
            <a:r>
              <a:rPr lang="en-US" altLang="ko-KR" dirty="0" smtClean="0"/>
              <a:t>= new </a:t>
            </a:r>
            <a:r>
              <a:rPr lang="ko-KR" altLang="en-US" dirty="0" smtClean="0"/>
              <a:t>클래스 이름</a:t>
            </a:r>
            <a:r>
              <a:rPr lang="en-US" altLang="ko-KR" dirty="0" smtClean="0"/>
              <a:t>;</a:t>
            </a:r>
          </a:p>
          <a:p>
            <a:endParaRPr lang="en-US" altLang="ko-KR" dirty="0"/>
          </a:p>
          <a:p>
            <a:r>
              <a:rPr lang="en-US" altLang="ko-KR" dirty="0" smtClean="0"/>
              <a:t>ex)</a:t>
            </a:r>
          </a:p>
          <a:p>
            <a:r>
              <a:rPr lang="en-US" altLang="ko-KR" dirty="0" smtClean="0"/>
              <a:t>Student </a:t>
            </a:r>
            <a:r>
              <a:rPr lang="en-US" altLang="ko-KR" dirty="0" err="1" smtClean="0"/>
              <a:t>Obj</a:t>
            </a:r>
            <a:r>
              <a:rPr lang="en-US" altLang="ko-KR" dirty="0" smtClean="0"/>
              <a:t>(1, 2, 3); // </a:t>
            </a:r>
            <a:r>
              <a:rPr lang="ko-KR" altLang="en-US" dirty="0" smtClean="0"/>
              <a:t>객체 생성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생성자</a:t>
            </a:r>
            <a:r>
              <a:rPr lang="ko-KR" altLang="en-US" dirty="0" smtClean="0"/>
              <a:t> 호출</a:t>
            </a:r>
            <a:endParaRPr lang="en-US" altLang="ko-KR" dirty="0" smtClean="0"/>
          </a:p>
          <a:p>
            <a:r>
              <a:rPr lang="en-US" altLang="ko-KR" dirty="0" smtClean="0"/>
              <a:t>Student* </a:t>
            </a:r>
            <a:r>
              <a:rPr lang="en-US" altLang="ko-KR" dirty="0" err="1" smtClean="0"/>
              <a:t>p_Obj</a:t>
            </a:r>
            <a:r>
              <a:rPr lang="en-US" altLang="ko-KR" dirty="0" smtClean="0"/>
              <a:t> = new Student(4, 5, 6); </a:t>
            </a:r>
            <a:r>
              <a:rPr lang="en-US" altLang="ko-KR" sz="1600" dirty="0" smtClean="0"/>
              <a:t>//</a:t>
            </a:r>
            <a:r>
              <a:rPr lang="ko-KR" altLang="en-US" sz="1600" dirty="0" smtClean="0"/>
              <a:t>동적 객체 생성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생성된 곳의 주소는 </a:t>
            </a:r>
            <a:r>
              <a:rPr lang="en-US" altLang="ko-KR" sz="1600" dirty="0" err="1" smtClean="0"/>
              <a:t>p_Obj</a:t>
            </a:r>
            <a:r>
              <a:rPr lang="ko-KR" altLang="en-US" sz="1600" dirty="0" smtClean="0"/>
              <a:t>에 할당</a:t>
            </a:r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ko-KR" altLang="en-US" sz="1600" dirty="0" err="1" smtClean="0"/>
              <a:t>동적객체</a:t>
            </a:r>
            <a:r>
              <a:rPr lang="ko-KR" altLang="en-US" sz="1600" dirty="0" smtClean="0"/>
              <a:t> 소멸</a:t>
            </a:r>
            <a:endParaRPr lang="en-US" altLang="ko-KR" sz="1600" dirty="0" smtClean="0"/>
          </a:p>
          <a:p>
            <a:r>
              <a:rPr lang="en-US" altLang="ko-KR" sz="1600" dirty="0" smtClean="0"/>
              <a:t>delete(</a:t>
            </a:r>
            <a:r>
              <a:rPr lang="ko-KR" altLang="en-US" sz="1600" dirty="0" smtClean="0"/>
              <a:t>소멸할 객체의 주소를 가리키는 포인터 객체</a:t>
            </a:r>
            <a:r>
              <a:rPr lang="en-US" altLang="ko-KR" sz="1600" dirty="0" smtClean="0"/>
              <a:t>);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712086"/>
              </p:ext>
            </p:extLst>
          </p:nvPr>
        </p:nvGraphicFramePr>
        <p:xfrm>
          <a:off x="4894615" y="2996952"/>
          <a:ext cx="2471936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471936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…</a:t>
                      </a:r>
                      <a:endParaRPr lang="ko-KR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객체 </a:t>
                      </a:r>
                      <a:r>
                        <a:rPr lang="en-US" altLang="ko-KR" sz="1200" dirty="0" err="1" smtClean="0"/>
                        <a:t>Obj</a:t>
                      </a:r>
                      <a:r>
                        <a:rPr lang="ko-KR" altLang="en-US" sz="1200" dirty="0" smtClean="0"/>
                        <a:t>에 할당된 공간</a:t>
                      </a:r>
                      <a:endParaRPr lang="ko-KR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…</a:t>
                      </a:r>
                      <a:endParaRPr lang="ko-KR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new</a:t>
                      </a:r>
                      <a:r>
                        <a:rPr lang="en-US" altLang="ko-KR" sz="1200" baseline="0" dirty="0" smtClean="0"/>
                        <a:t> Student()</a:t>
                      </a:r>
                      <a:r>
                        <a:rPr lang="ko-KR" altLang="en-US" sz="1200" baseline="0" dirty="0" smtClean="0"/>
                        <a:t>로 할당된 공간</a:t>
                      </a:r>
                      <a:endParaRPr lang="ko-KR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…</a:t>
                      </a:r>
                      <a:endParaRPr lang="ko-KR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주소</a:t>
                      </a:r>
                      <a:endParaRPr lang="ko-KR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77198" y="335244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Obj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974753" y="486916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p_Obj</a:t>
            </a:r>
            <a:endParaRPr lang="ko-KR" altLang="en-US" dirty="0"/>
          </a:p>
        </p:txBody>
      </p:sp>
      <p:cxnSp>
        <p:nvCxnSpPr>
          <p:cNvPr id="7" name="직선 화살표 연결선 6"/>
          <p:cNvCxnSpPr>
            <a:stCxn id="6" idx="1"/>
          </p:cNvCxnSpPr>
          <p:nvPr/>
        </p:nvCxnSpPr>
        <p:spPr>
          <a:xfrm flipH="1">
            <a:off x="7182665" y="5053826"/>
            <a:ext cx="79208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H="1">
            <a:off x="7185110" y="3537106"/>
            <a:ext cx="7200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/>
        </p:nvGrpSpPr>
        <p:grpSpPr>
          <a:xfrm>
            <a:off x="4416735" y="4300717"/>
            <a:ext cx="1080120" cy="782796"/>
            <a:chOff x="5004048" y="1525434"/>
            <a:chExt cx="504056" cy="782796"/>
          </a:xfrm>
        </p:grpSpPr>
        <p:cxnSp>
          <p:nvCxnSpPr>
            <p:cNvPr id="10" name="직선 연결선 9"/>
            <p:cNvCxnSpPr/>
            <p:nvPr/>
          </p:nvCxnSpPr>
          <p:spPr>
            <a:xfrm flipH="1">
              <a:off x="5004048" y="2308230"/>
              <a:ext cx="504056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5004048" y="1525434"/>
              <a:ext cx="0" cy="775955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/>
            <p:cNvCxnSpPr/>
            <p:nvPr/>
          </p:nvCxnSpPr>
          <p:spPr>
            <a:xfrm>
              <a:off x="5004048" y="1527536"/>
              <a:ext cx="302434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직사각형 12"/>
          <p:cNvSpPr/>
          <p:nvPr/>
        </p:nvSpPr>
        <p:spPr>
          <a:xfrm>
            <a:off x="467544" y="2492896"/>
            <a:ext cx="806489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901379" y="4869160"/>
            <a:ext cx="392494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포인트가 5개인 별 14"/>
          <p:cNvSpPr/>
          <p:nvPr/>
        </p:nvSpPr>
        <p:spPr>
          <a:xfrm>
            <a:off x="8172400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54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참조 객체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이미 생성된 객체를 다른 이름으로 부르는 것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-&gt; </a:t>
            </a:r>
            <a:r>
              <a:rPr lang="ko-KR" altLang="en-US" sz="2400" b="1" dirty="0" smtClean="0"/>
              <a:t>必 </a:t>
            </a:r>
            <a:r>
              <a:rPr lang="ko-KR" altLang="en-US" b="1" dirty="0" smtClean="0"/>
              <a:t>선언과 동시에 초기화</a:t>
            </a:r>
            <a:r>
              <a:rPr lang="en-US" altLang="ko-KR" b="1" dirty="0" smtClean="0"/>
              <a:t>!</a:t>
            </a:r>
          </a:p>
          <a:p>
            <a:r>
              <a:rPr lang="ko-KR" altLang="en-US" dirty="0" smtClean="0"/>
              <a:t>클래스 이름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참조 객체 이름 </a:t>
            </a:r>
            <a:r>
              <a:rPr lang="en-US" altLang="ko-KR" dirty="0" smtClean="0"/>
              <a:t>= </a:t>
            </a:r>
            <a:r>
              <a:rPr lang="ko-KR" altLang="en-US" dirty="0" smtClean="0"/>
              <a:t>객체이름</a:t>
            </a:r>
            <a:r>
              <a:rPr lang="en-US" altLang="ko-KR" dirty="0" smtClean="0"/>
              <a:t>;</a:t>
            </a:r>
          </a:p>
          <a:p>
            <a:endParaRPr lang="ko-KR" alt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297803"/>
            <a:ext cx="5199217" cy="44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002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this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객체 자신을 가리키는 포인터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클래스의 멤버 함수에서 </a:t>
            </a:r>
            <a:r>
              <a:rPr lang="ko-KR" altLang="en-US" b="1" dirty="0" smtClean="0"/>
              <a:t>매개변수와 멤버 변수 이름이 같을 때</a:t>
            </a:r>
            <a:endParaRPr lang="en-US" altLang="ko-KR" b="1" dirty="0" smtClean="0"/>
          </a:p>
          <a:p>
            <a:r>
              <a:rPr lang="ko-KR" altLang="en-US" dirty="0" smtClean="0"/>
              <a:t>매개변수의 이름인지</a:t>
            </a:r>
            <a:endParaRPr lang="en-US" altLang="ko-KR" dirty="0" smtClean="0"/>
          </a:p>
          <a:p>
            <a:r>
              <a:rPr lang="ko-KR" altLang="en-US" dirty="0" smtClean="0"/>
              <a:t>멤버변수의 이름인지</a:t>
            </a:r>
            <a:endParaRPr lang="en-US" altLang="ko-KR" dirty="0" smtClean="0"/>
          </a:p>
          <a:p>
            <a:r>
              <a:rPr lang="ko-KR" altLang="en-US" dirty="0" smtClean="0"/>
              <a:t>명확하게 지적할 때 사용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87093"/>
            <a:ext cx="1070175" cy="1743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7" y="1916832"/>
            <a:ext cx="3960441" cy="476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3347864" y="3984280"/>
            <a:ext cx="1368152" cy="2368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716016" y="3784749"/>
            <a:ext cx="1008112" cy="2368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355312" y="3429000"/>
            <a:ext cx="676628" cy="2368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789967" y="2690336"/>
            <a:ext cx="3306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void Sample::</a:t>
            </a:r>
            <a:r>
              <a:rPr lang="en-US" altLang="ko-KR" sz="1400" dirty="0" err="1" smtClean="0"/>
              <a:t>setScore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const</a:t>
            </a:r>
            <a:r>
              <a:rPr lang="en-US" altLang="ko-KR" sz="1400" dirty="0" smtClean="0"/>
              <a:t> in score){</a:t>
            </a:r>
          </a:p>
          <a:p>
            <a:r>
              <a:rPr lang="en-US" altLang="ko-KR" sz="1400" dirty="0" smtClean="0"/>
              <a:t>  Sample::score = score;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  <p:sp>
        <p:nvSpPr>
          <p:cNvPr id="10" name="직사각형 9"/>
          <p:cNvSpPr/>
          <p:nvPr/>
        </p:nvSpPr>
        <p:spPr>
          <a:xfrm>
            <a:off x="5940152" y="2941264"/>
            <a:ext cx="1944216" cy="2368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>
            <a:stCxn id="10" idx="1"/>
            <a:endCxn id="6" idx="0"/>
          </p:cNvCxnSpPr>
          <p:nvPr/>
        </p:nvCxnSpPr>
        <p:spPr>
          <a:xfrm flipH="1">
            <a:off x="4031940" y="3059668"/>
            <a:ext cx="1908212" cy="9246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2915816" y="1484784"/>
            <a:ext cx="331236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012160" y="2987093"/>
            <a:ext cx="1152128" cy="23680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366484" y="4021557"/>
            <a:ext cx="327142" cy="23680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02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589487"/>
            <a:ext cx="280987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620" y="1933178"/>
            <a:ext cx="334327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633" y="1611238"/>
            <a:ext cx="3895725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프렌드</a:t>
            </a:r>
            <a:r>
              <a:rPr lang="ko-KR" altLang="en-US" dirty="0" smtClean="0"/>
              <a:t> 함수</a:t>
            </a:r>
            <a:r>
              <a:rPr lang="en-US" altLang="ko-KR" dirty="0" smtClean="0"/>
              <a:t>(</a:t>
            </a:r>
            <a:r>
              <a:rPr lang="ko-KR" altLang="en-US" dirty="0" smtClean="0"/>
              <a:t>일반 함수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특정 클래스의 </a:t>
            </a:r>
            <a:r>
              <a:rPr lang="en-US" altLang="ko-KR" dirty="0" smtClean="0"/>
              <a:t>private </a:t>
            </a:r>
            <a:r>
              <a:rPr lang="ko-KR" altLang="en-US" dirty="0" smtClean="0"/>
              <a:t>멤버 참조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95536" y="2348880"/>
            <a:ext cx="252028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176096" y="3140968"/>
            <a:ext cx="2268112" cy="1435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95536" y="3573016"/>
            <a:ext cx="1152128" cy="36004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>
            <a:stCxn id="8" idx="1"/>
          </p:cNvCxnSpPr>
          <p:nvPr/>
        </p:nvCxnSpPr>
        <p:spPr>
          <a:xfrm flipH="1" flipV="1">
            <a:off x="1540668" y="3789040"/>
            <a:ext cx="2635428" cy="695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2915816" y="2456892"/>
            <a:ext cx="2394336" cy="6840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328496" y="5013176"/>
            <a:ext cx="110760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/>
          <p:cNvCxnSpPr/>
          <p:nvPr/>
        </p:nvCxnSpPr>
        <p:spPr>
          <a:xfrm flipV="1">
            <a:off x="5436096" y="4576216"/>
            <a:ext cx="421162" cy="4729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4328496" y="3356992"/>
            <a:ext cx="1467640" cy="21602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364456" y="3923234"/>
            <a:ext cx="2007744" cy="21602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76" y="4436460"/>
            <a:ext cx="34290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4176096" y="836712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클래스 </a:t>
            </a:r>
            <a:r>
              <a:rPr lang="ko-KR" altLang="en-US" sz="1600" dirty="0" err="1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선언부에</a:t>
            </a:r>
            <a:r>
              <a:rPr lang="ko-KR" altLang="en-US" sz="1600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그 원형이 포함되지만</a:t>
            </a:r>
            <a:r>
              <a:rPr lang="en-US" altLang="ko-KR" sz="1600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sz="1600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클래스의 멤버함수는 아님</a:t>
            </a:r>
            <a:r>
              <a:rPr lang="en-US" altLang="ko-KR" sz="1600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  <a:endParaRPr lang="ko-KR" altLang="en-US" sz="1600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002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문자열 클래스와 파일 입출력 클래스</a:t>
            </a:r>
            <a:endParaRPr lang="en-US" altLang="ko-KR" dirty="0" smtClean="0"/>
          </a:p>
          <a:p>
            <a:r>
              <a:rPr lang="en-US" altLang="ko-KR" dirty="0" smtClean="0"/>
              <a:t>#include “string”   #include “</a:t>
            </a:r>
            <a:r>
              <a:rPr lang="en-US" altLang="ko-KR" dirty="0" err="1" smtClean="0"/>
              <a:t>fstream</a:t>
            </a:r>
            <a:r>
              <a:rPr lang="en-US" altLang="ko-KR" dirty="0" smtClean="0"/>
              <a:t>”</a:t>
            </a:r>
          </a:p>
          <a:p>
            <a:endParaRPr lang="en-US" altLang="ko-KR" dirty="0"/>
          </a:p>
          <a:p>
            <a:r>
              <a:rPr lang="ko-KR" altLang="en-US" dirty="0" smtClean="0"/>
              <a:t>이미 정의된 클래스를 사용할 때는 해당 멤버를 그대로 사용하면 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ex)</a:t>
            </a:r>
          </a:p>
          <a:p>
            <a:r>
              <a:rPr lang="en-US" altLang="ko-KR" dirty="0" smtClean="0"/>
              <a:t>#</a:t>
            </a:r>
            <a:r>
              <a:rPr lang="en-US" altLang="ko-KR" dirty="0"/>
              <a:t>include “string”</a:t>
            </a:r>
            <a:endParaRPr lang="en-US" altLang="ko-KR" dirty="0" smtClean="0"/>
          </a:p>
          <a:p>
            <a:r>
              <a:rPr lang="en-US" altLang="ko-KR" dirty="0" smtClean="0"/>
              <a:t>…</a:t>
            </a:r>
          </a:p>
          <a:p>
            <a:r>
              <a:rPr lang="en-US" altLang="ko-KR" dirty="0" smtClean="0"/>
              <a:t>string </a:t>
            </a:r>
            <a:r>
              <a:rPr lang="en-US" altLang="ko-KR" dirty="0" err="1" smtClean="0"/>
              <a:t>s_name</a:t>
            </a:r>
            <a:r>
              <a:rPr lang="en-US" altLang="ko-KR" dirty="0" smtClean="0"/>
              <a:t>;</a:t>
            </a:r>
          </a:p>
          <a:p>
            <a:r>
              <a:rPr lang="en-US" altLang="ko-KR" dirty="0" err="1" smtClean="0"/>
              <a:t>s_name</a:t>
            </a:r>
            <a:r>
              <a:rPr lang="en-US" altLang="ko-KR" dirty="0" smtClean="0"/>
              <a:t> = “</a:t>
            </a:r>
            <a:r>
              <a:rPr lang="ko-KR" altLang="en-US" dirty="0" err="1" smtClean="0"/>
              <a:t>멘잡멘잡</a:t>
            </a:r>
            <a:r>
              <a:rPr lang="en-US" altLang="ko-KR" dirty="0" smtClean="0"/>
              <a:t>”;</a:t>
            </a:r>
          </a:p>
          <a:p>
            <a:r>
              <a:rPr lang="en-US" altLang="ko-KR" dirty="0" err="1" smtClean="0"/>
              <a:t>s_name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s_name</a:t>
            </a:r>
            <a:r>
              <a:rPr lang="en-US" altLang="ko-KR" dirty="0" smtClean="0"/>
              <a:t> + “</a:t>
            </a:r>
            <a:r>
              <a:rPr lang="ko-KR" altLang="en-US" dirty="0" smtClean="0"/>
              <a:t>멘</a:t>
            </a:r>
            <a:r>
              <a:rPr lang="en-US" altLang="ko-KR" dirty="0" smtClean="0"/>
              <a:t>!</a:t>
            </a:r>
            <a:r>
              <a:rPr lang="ko-KR" altLang="en-US" dirty="0" err="1" smtClean="0"/>
              <a:t>잡</a:t>
            </a:r>
            <a:r>
              <a:rPr lang="en-US" altLang="ko-KR" dirty="0" smtClean="0"/>
              <a:t>”; // </a:t>
            </a:r>
            <a:r>
              <a:rPr lang="en-US" altLang="ko-KR" dirty="0" err="1" smtClean="0"/>
              <a:t>s_name.append</a:t>
            </a:r>
            <a:r>
              <a:rPr lang="en-US" altLang="ko-KR" dirty="0" smtClean="0"/>
              <a:t>(“</a:t>
            </a:r>
            <a:r>
              <a:rPr lang="ko-KR" altLang="en-US" dirty="0" smtClean="0"/>
              <a:t>멘</a:t>
            </a:r>
            <a:r>
              <a:rPr lang="en-US" altLang="ko-KR" dirty="0" smtClean="0"/>
              <a:t>!</a:t>
            </a:r>
            <a:r>
              <a:rPr lang="ko-KR" altLang="en-US" dirty="0" err="1" smtClean="0"/>
              <a:t>잡</a:t>
            </a:r>
            <a:r>
              <a:rPr lang="en-US" altLang="ko-KR" dirty="0" smtClean="0"/>
              <a:t>”);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39552" y="3789040"/>
            <a:ext cx="2664296" cy="2880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419872" y="3789040"/>
            <a:ext cx="2448272" cy="2880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등호 5"/>
          <p:cNvSpPr/>
          <p:nvPr/>
        </p:nvSpPr>
        <p:spPr>
          <a:xfrm>
            <a:off x="2991636" y="3284984"/>
            <a:ext cx="648072" cy="432048"/>
          </a:xfrm>
          <a:prstGeom prst="mathEqual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10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784"/>
            <a:ext cx="238125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문자열 </a:t>
            </a:r>
            <a:r>
              <a:rPr lang="ko-KR" altLang="en-US" dirty="0" err="1" smtClean="0"/>
              <a:t>클래서</a:t>
            </a:r>
            <a:r>
              <a:rPr lang="ko-KR" altLang="en-US" dirty="0" smtClean="0"/>
              <a:t> 멤버</a:t>
            </a:r>
            <a:endParaRPr lang="en-US" altLang="ko-KR" dirty="0" smtClean="0"/>
          </a:p>
          <a:p>
            <a:r>
              <a:rPr lang="ko-KR" altLang="en-US" dirty="0" err="1" smtClean="0"/>
              <a:t>생성자</a:t>
            </a:r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419556"/>
              </p:ext>
            </p:extLst>
          </p:nvPr>
        </p:nvGraphicFramePr>
        <p:xfrm>
          <a:off x="2627784" y="1996724"/>
          <a:ext cx="6408712" cy="1566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390"/>
                <a:gridCol w="5139322"/>
              </a:tblGrid>
              <a:tr h="3132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함수 형태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의미와 객체</a:t>
                      </a:r>
                      <a:endParaRPr lang="ko-KR" altLang="en-US" sz="1100" dirty="0"/>
                    </a:p>
                  </a:txBody>
                  <a:tcPr/>
                </a:tc>
              </a:tr>
              <a:tr h="3132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string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빈 문자열</a:t>
                      </a:r>
                      <a:r>
                        <a:rPr lang="ko-KR" altLang="en-US" sz="1100" baseline="0" dirty="0" smtClean="0"/>
                        <a:t> 객체를 생성</a:t>
                      </a:r>
                      <a:endParaRPr lang="ko-KR" altLang="en-US" sz="1100" dirty="0"/>
                    </a:p>
                  </a:txBody>
                  <a:tcPr/>
                </a:tc>
              </a:tr>
              <a:tr h="3132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string(</a:t>
                      </a:r>
                      <a:r>
                        <a:rPr lang="ko-KR" altLang="en-US" sz="1100" dirty="0" smtClean="0"/>
                        <a:t>문자열</a:t>
                      </a:r>
                      <a:r>
                        <a:rPr lang="en-US" altLang="ko-KR" sz="1100" dirty="0" smtClean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객체를 생성하고 </a:t>
                      </a:r>
                      <a:r>
                        <a:rPr lang="ko-KR" altLang="en-US" sz="1100" dirty="0" err="1" smtClean="0"/>
                        <a:t>생성자에서</a:t>
                      </a:r>
                      <a:r>
                        <a:rPr lang="ko-KR" altLang="en-US" sz="1100" dirty="0" smtClean="0"/>
                        <a:t> 전달한 문자열로 초기화한다</a:t>
                      </a:r>
                      <a:r>
                        <a:rPr lang="en-US" altLang="ko-KR" sz="1100" dirty="0" smtClean="0"/>
                        <a:t>.</a:t>
                      </a:r>
                      <a:endParaRPr lang="ko-KR" altLang="en-US" sz="1100" dirty="0"/>
                    </a:p>
                  </a:txBody>
                  <a:tcPr/>
                </a:tc>
              </a:tr>
              <a:tr h="3132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string(char*)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객체를 생성하고 </a:t>
                      </a:r>
                      <a:r>
                        <a:rPr lang="ko-KR" altLang="en-US" sz="1100" dirty="0" err="1" smtClean="0"/>
                        <a:t>생성자에서</a:t>
                      </a:r>
                      <a:r>
                        <a:rPr lang="ko-KR" altLang="en-US" sz="1100" dirty="0" smtClean="0"/>
                        <a:t> 전달한 문자 배열의 값으로 초기화한다</a:t>
                      </a:r>
                      <a:r>
                        <a:rPr lang="en-US" altLang="ko-KR" sz="1100" dirty="0" smtClean="0"/>
                        <a:t>.</a:t>
                      </a:r>
                      <a:endParaRPr lang="ko-KR" altLang="en-US" sz="1100" dirty="0"/>
                    </a:p>
                  </a:txBody>
                  <a:tcPr/>
                </a:tc>
              </a:tr>
              <a:tr h="3132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string(</a:t>
                      </a:r>
                      <a:r>
                        <a:rPr lang="ko-KR" altLang="en-US" sz="1100" dirty="0" smtClean="0"/>
                        <a:t>개수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문자</a:t>
                      </a:r>
                      <a:r>
                        <a:rPr lang="en-US" altLang="ko-KR" sz="1100" dirty="0" smtClean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객체를 생성하고 지정한 개수만큼 전달한 문자로 문자열을 만들어 초기화 한다</a:t>
                      </a:r>
                      <a:r>
                        <a:rPr lang="en-US" altLang="ko-KR" sz="1100" dirty="0" smtClean="0"/>
                        <a:t>.</a:t>
                      </a:r>
                      <a:endParaRPr lang="ko-KR" altLang="en-US" sz="11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직선 화살표 연결선 10"/>
          <p:cNvCxnSpPr/>
          <p:nvPr/>
        </p:nvCxnSpPr>
        <p:spPr>
          <a:xfrm flipH="1">
            <a:off x="1475656" y="2785889"/>
            <a:ext cx="1224136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>
            <a:off x="1520530" y="3068960"/>
            <a:ext cx="1179262" cy="30596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>
            <a:off x="1475656" y="3374927"/>
            <a:ext cx="1224136" cy="265353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H="1">
            <a:off x="950696" y="2492896"/>
            <a:ext cx="1749096" cy="7312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5" y="5085184"/>
            <a:ext cx="3719625" cy="1464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6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문자열 추가 함수</a:t>
            </a:r>
            <a:r>
              <a:rPr lang="en-US" altLang="ko-KR" dirty="0" smtClean="0"/>
              <a:t>(</a:t>
            </a:r>
            <a:r>
              <a:rPr lang="ko-KR" altLang="en-US" dirty="0" smtClean="0"/>
              <a:t>오버로딩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3958404"/>
              </p:ext>
            </p:extLst>
          </p:nvPr>
        </p:nvGraphicFramePr>
        <p:xfrm>
          <a:off x="467544" y="1196752"/>
          <a:ext cx="8229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/>
                <a:gridCol w="506124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함수형태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의미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append(</a:t>
                      </a:r>
                      <a:r>
                        <a:rPr lang="ko-KR" altLang="en-US" sz="1600" dirty="0" smtClean="0"/>
                        <a:t>문자열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객체에 전달한 매개변수인 문자열을 덧붙인다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append(</a:t>
                      </a:r>
                      <a:r>
                        <a:rPr lang="ko-KR" altLang="en-US" sz="1600" dirty="0" smtClean="0"/>
                        <a:t>문자열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시작 위치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개수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객체에 전달한 매개변수인 </a:t>
                      </a:r>
                      <a:r>
                        <a:rPr lang="ko-KR" altLang="en-US" sz="1600" b="1" dirty="0" smtClean="0"/>
                        <a:t>문자열에서 해당  </a:t>
                      </a:r>
                      <a:r>
                        <a:rPr lang="en-US" altLang="ko-KR" sz="1600" b="1" dirty="0" smtClean="0"/>
                        <a:t>‘</a:t>
                      </a:r>
                      <a:r>
                        <a:rPr lang="ko-KR" altLang="en-US" sz="1600" b="1" dirty="0" smtClean="0"/>
                        <a:t>시작 위치</a:t>
                      </a:r>
                      <a:r>
                        <a:rPr lang="en-US" altLang="ko-KR" sz="1600" b="1" dirty="0" smtClean="0"/>
                        <a:t>’</a:t>
                      </a:r>
                      <a:r>
                        <a:rPr lang="ko-KR" altLang="en-US" sz="1600" b="1" dirty="0" smtClean="0"/>
                        <a:t>부터</a:t>
                      </a:r>
                      <a:r>
                        <a:rPr lang="ko-KR" altLang="en-US" sz="1600" dirty="0" smtClean="0"/>
                        <a:t> 지정한 </a:t>
                      </a:r>
                      <a:r>
                        <a:rPr lang="en-US" altLang="ko-KR" sz="1600" dirty="0" smtClean="0"/>
                        <a:t>‘</a:t>
                      </a:r>
                      <a:r>
                        <a:rPr lang="ko-KR" altLang="en-US" sz="1600" dirty="0" smtClean="0"/>
                        <a:t>개수</a:t>
                      </a:r>
                      <a:r>
                        <a:rPr lang="en-US" altLang="ko-KR" sz="1600" dirty="0" smtClean="0"/>
                        <a:t>’</a:t>
                      </a:r>
                      <a:r>
                        <a:rPr lang="ko-KR" altLang="en-US" sz="1600" dirty="0" smtClean="0"/>
                        <a:t>만큼의 문자열을 덧붙인다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append(</a:t>
                      </a:r>
                      <a:r>
                        <a:rPr lang="ko-KR" altLang="en-US" sz="1600" dirty="0" smtClean="0"/>
                        <a:t>개수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문자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객체에 지정한 개수만큼 해당 문자를 덧붙인다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67544" y="1556792"/>
            <a:ext cx="3168352" cy="1296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005118" y="836712"/>
            <a:ext cx="98270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68960"/>
            <a:ext cx="2376264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443" y="3910354"/>
            <a:ext cx="4803557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화살표 연결선 8"/>
          <p:cNvCxnSpPr/>
          <p:nvPr/>
        </p:nvCxnSpPr>
        <p:spPr>
          <a:xfrm flipV="1">
            <a:off x="2771800" y="4401108"/>
            <a:ext cx="1568643" cy="2520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V="1">
            <a:off x="2771800" y="4653136"/>
            <a:ext cx="1568643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2749515" y="4905164"/>
            <a:ext cx="1590928" cy="577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2746321" y="5042684"/>
            <a:ext cx="1594122" cy="9296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12160" y="4558971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>
                <a:solidFill>
                  <a:srgbClr val="FF0000"/>
                </a:solidFill>
              </a:rPr>
              <a:t>0 1 2 3 4 5 6 7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문자열 할당 함수</a:t>
            </a:r>
            <a:r>
              <a:rPr lang="en-US" altLang="ko-KR" dirty="0" smtClean="0"/>
              <a:t>(</a:t>
            </a:r>
            <a:r>
              <a:rPr lang="ko-KR" altLang="en-US" dirty="0" smtClean="0"/>
              <a:t>오버 로딩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9152813"/>
              </p:ext>
            </p:extLst>
          </p:nvPr>
        </p:nvGraphicFramePr>
        <p:xfrm>
          <a:off x="467544" y="1196752"/>
          <a:ext cx="8229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/>
                <a:gridCol w="506124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함수형태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의미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assign(</a:t>
                      </a:r>
                      <a:r>
                        <a:rPr lang="ko-KR" altLang="en-US" sz="1600" dirty="0" smtClean="0"/>
                        <a:t>문자열</a:t>
                      </a:r>
                      <a:r>
                        <a:rPr lang="en-US" altLang="ko-KR" sz="1600" dirty="0" smtClean="0"/>
                        <a:t>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객체가 전달한 매개변수인 문자열로 </a:t>
                      </a:r>
                      <a:r>
                        <a:rPr lang="ko-KR" altLang="en-US" sz="1600" b="1" dirty="0" smtClean="0"/>
                        <a:t>초기화</a:t>
                      </a:r>
                      <a:r>
                        <a:rPr lang="ko-KR" altLang="en-US" sz="1600" dirty="0" smtClean="0"/>
                        <a:t>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assign(</a:t>
                      </a:r>
                      <a:r>
                        <a:rPr lang="ko-KR" altLang="en-US" sz="1600" dirty="0" smtClean="0"/>
                        <a:t>문자열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시작위치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개수</a:t>
                      </a:r>
                      <a:r>
                        <a:rPr lang="en-US" altLang="ko-KR" sz="1600" dirty="0" smtClean="0"/>
                        <a:t>);</a:t>
                      </a:r>
                    </a:p>
                    <a:p>
                      <a:pPr latinLnBrk="1"/>
                      <a:r>
                        <a:rPr lang="en-US" altLang="ko-KR" sz="1600" dirty="0" smtClean="0"/>
                        <a:t>assign(</a:t>
                      </a:r>
                      <a:r>
                        <a:rPr lang="ko-KR" altLang="en-US" sz="1600" dirty="0" smtClean="0"/>
                        <a:t>문자열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개수</a:t>
                      </a:r>
                      <a:r>
                        <a:rPr lang="en-US" altLang="ko-KR" sz="1600" dirty="0" smtClean="0"/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객체가 전달한 매개변수인 문자열에서 해당 </a:t>
                      </a:r>
                      <a:r>
                        <a:rPr lang="en-US" altLang="ko-KR" sz="1600" dirty="0" smtClean="0"/>
                        <a:t>‘</a:t>
                      </a:r>
                      <a:r>
                        <a:rPr lang="ko-KR" altLang="en-US" sz="1600" dirty="0" smtClean="0"/>
                        <a:t>시작 위치</a:t>
                      </a:r>
                      <a:r>
                        <a:rPr lang="en-US" altLang="ko-KR" sz="1600" dirty="0" smtClean="0"/>
                        <a:t>’</a:t>
                      </a:r>
                      <a:r>
                        <a:rPr lang="ko-KR" altLang="en-US" sz="1600" dirty="0" smtClean="0"/>
                        <a:t>로부터 지정한 </a:t>
                      </a:r>
                      <a:r>
                        <a:rPr lang="en-US" altLang="ko-KR" sz="1600" dirty="0" smtClean="0"/>
                        <a:t>‘</a:t>
                      </a:r>
                      <a:r>
                        <a:rPr lang="ko-KR" altLang="en-US" sz="1600" dirty="0" smtClean="0"/>
                        <a:t>개수</a:t>
                      </a:r>
                      <a:r>
                        <a:rPr lang="en-US" altLang="ko-KR" sz="1600" dirty="0" smtClean="0"/>
                        <a:t>’ </a:t>
                      </a:r>
                      <a:r>
                        <a:rPr lang="ko-KR" altLang="en-US" sz="1600" dirty="0" smtClean="0"/>
                        <a:t>만큼의 문자열로 </a:t>
                      </a:r>
                      <a:r>
                        <a:rPr lang="ko-KR" altLang="en-US" sz="1600" b="1" dirty="0" smtClean="0"/>
                        <a:t>초기화</a:t>
                      </a:r>
                      <a:r>
                        <a:rPr lang="ko-KR" altLang="en-US" sz="1600" dirty="0" smtClean="0"/>
                        <a:t>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assign(</a:t>
                      </a:r>
                      <a:r>
                        <a:rPr lang="ko-KR" altLang="en-US" sz="1600" dirty="0" smtClean="0"/>
                        <a:t>개수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문자</a:t>
                      </a:r>
                      <a:r>
                        <a:rPr lang="en-US" altLang="ko-KR" sz="1600" dirty="0" smtClean="0"/>
                        <a:t>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객체에 지정한 개수만큼 해당 문자를 </a:t>
                      </a:r>
                      <a:r>
                        <a:rPr lang="ko-KR" altLang="en-US" sz="1600" b="1" dirty="0" smtClean="0"/>
                        <a:t>덧붙인다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24944"/>
            <a:ext cx="2518923" cy="393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717032"/>
            <a:ext cx="2928684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직선 화살표 연결선 6"/>
          <p:cNvCxnSpPr/>
          <p:nvPr/>
        </p:nvCxnSpPr>
        <p:spPr>
          <a:xfrm flipV="1">
            <a:off x="2555776" y="4275094"/>
            <a:ext cx="2448272" cy="1260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V="1">
            <a:off x="2843808" y="4437112"/>
            <a:ext cx="2160240" cy="5173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endCxn id="2051" idx="1"/>
          </p:cNvCxnSpPr>
          <p:nvPr/>
        </p:nvCxnSpPr>
        <p:spPr>
          <a:xfrm flipV="1">
            <a:off x="2739389" y="4617132"/>
            <a:ext cx="2264659" cy="900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2411760" y="4891472"/>
            <a:ext cx="2592288" cy="10872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467544" y="1556792"/>
            <a:ext cx="3168352" cy="1296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005118" y="836712"/>
            <a:ext cx="98270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020272" y="1560948"/>
            <a:ext cx="1152128" cy="2838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7452320" y="2203249"/>
            <a:ext cx="1152128" cy="28964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83568" y="4586508"/>
            <a:ext cx="20162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 smtClean="0">
                <a:solidFill>
                  <a:srgbClr val="FF0000"/>
                </a:solidFill>
              </a:rPr>
              <a:t>0 1 2 3 4 5 6 7 8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멤버 함수</a:t>
            </a:r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1061985"/>
              </p:ext>
            </p:extLst>
          </p:nvPr>
        </p:nvGraphicFramePr>
        <p:xfrm>
          <a:off x="467544" y="1196753"/>
          <a:ext cx="8229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5565304"/>
              </a:tblGrid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함수형태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의미</a:t>
                      </a:r>
                      <a:endParaRPr lang="ko-KR" altLang="en-US" sz="1400" dirty="0"/>
                    </a:p>
                  </a:txBody>
                  <a:tcPr/>
                </a:tc>
              </a:tr>
              <a:tr h="2575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at(</a:t>
                      </a:r>
                      <a:r>
                        <a:rPr lang="ko-KR" altLang="en-US" sz="1400" dirty="0" smtClean="0"/>
                        <a:t>위치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문자열 객체에서 지정한 위치의 문자를 </a:t>
                      </a:r>
                      <a:r>
                        <a:rPr lang="ko-KR" altLang="en-US" sz="1400" b="1" dirty="0" smtClean="0"/>
                        <a:t>반환</a:t>
                      </a:r>
                      <a:r>
                        <a:rPr lang="en-US" altLang="ko-KR" sz="1400" dirty="0" smtClean="0"/>
                        <a:t>. </a:t>
                      </a:r>
                      <a:r>
                        <a:rPr lang="ko-KR" altLang="en-US" sz="1400" dirty="0" smtClean="0"/>
                        <a:t>문자 위치는</a:t>
                      </a:r>
                      <a:r>
                        <a:rPr lang="en-US" altLang="ko-KR" sz="1400" baseline="0" dirty="0" smtClean="0"/>
                        <a:t> 0</a:t>
                      </a:r>
                      <a:r>
                        <a:rPr lang="ko-KR" altLang="en-US" sz="1400" baseline="0" dirty="0" smtClean="0"/>
                        <a:t>부터 시작</a:t>
                      </a:r>
                      <a:r>
                        <a:rPr lang="en-US" altLang="ko-KR" sz="1400" baseline="0" dirty="0" smtClean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</a:tr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length(),</a:t>
                      </a:r>
                      <a:r>
                        <a:rPr lang="en-US" altLang="ko-KR" sz="1400" baseline="0" dirty="0" smtClean="0"/>
                        <a:t> size()</a:t>
                      </a:r>
                      <a:endParaRPr lang="en-US" altLang="ko-K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문자열 객체가 지정한 문자열 길이를 </a:t>
                      </a:r>
                      <a:r>
                        <a:rPr lang="ko-KR" altLang="en-US" sz="1400" b="1" dirty="0" smtClean="0"/>
                        <a:t>반환</a:t>
                      </a:r>
                      <a:r>
                        <a:rPr lang="en-US" altLang="ko-KR" sz="1400" dirty="0" smtClean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</a:tr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clear()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clear(); </a:t>
                      </a:r>
                      <a:r>
                        <a:rPr lang="ko-KR" altLang="en-US" sz="1400" dirty="0" smtClean="0"/>
                        <a:t>객체를 빈 문자열로 </a:t>
                      </a:r>
                      <a:r>
                        <a:rPr lang="ko-KR" altLang="en-US" sz="1400" b="1" dirty="0" smtClean="0"/>
                        <a:t>초기화</a:t>
                      </a:r>
                      <a:r>
                        <a:rPr lang="en-US" altLang="ko-KR" sz="1400" dirty="0" smtClean="0"/>
                        <a:t>.</a:t>
                      </a:r>
                    </a:p>
                  </a:txBody>
                  <a:tcPr/>
                </a:tc>
              </a:tr>
              <a:tr h="2240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erase(</a:t>
                      </a:r>
                      <a:r>
                        <a:rPr lang="ko-KR" altLang="en-US" sz="1400" dirty="0" smtClean="0"/>
                        <a:t>위치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개수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erase(</a:t>
                      </a:r>
                      <a:r>
                        <a:rPr lang="ko-KR" altLang="en-US" sz="1400" dirty="0" smtClean="0"/>
                        <a:t>위치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개수</a:t>
                      </a:r>
                      <a:r>
                        <a:rPr lang="en-US" altLang="ko-KR" sz="1400" dirty="0" smtClean="0"/>
                        <a:t>); </a:t>
                      </a:r>
                      <a:r>
                        <a:rPr lang="ko-KR" altLang="en-US" sz="1400" dirty="0" smtClean="0"/>
                        <a:t>지정된 위치로부터 해당 개수만큼 문자를 </a:t>
                      </a:r>
                      <a:r>
                        <a:rPr lang="ko-KR" altLang="en-US" sz="1400" b="1" dirty="0" smtClean="0"/>
                        <a:t>삭제</a:t>
                      </a:r>
                      <a:endParaRPr lang="en-US" altLang="ko-KR" sz="1400" b="1" dirty="0" smtClean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32226"/>
            <a:ext cx="3240360" cy="393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331761"/>
            <a:ext cx="3434269" cy="3006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직선 화살표 연결선 6"/>
          <p:cNvCxnSpPr/>
          <p:nvPr/>
        </p:nvCxnSpPr>
        <p:spPr>
          <a:xfrm flipV="1">
            <a:off x="3091336" y="4365104"/>
            <a:ext cx="1152128" cy="360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왼쪽 중괄호 5"/>
          <p:cNvSpPr/>
          <p:nvPr/>
        </p:nvSpPr>
        <p:spPr>
          <a:xfrm>
            <a:off x="4283968" y="3717032"/>
            <a:ext cx="216024" cy="129614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3785683" y="4897994"/>
            <a:ext cx="858325" cy="2591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3667400" y="5050394"/>
            <a:ext cx="976608" cy="3228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1547664" y="5373216"/>
            <a:ext cx="3096344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V="1">
            <a:off x="2339752" y="5733256"/>
            <a:ext cx="230425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1201779" y="5949280"/>
            <a:ext cx="3442229" cy="224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멤버 함수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0623311"/>
              </p:ext>
            </p:extLst>
          </p:nvPr>
        </p:nvGraphicFramePr>
        <p:xfrm>
          <a:off x="467544" y="1196753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5565304"/>
              </a:tblGrid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함수형태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의미</a:t>
                      </a:r>
                      <a:endParaRPr lang="ko-KR" altLang="en-US" sz="1400" dirty="0"/>
                    </a:p>
                  </a:txBody>
                  <a:tcPr/>
                </a:tc>
              </a:tr>
              <a:tr h="2575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empty();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문자열 객체가 아무 내용도 저장 안 하면 </a:t>
                      </a:r>
                      <a:r>
                        <a:rPr lang="en-US" altLang="ko-KR" sz="1400" b="1" dirty="0" smtClean="0"/>
                        <a:t>true.</a:t>
                      </a:r>
                    </a:p>
                    <a:p>
                      <a:pPr latinLnBrk="1"/>
                      <a:r>
                        <a:rPr lang="ko-KR" altLang="en-US" sz="1400" dirty="0" smtClean="0"/>
                        <a:t>저장하면 </a:t>
                      </a:r>
                      <a:r>
                        <a:rPr lang="en-US" altLang="ko-KR" sz="1400" b="1" dirty="0" smtClean="0"/>
                        <a:t>false.</a:t>
                      </a:r>
                      <a:endParaRPr lang="ko-KR" altLang="en-US" sz="1400" b="1" dirty="0"/>
                    </a:p>
                  </a:txBody>
                  <a:tcPr/>
                </a:tc>
              </a:tr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substr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위치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개수</a:t>
                      </a:r>
                      <a:r>
                        <a:rPr lang="en-US" altLang="ko-KR" sz="1400" dirty="0" smtClean="0"/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문자열 객체의 지정한 위치에서 해당 개수만큼의 문자로 이루어진 문자열을 </a:t>
                      </a:r>
                      <a:r>
                        <a:rPr lang="ko-KR" altLang="en-US" sz="1400" b="1" dirty="0" smtClean="0"/>
                        <a:t>반환</a:t>
                      </a:r>
                      <a:r>
                        <a:rPr lang="en-US" altLang="ko-KR" sz="1400" b="1" dirty="0" smtClean="0"/>
                        <a:t>.</a:t>
                      </a:r>
                      <a:endParaRPr lang="ko-KR" altLang="en-US" sz="1400" b="1" dirty="0"/>
                    </a:p>
                  </a:txBody>
                  <a:tcPr/>
                </a:tc>
              </a:tr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swap(</a:t>
                      </a:r>
                      <a:r>
                        <a:rPr lang="ko-KR" altLang="en-US" sz="1400" dirty="0" smtClean="0"/>
                        <a:t>문자열</a:t>
                      </a:r>
                      <a:r>
                        <a:rPr lang="en-US" altLang="ko-KR" sz="1400" dirty="0" smtClean="0"/>
                        <a:t>);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전달받은 매개변수인 문자</a:t>
                      </a:r>
                      <a:r>
                        <a:rPr lang="ko-KR" altLang="en-US" sz="1400" baseline="0" dirty="0" smtClean="0"/>
                        <a:t>열 객체로 </a:t>
                      </a:r>
                      <a:r>
                        <a:rPr lang="ko-KR" altLang="en-US" sz="1400" b="1" baseline="0" dirty="0" smtClean="0"/>
                        <a:t>교환</a:t>
                      </a:r>
                      <a:r>
                        <a:rPr lang="en-US" altLang="ko-KR" sz="1400" b="1" baseline="0" dirty="0" smtClean="0"/>
                        <a:t>.</a:t>
                      </a:r>
                      <a:endParaRPr lang="en-US" altLang="ko-KR" sz="1400" b="1" dirty="0" smtClean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814439"/>
            <a:ext cx="2844605" cy="399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676054"/>
            <a:ext cx="4172128" cy="22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직선 화살표 연결선 6"/>
          <p:cNvCxnSpPr/>
          <p:nvPr/>
        </p:nvCxnSpPr>
        <p:spPr>
          <a:xfrm>
            <a:off x="2453354" y="4113076"/>
            <a:ext cx="1758606" cy="360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2585611" y="4365104"/>
            <a:ext cx="1626349" cy="180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V="1">
            <a:off x="2411760" y="4581128"/>
            <a:ext cx="172819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2448053" y="4813907"/>
            <a:ext cx="172819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2424753" y="5173947"/>
            <a:ext cx="1787207" cy="8473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2453354" y="5373216"/>
            <a:ext cx="1758606" cy="8004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멤버 함수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3348790"/>
              </p:ext>
            </p:extLst>
          </p:nvPr>
        </p:nvGraphicFramePr>
        <p:xfrm>
          <a:off x="362384" y="1196752"/>
          <a:ext cx="8352928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/>
                <a:gridCol w="5616624"/>
              </a:tblGrid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/>
                        <a:t>함수형태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/>
                        <a:t>의미</a:t>
                      </a:r>
                      <a:endParaRPr lang="ko-KR" altLang="en-US" sz="1400" b="1" dirty="0"/>
                    </a:p>
                  </a:txBody>
                  <a:tcPr/>
                </a:tc>
              </a:tr>
              <a:tr h="2575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/>
                        <a:t>find(</a:t>
                      </a:r>
                      <a:r>
                        <a:rPr lang="ko-KR" altLang="en-US" sz="1400" b="0" dirty="0" smtClean="0"/>
                        <a:t>문자</a:t>
                      </a:r>
                      <a:r>
                        <a:rPr lang="en-US" altLang="ko-KR" sz="1400" b="0" dirty="0" smtClean="0"/>
                        <a:t>);</a:t>
                      </a:r>
                    </a:p>
                    <a:p>
                      <a:pPr latinLnBrk="1"/>
                      <a:r>
                        <a:rPr lang="en-US" altLang="ko-KR" sz="1400" b="0" dirty="0" smtClean="0"/>
                        <a:t>find(</a:t>
                      </a:r>
                      <a:r>
                        <a:rPr lang="ko-KR" altLang="en-US" sz="1400" b="0" dirty="0" smtClean="0"/>
                        <a:t>문자</a:t>
                      </a:r>
                      <a:r>
                        <a:rPr lang="en-US" altLang="ko-KR" sz="1400" b="0" dirty="0" smtClean="0"/>
                        <a:t>, </a:t>
                      </a:r>
                      <a:r>
                        <a:rPr lang="ko-KR" altLang="en-US" sz="1400" b="0" dirty="0" smtClean="0"/>
                        <a:t>시작위치</a:t>
                      </a:r>
                      <a:r>
                        <a:rPr lang="en-US" altLang="ko-KR" sz="1400" b="0" dirty="0" smtClean="0"/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smtClean="0"/>
                        <a:t>문자열 객체에서 지정한 </a:t>
                      </a:r>
                      <a:r>
                        <a:rPr lang="ko-KR" altLang="en-US" sz="1400" b="1" dirty="0" smtClean="0"/>
                        <a:t>문자</a:t>
                      </a:r>
                      <a:r>
                        <a:rPr lang="ko-KR" altLang="en-US" sz="1400" b="0" dirty="0" smtClean="0"/>
                        <a:t>를 </a:t>
                      </a:r>
                      <a:r>
                        <a:rPr lang="en-US" altLang="ko-KR" sz="1400" b="0" dirty="0" smtClean="0"/>
                        <a:t>0</a:t>
                      </a:r>
                      <a:r>
                        <a:rPr lang="ko-KR" altLang="en-US" sz="1400" b="0" dirty="0" smtClean="0"/>
                        <a:t>번째부터 찾아서 그 </a:t>
                      </a:r>
                      <a:r>
                        <a:rPr lang="ko-KR" altLang="en-US" sz="1400" b="1" dirty="0" smtClean="0"/>
                        <a:t>위치를 반환</a:t>
                      </a:r>
                      <a:r>
                        <a:rPr lang="en-US" altLang="ko-KR" sz="1400" b="0" dirty="0" smtClean="0"/>
                        <a:t>.</a:t>
                      </a:r>
                      <a:endParaRPr lang="ko-KR" altLang="en-US" sz="1400" b="0" dirty="0"/>
                    </a:p>
                  </a:txBody>
                  <a:tcPr/>
                </a:tc>
              </a:tr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/>
                        <a:t>find(</a:t>
                      </a:r>
                      <a:r>
                        <a:rPr lang="ko-KR" altLang="en-US" sz="1400" b="0" dirty="0" smtClean="0"/>
                        <a:t>문자열</a:t>
                      </a:r>
                      <a:r>
                        <a:rPr lang="en-US" altLang="ko-KR" sz="1400" b="0" dirty="0" smtClean="0"/>
                        <a:t>);</a:t>
                      </a:r>
                    </a:p>
                    <a:p>
                      <a:pPr latinLnBrk="1"/>
                      <a:r>
                        <a:rPr lang="en-US" altLang="ko-KR" sz="1400" b="0" dirty="0" smtClean="0"/>
                        <a:t>find(</a:t>
                      </a:r>
                      <a:r>
                        <a:rPr lang="ko-KR" altLang="en-US" sz="1400" b="0" dirty="0" smtClean="0"/>
                        <a:t>문자열</a:t>
                      </a:r>
                      <a:r>
                        <a:rPr lang="en-US" altLang="ko-KR" sz="1400" b="0" dirty="0" smtClean="0"/>
                        <a:t>, </a:t>
                      </a:r>
                      <a:r>
                        <a:rPr lang="ko-KR" altLang="en-US" sz="1400" b="0" dirty="0" smtClean="0"/>
                        <a:t>시작위치</a:t>
                      </a:r>
                      <a:r>
                        <a:rPr lang="en-US" altLang="ko-KR" sz="1400" b="0" dirty="0" smtClean="0"/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smtClean="0"/>
                        <a:t>문자열 객체에서 지정한 </a:t>
                      </a:r>
                      <a:r>
                        <a:rPr lang="ko-KR" altLang="en-US" sz="1400" b="1" dirty="0" smtClean="0"/>
                        <a:t>문자열</a:t>
                      </a:r>
                      <a:r>
                        <a:rPr lang="ko-KR" altLang="en-US" sz="1400" b="0" dirty="0" smtClean="0"/>
                        <a:t>을 </a:t>
                      </a:r>
                      <a:r>
                        <a:rPr lang="en-US" altLang="ko-KR" sz="1400" b="0" dirty="0" smtClean="0"/>
                        <a:t>0</a:t>
                      </a:r>
                      <a:r>
                        <a:rPr lang="ko-KR" altLang="en-US" sz="1400" b="0" dirty="0" smtClean="0"/>
                        <a:t>번째부터 찾아서 그 </a:t>
                      </a:r>
                      <a:r>
                        <a:rPr lang="ko-KR" altLang="en-US" sz="1400" b="1" dirty="0" smtClean="0"/>
                        <a:t>위치를 반환</a:t>
                      </a:r>
                      <a:r>
                        <a:rPr lang="en-US" altLang="ko-KR" sz="1400" b="0" dirty="0" smtClean="0"/>
                        <a:t>.</a:t>
                      </a:r>
                      <a:endParaRPr lang="ko-KR" altLang="en-US" sz="1400" b="0" dirty="0"/>
                    </a:p>
                  </a:txBody>
                  <a:tcPr/>
                </a:tc>
              </a:tr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/>
                        <a:t>replace(</a:t>
                      </a:r>
                      <a:r>
                        <a:rPr lang="ko-KR" altLang="en-US" sz="1400" b="0" dirty="0" smtClean="0"/>
                        <a:t>시작위치</a:t>
                      </a:r>
                      <a:r>
                        <a:rPr lang="en-US" altLang="ko-KR" sz="1400" b="0" dirty="0" smtClean="0"/>
                        <a:t>, </a:t>
                      </a:r>
                      <a:r>
                        <a:rPr lang="ko-KR" altLang="en-US" sz="1400" b="0" dirty="0" smtClean="0"/>
                        <a:t>개수</a:t>
                      </a:r>
                      <a:r>
                        <a:rPr lang="en-US" altLang="ko-KR" sz="1400" b="0" dirty="0" smtClean="0"/>
                        <a:t>, </a:t>
                      </a:r>
                      <a:r>
                        <a:rPr lang="ko-KR" altLang="en-US" sz="1400" b="0" dirty="0" smtClean="0"/>
                        <a:t>문자열</a:t>
                      </a:r>
                      <a:r>
                        <a:rPr lang="en-US" altLang="ko-KR" sz="1400" b="0" dirty="0" smtClean="0"/>
                        <a:t>);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smtClean="0"/>
                        <a:t>문자열 객체의 해당 위치에서 매개변수로 전달한 문자열로 개수만큼의 문자로 </a:t>
                      </a:r>
                      <a:r>
                        <a:rPr lang="ko-KR" altLang="en-US" sz="1400" b="1" dirty="0" smtClean="0"/>
                        <a:t>변경</a:t>
                      </a:r>
                      <a:r>
                        <a:rPr lang="en-US" altLang="ko-KR" sz="1400" b="0" dirty="0" smtClean="0"/>
                        <a:t>.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4" y="3110795"/>
            <a:ext cx="5326385" cy="374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025" y="3560980"/>
            <a:ext cx="3573521" cy="155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직선 화살표 연결선 6"/>
          <p:cNvCxnSpPr/>
          <p:nvPr/>
        </p:nvCxnSpPr>
        <p:spPr>
          <a:xfrm flipV="1">
            <a:off x="3419872" y="3933056"/>
            <a:ext cx="1933153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V="1">
            <a:off x="4538848" y="4085456"/>
            <a:ext cx="814177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2051720" y="4661520"/>
            <a:ext cx="3301305" cy="15037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4139952" y="4336466"/>
            <a:ext cx="1152128" cy="10610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포인트가 5개인 별 14"/>
          <p:cNvSpPr/>
          <p:nvPr/>
        </p:nvSpPr>
        <p:spPr>
          <a:xfrm>
            <a:off x="8134458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4348008" y="4453854"/>
            <a:ext cx="1005017" cy="10610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멤버 함수</a:t>
            </a:r>
            <a:r>
              <a:rPr lang="en-US" altLang="ko-KR" dirty="0" smtClean="0"/>
              <a:t>			</a:t>
            </a:r>
            <a:r>
              <a:rPr lang="ko-KR" altLang="en-US" dirty="0" smtClean="0"/>
              <a:t>기준</a:t>
            </a:r>
            <a:r>
              <a:rPr lang="en-US" altLang="ko-KR" dirty="0" smtClean="0"/>
              <a:t>: ASCII</a:t>
            </a:r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5863692"/>
              </p:ext>
            </p:extLst>
          </p:nvPr>
        </p:nvGraphicFramePr>
        <p:xfrm>
          <a:off x="362384" y="1196752"/>
          <a:ext cx="8352928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/>
                <a:gridCol w="5616624"/>
              </a:tblGrid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/>
                        <a:t>함수형태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/>
                        <a:t>의미</a:t>
                      </a:r>
                      <a:endParaRPr lang="ko-KR" altLang="en-US" sz="1400" b="1" dirty="0"/>
                    </a:p>
                  </a:txBody>
                  <a:tcPr/>
                </a:tc>
              </a:tr>
              <a:tr h="2575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/>
                        <a:t>compare(</a:t>
                      </a:r>
                      <a:r>
                        <a:rPr lang="ko-KR" altLang="en-US" sz="1400" b="0" dirty="0" smtClean="0"/>
                        <a:t>문자열</a:t>
                      </a:r>
                      <a:r>
                        <a:rPr lang="en-US" altLang="ko-KR" sz="1400" b="0" dirty="0" smtClean="0"/>
                        <a:t>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/>
                        <a:t>compare(</a:t>
                      </a:r>
                      <a:r>
                        <a:rPr lang="ko-KR" altLang="en-US" sz="1400" b="0" dirty="0" smtClean="0"/>
                        <a:t>시작위치</a:t>
                      </a:r>
                      <a:r>
                        <a:rPr lang="en-US" altLang="ko-KR" sz="1400" b="0" dirty="0" smtClean="0"/>
                        <a:t>, </a:t>
                      </a:r>
                      <a:r>
                        <a:rPr lang="ko-KR" altLang="en-US" sz="1400" b="0" dirty="0" smtClean="0"/>
                        <a:t>개수</a:t>
                      </a:r>
                      <a:r>
                        <a:rPr lang="en-US" altLang="ko-KR" sz="1400" b="0" dirty="0" smtClean="0"/>
                        <a:t>,</a:t>
                      </a:r>
                      <a:r>
                        <a:rPr lang="en-US" altLang="ko-KR" sz="1400" b="0" baseline="0" dirty="0" smtClean="0"/>
                        <a:t> </a:t>
                      </a:r>
                      <a:r>
                        <a:rPr lang="ko-KR" altLang="en-US" sz="1400" b="0" baseline="0" dirty="0" smtClean="0"/>
                        <a:t>문자열</a:t>
                      </a:r>
                      <a:r>
                        <a:rPr lang="en-US" altLang="ko-KR" sz="1400" b="0" dirty="0" smtClean="0"/>
                        <a:t>);</a:t>
                      </a:r>
                    </a:p>
                    <a:p>
                      <a:pPr latinLnBrk="1"/>
                      <a:endParaRPr lang="en-US" altLang="ko-KR" sz="1400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smtClean="0"/>
                        <a:t>문자열 객체와 매개변수 문자열 객체와 같은가를 비교하여 </a:t>
                      </a:r>
                      <a:r>
                        <a:rPr lang="ko-KR" altLang="en-US" sz="1400" b="1" dirty="0" smtClean="0"/>
                        <a:t>반환</a:t>
                      </a:r>
                      <a:endParaRPr lang="en-US" altLang="ko-KR" sz="1400" b="1" dirty="0" smtClean="0"/>
                    </a:p>
                    <a:p>
                      <a:pPr latinLnBrk="1"/>
                      <a:r>
                        <a:rPr lang="ko-KR" altLang="en-US" sz="1400" b="1" dirty="0" smtClean="0"/>
                        <a:t>기준문자열 </a:t>
                      </a:r>
                      <a:r>
                        <a:rPr lang="en-US" altLang="ko-KR" sz="1400" b="1" dirty="0" smtClean="0"/>
                        <a:t>&gt; </a:t>
                      </a:r>
                      <a:r>
                        <a:rPr lang="ko-KR" altLang="en-US" sz="1400" b="1" dirty="0" smtClean="0"/>
                        <a:t>매개변수 문자열 </a:t>
                      </a:r>
                      <a:r>
                        <a:rPr lang="en-US" altLang="ko-KR" sz="1400" b="1" dirty="0" smtClean="0"/>
                        <a:t>-&gt; 1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 smtClean="0"/>
                        <a:t>기준문자열 </a:t>
                      </a:r>
                      <a:r>
                        <a:rPr lang="en-US" altLang="ko-KR" sz="1400" b="1" dirty="0" smtClean="0"/>
                        <a:t>&lt; </a:t>
                      </a:r>
                      <a:r>
                        <a:rPr lang="ko-KR" altLang="en-US" sz="1400" b="1" dirty="0" smtClean="0"/>
                        <a:t>매개변수 문자열 </a:t>
                      </a:r>
                      <a:r>
                        <a:rPr lang="en-US" altLang="ko-KR" sz="1400" b="1" dirty="0" smtClean="0"/>
                        <a:t>-&gt; -1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 smtClean="0"/>
                        <a:t>기준문자열 </a:t>
                      </a:r>
                      <a:r>
                        <a:rPr lang="en-US" altLang="ko-KR" sz="1400" b="1" dirty="0" smtClean="0"/>
                        <a:t>== </a:t>
                      </a:r>
                      <a:r>
                        <a:rPr lang="ko-KR" altLang="en-US" sz="1400" b="1" dirty="0" smtClean="0"/>
                        <a:t>매개변수 문자열 </a:t>
                      </a:r>
                      <a:r>
                        <a:rPr lang="en-US" altLang="ko-KR" sz="1400" b="1" dirty="0" smtClean="0"/>
                        <a:t>-&gt; 0</a:t>
                      </a:r>
                    </a:p>
                  </a:txBody>
                  <a:tcPr/>
                </a:tc>
              </a:tr>
              <a:tr h="1514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/>
                        <a:t>insert(</a:t>
                      </a:r>
                      <a:r>
                        <a:rPr lang="ko-KR" altLang="en-US" sz="1400" b="0" dirty="0" smtClean="0"/>
                        <a:t>시작 위치</a:t>
                      </a:r>
                      <a:r>
                        <a:rPr lang="en-US" altLang="ko-KR" sz="1400" b="0" dirty="0" smtClean="0"/>
                        <a:t>, </a:t>
                      </a:r>
                      <a:r>
                        <a:rPr lang="ko-KR" altLang="en-US" sz="1400" b="0" dirty="0" smtClean="0"/>
                        <a:t>문자열</a:t>
                      </a:r>
                      <a:r>
                        <a:rPr lang="en-US" altLang="ko-KR" sz="1400" b="0" dirty="0" smtClean="0"/>
                        <a:t>);</a:t>
                      </a:r>
                    </a:p>
                    <a:p>
                      <a:pPr latinLnBrk="1"/>
                      <a:r>
                        <a:rPr lang="en-US" altLang="ko-KR" sz="1400" b="0" dirty="0" smtClean="0"/>
                        <a:t>insert(</a:t>
                      </a:r>
                      <a:r>
                        <a:rPr lang="ko-KR" altLang="en-US" sz="1400" b="0" dirty="0" smtClean="0"/>
                        <a:t>시작 위치</a:t>
                      </a:r>
                      <a:r>
                        <a:rPr lang="en-US" altLang="ko-KR" sz="1400" b="0" dirty="0" smtClean="0"/>
                        <a:t>, </a:t>
                      </a:r>
                      <a:r>
                        <a:rPr lang="ko-KR" altLang="en-US" sz="1400" b="0" dirty="0" smtClean="0"/>
                        <a:t>개수</a:t>
                      </a:r>
                      <a:r>
                        <a:rPr lang="en-US" altLang="ko-KR" sz="1400" b="0" dirty="0" smtClean="0"/>
                        <a:t>, </a:t>
                      </a:r>
                      <a:r>
                        <a:rPr lang="ko-KR" altLang="en-US" sz="1400" b="0" dirty="0" smtClean="0"/>
                        <a:t>문자</a:t>
                      </a:r>
                      <a:r>
                        <a:rPr lang="en-US" altLang="ko-KR" sz="1400" b="0" dirty="0" smtClean="0"/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smtClean="0"/>
                        <a:t>문자열 객체에서 지정한 문자열을 지정한 위치에 삽입해서 </a:t>
                      </a:r>
                      <a:r>
                        <a:rPr lang="ko-KR" altLang="en-US" sz="1400" b="1" dirty="0" smtClean="0"/>
                        <a:t>반환</a:t>
                      </a:r>
                      <a:r>
                        <a:rPr lang="ko-KR" altLang="en-US" sz="1400" b="0" dirty="0" smtClean="0"/>
                        <a:t>한다</a:t>
                      </a:r>
                      <a:r>
                        <a:rPr lang="en-US" altLang="ko-KR" sz="1400" b="0" dirty="0" smtClean="0"/>
                        <a:t>.</a:t>
                      </a:r>
                      <a:endParaRPr lang="ko-KR" altLang="en-US" sz="1400" b="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996952"/>
            <a:ext cx="4234260" cy="3861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295650"/>
            <a:ext cx="4268931" cy="2509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7092280" y="1484784"/>
            <a:ext cx="43204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>
            <a:stCxn id="5" idx="0"/>
          </p:cNvCxnSpPr>
          <p:nvPr/>
        </p:nvCxnSpPr>
        <p:spPr>
          <a:xfrm flipH="1" flipV="1">
            <a:off x="4355976" y="980728"/>
            <a:ext cx="2952328" cy="50405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2051720" y="3212976"/>
            <a:ext cx="93610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051720" y="3631287"/>
            <a:ext cx="100811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051720" y="4071719"/>
            <a:ext cx="100811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2955123" y="3332512"/>
            <a:ext cx="1832901" cy="512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3058652" y="3775303"/>
            <a:ext cx="1729372" cy="2964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3011515" y="4194775"/>
            <a:ext cx="1776509" cy="209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5580112" y="4323767"/>
            <a:ext cx="1728192" cy="1853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004048" y="4318162"/>
            <a:ext cx="360040" cy="1909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4796408" y="4509120"/>
            <a:ext cx="360040" cy="1909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5580112" y="4539791"/>
            <a:ext cx="1728192" cy="1853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363498" y="5085184"/>
            <a:ext cx="1512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01234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95536" y="6093296"/>
            <a:ext cx="1008112" cy="1853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문자열 연산자</a:t>
            </a:r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845093"/>
              </p:ext>
            </p:extLst>
          </p:nvPr>
        </p:nvGraphicFramePr>
        <p:xfrm>
          <a:off x="827584" y="1196752"/>
          <a:ext cx="7368480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/>
                <a:gridCol w="6000328"/>
              </a:tblGrid>
              <a:tr h="12186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smtClean="0"/>
                        <a:t>연산자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smtClean="0"/>
                        <a:t>설명</a:t>
                      </a:r>
                      <a:endParaRPr lang="ko-KR" altLang="en-US" sz="105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[]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/>
                        <a:t>배열 첨자로 문자를 참조</a:t>
                      </a:r>
                      <a:endParaRPr lang="ko-KR" altLang="en-US" sz="9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=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/>
                        <a:t>한 문자열의 내용을 문자열 객체에 </a:t>
                      </a:r>
                      <a:r>
                        <a:rPr lang="ko-KR" altLang="en-US" sz="900" b="1" dirty="0" smtClean="0"/>
                        <a:t>대입</a:t>
                      </a:r>
                      <a:r>
                        <a:rPr lang="en-US" altLang="ko-KR" sz="900" dirty="0" smtClean="0"/>
                        <a:t>, assign()</a:t>
                      </a:r>
                      <a:r>
                        <a:rPr lang="en-US" altLang="ko-KR" sz="900" baseline="0" dirty="0" smtClean="0"/>
                        <a:t> </a:t>
                      </a:r>
                      <a:r>
                        <a:rPr lang="ko-KR" altLang="en-US" sz="900" baseline="0" dirty="0" smtClean="0"/>
                        <a:t>함수 대신</a:t>
                      </a:r>
                      <a:endParaRPr lang="ko-KR" altLang="en-US" sz="9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+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/>
                        <a:t>문자열과 문자열을 결합하여 하나의 문자열로 완성</a:t>
                      </a:r>
                      <a:r>
                        <a:rPr lang="en-US" altLang="ko-KR" sz="900" dirty="0" smtClean="0"/>
                        <a:t>. append()</a:t>
                      </a:r>
                      <a:r>
                        <a:rPr lang="ko-KR" altLang="en-US" sz="900" dirty="0" smtClean="0"/>
                        <a:t>함수 대신</a:t>
                      </a:r>
                      <a:endParaRPr lang="ko-KR" altLang="en-US" sz="9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+=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/>
                        <a:t>하나의 문자열을 다른 문자열에 추가</a:t>
                      </a:r>
                      <a:endParaRPr lang="ko-KR" altLang="en-US" sz="9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&lt;&lt;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/>
                        <a:t>문자열을 </a:t>
                      </a:r>
                      <a:r>
                        <a:rPr lang="ko-KR" altLang="en-US" sz="900" dirty="0" err="1" smtClean="0"/>
                        <a:t>스트림</a:t>
                      </a:r>
                      <a:r>
                        <a:rPr lang="en-US" altLang="ko-KR" sz="900" dirty="0" smtClean="0"/>
                        <a:t>(Stream)</a:t>
                      </a:r>
                      <a:r>
                        <a:rPr lang="ko-KR" altLang="en-US" sz="900" dirty="0" smtClean="0"/>
                        <a:t>으로 삽입</a:t>
                      </a:r>
                      <a:endParaRPr lang="ko-KR" altLang="en-US" sz="9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&gt;&gt;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 smtClean="0"/>
                        <a:t>스트림</a:t>
                      </a:r>
                      <a:r>
                        <a:rPr lang="en-US" altLang="ko-KR" sz="900" dirty="0" smtClean="0"/>
                        <a:t>(Stream)</a:t>
                      </a:r>
                      <a:r>
                        <a:rPr lang="ko-KR" altLang="en-US" sz="900" dirty="0" smtClean="0"/>
                        <a:t>으로부터 문자열 추가</a:t>
                      </a:r>
                      <a:endParaRPr lang="ko-KR" altLang="en-US" sz="9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==, !=, &lt;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/>
                        <a:t>문자열 간의 논리 연산 수행</a:t>
                      </a:r>
                      <a:endParaRPr lang="ko-KR" altLang="en-US" sz="9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&lt;=, &gt;, &gt;=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/>
                        <a:t>문자열 간의 관계 연산 수행</a:t>
                      </a:r>
                      <a:endParaRPr lang="ko-KR" altLang="en-US" sz="9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79" y="3281899"/>
            <a:ext cx="3168352" cy="3511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284984"/>
            <a:ext cx="2448272" cy="3427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왼쪽 중괄호 5"/>
          <p:cNvSpPr/>
          <p:nvPr/>
        </p:nvSpPr>
        <p:spPr>
          <a:xfrm>
            <a:off x="4716016" y="3645024"/>
            <a:ext cx="432048" cy="158417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2339752" y="4077072"/>
            <a:ext cx="2304256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3477979" y="4869160"/>
            <a:ext cx="1742093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267744" y="5323994"/>
            <a:ext cx="2952328" cy="6252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2267744" y="5517232"/>
            <a:ext cx="3024336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539552" y="3789040"/>
            <a:ext cx="1944216" cy="43204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포인트가 5개인 별 22"/>
          <p:cNvSpPr/>
          <p:nvPr/>
        </p:nvSpPr>
        <p:spPr>
          <a:xfrm>
            <a:off x="8172400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771800" y="2348880"/>
            <a:ext cx="79208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2267744" y="2609292"/>
            <a:ext cx="79208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4212577" y="792996"/>
            <a:ext cx="396044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키보드</a:t>
            </a:r>
            <a:r>
              <a:rPr lang="en-US" altLang="ko-KR" sz="14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</a:t>
            </a:r>
            <a:r>
              <a:rPr lang="ko-KR" altLang="en-US" sz="1400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입력</a:t>
            </a:r>
            <a:r>
              <a:rPr lang="en-US" altLang="ko-KR" sz="1400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sz="1400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모니터로 출력하기 위한 일련의 내용의 모음</a:t>
            </a:r>
            <a:endParaRPr lang="ko-KR" altLang="en-US" sz="1400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cxnSp>
        <p:nvCxnSpPr>
          <p:cNvPr id="28" name="직선 화살표 연결선 27"/>
          <p:cNvCxnSpPr>
            <a:stCxn id="22" idx="2"/>
          </p:cNvCxnSpPr>
          <p:nvPr/>
        </p:nvCxnSpPr>
        <p:spPr>
          <a:xfrm flipH="1">
            <a:off x="3275857" y="1100773"/>
            <a:ext cx="2916940" cy="124810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69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파일 객체 생성</a:t>
            </a:r>
            <a:endParaRPr lang="en-US" altLang="ko-KR" dirty="0" smtClean="0"/>
          </a:p>
          <a:p>
            <a:r>
              <a:rPr lang="en-US" altLang="ko-KR" dirty="0" smtClean="0"/>
              <a:t>-&gt;</a:t>
            </a:r>
            <a:r>
              <a:rPr lang="ko-KR" altLang="en-US" dirty="0" smtClean="0"/>
              <a:t>입출력의 위치는 </a:t>
            </a:r>
            <a:r>
              <a:rPr lang="ko-KR" altLang="en-US" b="1" dirty="0" smtClean="0"/>
              <a:t>커서</a:t>
            </a:r>
            <a:r>
              <a:rPr lang="ko-KR" altLang="en-US" dirty="0" smtClean="0"/>
              <a:t>에 의해 결정</a:t>
            </a:r>
            <a:r>
              <a:rPr lang="en-US" altLang="ko-KR" dirty="0" smtClean="0"/>
              <a:t>		</a:t>
            </a:r>
            <a:r>
              <a:rPr lang="ko-KR" altLang="en-US" dirty="0" smtClean="0"/>
              <a:t>파일 쓰기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파일 포인터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커서가 파일 안에서 특정 위치를 나타냄</a:t>
            </a:r>
            <a:r>
              <a:rPr lang="en-US" altLang="ko-KR" dirty="0" smtClean="0"/>
              <a:t>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2780928"/>
            <a:ext cx="3008706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5157192"/>
            <a:ext cx="2736304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242269"/>
            <a:ext cx="3884687" cy="316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400626" y="3041434"/>
            <a:ext cx="867118" cy="315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55576" y="4049546"/>
            <a:ext cx="2736304" cy="110764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>
            <a:stCxn id="8" idx="3"/>
          </p:cNvCxnSpPr>
          <p:nvPr/>
        </p:nvCxnSpPr>
        <p:spPr>
          <a:xfrm>
            <a:off x="3491880" y="4603369"/>
            <a:ext cx="1800200" cy="1417919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5285148" y="4221088"/>
            <a:ext cx="1291952" cy="1800201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13675" y="1556792"/>
            <a:ext cx="32120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ofstream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객체이름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;</a:t>
            </a:r>
          </a:p>
          <a:p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객체이름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.open(“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파일이름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  <a:r>
              <a:rPr lang="ko-KR" altLang="en-US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확장자</a:t>
            </a:r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”);</a:t>
            </a:r>
          </a:p>
          <a:p>
            <a:r>
              <a:rPr lang="ko-KR" altLang="en-US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객체이름</a:t>
            </a:r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.close();</a:t>
            </a:r>
            <a:endParaRPr lang="en-US" altLang="ko-KR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572000" y="1556792"/>
            <a:ext cx="936104" cy="31555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040052" y="1124744"/>
            <a:ext cx="936104" cy="31555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69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파일 입력</a:t>
            </a:r>
            <a:endParaRPr lang="en-US" altLang="ko-KR" dirty="0" smtClean="0"/>
          </a:p>
          <a:p>
            <a:r>
              <a:rPr lang="en-US" altLang="ko-KR" dirty="0" err="1" smtClean="0"/>
              <a:t>ifstream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객체이름</a:t>
            </a:r>
            <a:r>
              <a:rPr lang="en-US" altLang="ko-KR" dirty="0" smtClean="0"/>
              <a:t>;</a:t>
            </a:r>
          </a:p>
          <a:p>
            <a:r>
              <a:rPr lang="ko-KR" altLang="en-US" dirty="0" smtClean="0"/>
              <a:t>객체이름</a:t>
            </a:r>
            <a:r>
              <a:rPr lang="en-US" altLang="ko-KR" dirty="0" smtClean="0"/>
              <a:t>.open(“</a:t>
            </a:r>
            <a:r>
              <a:rPr lang="ko-KR" altLang="en-US" dirty="0" smtClean="0"/>
              <a:t>파일이름</a:t>
            </a:r>
            <a:r>
              <a:rPr lang="en-US" altLang="ko-KR" dirty="0" smtClean="0"/>
              <a:t>.</a:t>
            </a:r>
            <a:r>
              <a:rPr lang="ko-KR" altLang="en-US" dirty="0" err="1" smtClean="0"/>
              <a:t>확장자</a:t>
            </a:r>
            <a:r>
              <a:rPr lang="en-US" altLang="ko-KR" dirty="0" smtClean="0"/>
              <a:t>”);</a:t>
            </a:r>
          </a:p>
          <a:p>
            <a:r>
              <a:rPr lang="ko-KR" altLang="en-US" dirty="0" smtClean="0"/>
              <a:t>객체이름</a:t>
            </a:r>
            <a:r>
              <a:rPr lang="en-US" altLang="ko-KR" dirty="0" smtClean="0"/>
              <a:t>.close();</a:t>
            </a:r>
            <a:endParaRPr lang="en-US" altLang="ko-K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12677"/>
            <a:ext cx="4824536" cy="3132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980329"/>
            <a:ext cx="325755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화살표 연결선 4"/>
          <p:cNvCxnSpPr/>
          <p:nvPr/>
        </p:nvCxnSpPr>
        <p:spPr>
          <a:xfrm flipH="1">
            <a:off x="2195736" y="2564904"/>
            <a:ext cx="3672408" cy="121380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1835696" y="4293096"/>
            <a:ext cx="288032" cy="3600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69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58172" y="764704"/>
            <a:ext cx="3628628" cy="5361459"/>
          </a:xfrm>
        </p:spPr>
        <p:txBody>
          <a:bodyPr/>
          <a:lstStyle/>
          <a:p>
            <a:r>
              <a:rPr lang="ko-KR" altLang="en-US" dirty="0" smtClean="0"/>
              <a:t>파일의 존재 여부와 마지막 위치 확인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fail();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파일 존재여부 확인 함수</a:t>
            </a:r>
            <a:endParaRPr lang="en-US" altLang="ko-KR" dirty="0" smtClean="0"/>
          </a:p>
          <a:p>
            <a:r>
              <a:rPr lang="ko-KR" altLang="en-US" dirty="0" smtClean="0"/>
              <a:t>파일이 없으면 </a:t>
            </a:r>
            <a:r>
              <a:rPr lang="en-US" altLang="ko-KR" dirty="0" smtClean="0"/>
              <a:t>true, </a:t>
            </a:r>
            <a:r>
              <a:rPr lang="ko-KR" altLang="en-US" dirty="0" smtClean="0"/>
              <a:t>있으면 </a:t>
            </a:r>
            <a:r>
              <a:rPr lang="en-US" altLang="ko-KR" dirty="0" smtClean="0"/>
              <a:t>false</a:t>
            </a:r>
          </a:p>
          <a:p>
            <a:endParaRPr lang="en-US" altLang="ko-KR" dirty="0"/>
          </a:p>
          <a:p>
            <a:r>
              <a:rPr lang="ko-KR" altLang="en-US" b="1" dirty="0" smtClean="0"/>
              <a:t>파일 열기 이후에 무조건 확인</a:t>
            </a:r>
            <a:r>
              <a:rPr lang="en-US" altLang="ko-KR" b="1" dirty="0" smtClean="0"/>
              <a:t>!</a:t>
            </a:r>
            <a:endParaRPr lang="en-US" altLang="ko-KR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3897352" cy="5488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284984"/>
            <a:ext cx="32766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화살표 연결선 5"/>
          <p:cNvCxnSpPr/>
          <p:nvPr/>
        </p:nvCxnSpPr>
        <p:spPr>
          <a:xfrm>
            <a:off x="2771800" y="3699321"/>
            <a:ext cx="1656184" cy="8971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6372200" y="2132856"/>
            <a:ext cx="504056" cy="315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259632" y="3581096"/>
            <a:ext cx="792088" cy="20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19944" y="2852936"/>
            <a:ext cx="855712" cy="20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148064" y="2748964"/>
            <a:ext cx="2664296" cy="3920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187624" y="4941168"/>
            <a:ext cx="792088" cy="20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71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파일 처리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파일 내용읽기 </a:t>
            </a:r>
            <a:r>
              <a:rPr lang="en-US" altLang="ko-KR" dirty="0" smtClean="0"/>
              <a:t>-&gt; 2. </a:t>
            </a:r>
            <a:r>
              <a:rPr lang="ko-KR" altLang="en-US" dirty="0" smtClean="0"/>
              <a:t>파일 내용 처리 </a:t>
            </a:r>
            <a:r>
              <a:rPr lang="en-US" altLang="ko-KR" dirty="0" smtClean="0"/>
              <a:t>-&gt; 3. </a:t>
            </a:r>
            <a:r>
              <a:rPr lang="ko-KR" altLang="en-US" dirty="0" smtClean="0"/>
              <a:t>파일의 마지막 위치 확인</a:t>
            </a:r>
            <a:r>
              <a:rPr lang="en-US" altLang="ko-KR" dirty="0"/>
              <a:t> </a:t>
            </a:r>
            <a:r>
              <a:rPr lang="en-US" altLang="ko-KR" dirty="0" smtClean="0"/>
              <a:t>-&gt; 1. </a:t>
            </a:r>
            <a:r>
              <a:rPr lang="ko-KR" altLang="en-US" dirty="0" smtClean="0"/>
              <a:t>파일 내용읽기</a:t>
            </a:r>
            <a:r>
              <a:rPr lang="en-US" altLang="ko-KR" dirty="0" smtClean="0"/>
              <a:t>..</a:t>
            </a:r>
          </a:p>
          <a:p>
            <a:r>
              <a:rPr lang="ko-KR" altLang="en-US" b="1" dirty="0" smtClean="0"/>
              <a:t>파일에서 내용을 읽었는데 내용이 없다는 것은 마지막 위치를 의미</a:t>
            </a:r>
            <a:r>
              <a:rPr lang="en-US" altLang="ko-KR" b="1" dirty="0" smtClean="0"/>
              <a:t>.</a:t>
            </a:r>
            <a:endParaRPr lang="en-US" altLang="ko-KR" b="1" dirty="0"/>
          </a:p>
        </p:txBody>
      </p:sp>
      <p:grpSp>
        <p:nvGrpSpPr>
          <p:cNvPr id="16" name="그룹 15"/>
          <p:cNvGrpSpPr/>
          <p:nvPr/>
        </p:nvGrpSpPr>
        <p:grpSpPr>
          <a:xfrm>
            <a:off x="768370" y="1982652"/>
            <a:ext cx="7514420" cy="3636403"/>
            <a:chOff x="821668" y="1988840"/>
            <a:chExt cx="7514420" cy="3636403"/>
          </a:xfrm>
        </p:grpSpPr>
        <p:sp>
          <p:nvSpPr>
            <p:cNvPr id="10" name="타원 9"/>
            <p:cNvSpPr/>
            <p:nvPr/>
          </p:nvSpPr>
          <p:spPr>
            <a:xfrm>
              <a:off x="3337050" y="1988840"/>
              <a:ext cx="2664296" cy="12241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smtClean="0"/>
                <a:t>파일 내용 읽기</a:t>
              </a:r>
              <a:endParaRPr lang="ko-KR" altLang="en-US" sz="1600" dirty="0"/>
            </a:p>
          </p:txBody>
        </p:sp>
        <p:sp>
          <p:nvSpPr>
            <p:cNvPr id="11" name="타원 10"/>
            <p:cNvSpPr/>
            <p:nvPr/>
          </p:nvSpPr>
          <p:spPr>
            <a:xfrm>
              <a:off x="821668" y="4401107"/>
              <a:ext cx="2689884" cy="12241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smtClean="0"/>
                <a:t>파일 내용 처리</a:t>
              </a:r>
              <a:endParaRPr lang="ko-KR" altLang="en-US" sz="1600" dirty="0"/>
            </a:p>
          </p:txBody>
        </p:sp>
        <p:sp>
          <p:nvSpPr>
            <p:cNvPr id="12" name="타원 11"/>
            <p:cNvSpPr/>
            <p:nvPr/>
          </p:nvSpPr>
          <p:spPr>
            <a:xfrm>
              <a:off x="5743800" y="4401107"/>
              <a:ext cx="2592288" cy="12241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smtClean="0"/>
                <a:t>파일 내용 위치 </a:t>
              </a:r>
              <a:endParaRPr lang="en-US" altLang="ko-KR" sz="1600" dirty="0" smtClean="0"/>
            </a:p>
            <a:p>
              <a:pPr algn="ctr"/>
              <a:r>
                <a:rPr lang="ko-KR" altLang="en-US" sz="1600" dirty="0" smtClean="0"/>
                <a:t>확인</a:t>
              </a:r>
              <a:endParaRPr lang="ko-KR" altLang="en-US" sz="1600" dirty="0"/>
            </a:p>
          </p:txBody>
        </p:sp>
        <p:sp>
          <p:nvSpPr>
            <p:cNvPr id="13" name="아래쪽 화살표 12"/>
            <p:cNvSpPr/>
            <p:nvPr/>
          </p:nvSpPr>
          <p:spPr>
            <a:xfrm rot="2240694">
              <a:off x="2385012" y="3168843"/>
              <a:ext cx="720080" cy="1008112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아래쪽 화살표 13"/>
            <p:cNvSpPr/>
            <p:nvPr/>
          </p:nvSpPr>
          <p:spPr>
            <a:xfrm rot="9140549">
              <a:off x="6101949" y="3163301"/>
              <a:ext cx="720080" cy="1008112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아래쪽 화살표 14"/>
            <p:cNvSpPr/>
            <p:nvPr/>
          </p:nvSpPr>
          <p:spPr>
            <a:xfrm rot="16200000">
              <a:off x="4303640" y="4509120"/>
              <a:ext cx="720080" cy="1008112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871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76056" y="764704"/>
            <a:ext cx="3610744" cy="5361459"/>
          </a:xfrm>
        </p:spPr>
        <p:txBody>
          <a:bodyPr/>
          <a:lstStyle/>
          <a:p>
            <a:r>
              <a:rPr lang="ko-KR" altLang="en-US" dirty="0" smtClean="0"/>
              <a:t>파일의 마지막 확인 함수</a:t>
            </a:r>
            <a:endParaRPr lang="en-US" altLang="ko-KR" dirty="0" smtClean="0"/>
          </a:p>
          <a:p>
            <a:r>
              <a:rPr lang="en-US" altLang="ko-KR" dirty="0" err="1" smtClean="0"/>
              <a:t>eof</a:t>
            </a:r>
            <a:r>
              <a:rPr lang="en-US" altLang="ko-KR" dirty="0" smtClean="0"/>
              <a:t>(); // End of File</a:t>
            </a:r>
            <a:r>
              <a:rPr lang="ko-KR" altLang="en-US" dirty="0" smtClean="0"/>
              <a:t>의 약자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파일의 마지막이 아니면 </a:t>
            </a:r>
            <a:r>
              <a:rPr lang="en-US" altLang="ko-KR" dirty="0" smtClean="0"/>
              <a:t>false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마지막이면 </a:t>
            </a:r>
            <a:r>
              <a:rPr lang="en-US" altLang="ko-KR" dirty="0" smtClean="0"/>
              <a:t>true</a:t>
            </a:r>
          </a:p>
          <a:p>
            <a:r>
              <a:rPr lang="ko-KR" altLang="en-US" dirty="0" smtClean="0"/>
              <a:t>파일 입력 객체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eof</a:t>
            </a:r>
            <a:r>
              <a:rPr lang="en-US" altLang="ko-KR" dirty="0" smtClean="0"/>
              <a:t>();</a:t>
            </a:r>
          </a:p>
          <a:p>
            <a:endParaRPr lang="en-US" altLang="ko-K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92696"/>
            <a:ext cx="2371725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924944"/>
            <a:ext cx="5621962" cy="1771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395536" y="3068960"/>
            <a:ext cx="2088232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5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760640"/>
          </a:xfrm>
        </p:spPr>
        <p:txBody>
          <a:bodyPr/>
          <a:lstStyle/>
          <a:p>
            <a:r>
              <a:rPr lang="ko-KR" altLang="en-US" dirty="0" smtClean="0"/>
              <a:t>파일에서 내용 </a:t>
            </a:r>
            <a:r>
              <a:rPr lang="ko-KR" altLang="en-US" dirty="0"/>
              <a:t>읽</a:t>
            </a:r>
            <a:r>
              <a:rPr lang="ko-KR" altLang="en-US" dirty="0" smtClean="0"/>
              <a:t>기 작업 순서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					</a:t>
            </a:r>
            <a:r>
              <a:rPr lang="en-US" altLang="ko-KR" dirty="0" err="1" smtClean="0"/>
              <a:t>ifstream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객체이름</a:t>
            </a:r>
            <a:r>
              <a:rPr lang="en-US" altLang="ko-KR" dirty="0" smtClean="0"/>
              <a:t>;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smtClean="0"/>
              <a:t>				</a:t>
            </a:r>
            <a:r>
              <a:rPr lang="ko-KR" altLang="en-US" dirty="0" smtClean="0"/>
              <a:t>객체이름</a:t>
            </a:r>
            <a:r>
              <a:rPr lang="en-US" altLang="ko-KR" dirty="0" smtClean="0"/>
              <a:t>.open(“</a:t>
            </a:r>
            <a:r>
              <a:rPr lang="ko-KR" altLang="en-US" dirty="0" smtClean="0"/>
              <a:t>파일이름</a:t>
            </a:r>
            <a:r>
              <a:rPr lang="en-US" altLang="ko-KR" dirty="0" smtClean="0"/>
              <a:t>”);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				if(</a:t>
            </a:r>
            <a:r>
              <a:rPr lang="ko-KR" altLang="en-US" dirty="0" smtClean="0"/>
              <a:t>객체이름 </a:t>
            </a:r>
            <a:r>
              <a:rPr lang="en-US" altLang="ko-KR" dirty="0" smtClean="0"/>
              <a:t>== NULL)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				   </a:t>
            </a:r>
            <a:r>
              <a:rPr lang="ko-KR" altLang="en-US" dirty="0" smtClean="0"/>
              <a:t>파일 열기 오류</a:t>
            </a:r>
            <a:r>
              <a:rPr lang="en-US" altLang="ko-KR" dirty="0" smtClean="0"/>
              <a:t>;</a:t>
            </a:r>
          </a:p>
          <a:p>
            <a:endParaRPr lang="en-US" altLang="ko-KR" dirty="0"/>
          </a:p>
          <a:p>
            <a:r>
              <a:rPr lang="en-US" altLang="ko-KR" dirty="0" smtClean="0"/>
              <a:t>					</a:t>
            </a:r>
            <a:r>
              <a:rPr lang="ko-KR" altLang="en-US" dirty="0" smtClean="0"/>
              <a:t>객체 이름 </a:t>
            </a:r>
            <a:r>
              <a:rPr lang="en-US" altLang="ko-KR" dirty="0" smtClean="0"/>
              <a:t>&gt;&gt; 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;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smtClean="0"/>
              <a:t>				</a:t>
            </a:r>
            <a:r>
              <a:rPr lang="ko-KR" altLang="en-US" dirty="0" smtClean="0"/>
              <a:t>객체이름</a:t>
            </a:r>
            <a:r>
              <a:rPr lang="en-US" altLang="ko-KR" dirty="0" smtClean="0"/>
              <a:t>.close();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1043608" y="1412776"/>
            <a:ext cx="316835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파일 객체 생성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039543" y="2852936"/>
            <a:ext cx="316835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파일 열기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035478" y="4293096"/>
            <a:ext cx="316835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파일 작업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018093" y="5733256"/>
            <a:ext cx="316835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파일 닫기</a:t>
            </a:r>
            <a:endParaRPr lang="ko-KR" altLang="en-US" dirty="0"/>
          </a:p>
        </p:txBody>
      </p:sp>
      <p:sp>
        <p:nvSpPr>
          <p:cNvPr id="8" name="아래쪽 화살표 7"/>
          <p:cNvSpPr/>
          <p:nvPr/>
        </p:nvSpPr>
        <p:spPr>
          <a:xfrm>
            <a:off x="2267744" y="2204864"/>
            <a:ext cx="720080" cy="864096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>
            <a:off x="2259614" y="3633609"/>
            <a:ext cx="720080" cy="864096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아래쪽 화살표 11"/>
          <p:cNvSpPr/>
          <p:nvPr/>
        </p:nvSpPr>
        <p:spPr>
          <a:xfrm>
            <a:off x="2251484" y="4990346"/>
            <a:ext cx="720080" cy="864096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5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760640"/>
          </a:xfrm>
        </p:spPr>
        <p:txBody>
          <a:bodyPr/>
          <a:lstStyle/>
          <a:p>
            <a:r>
              <a:rPr lang="ko-KR" altLang="en-US" dirty="0" smtClean="0"/>
              <a:t>파일에 내용 쓰</a:t>
            </a:r>
            <a:r>
              <a:rPr lang="ko-KR" altLang="en-US" dirty="0"/>
              <a:t>기</a:t>
            </a:r>
            <a:r>
              <a:rPr lang="ko-KR" altLang="en-US" dirty="0" smtClean="0"/>
              <a:t> 작업 순서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					</a:t>
            </a:r>
            <a:r>
              <a:rPr lang="en-US" altLang="ko-KR" dirty="0" err="1" smtClean="0"/>
              <a:t>ofstream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객체이름</a:t>
            </a:r>
            <a:r>
              <a:rPr lang="en-US" altLang="ko-KR" dirty="0" smtClean="0"/>
              <a:t>;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smtClean="0"/>
              <a:t>				</a:t>
            </a:r>
            <a:r>
              <a:rPr lang="ko-KR" altLang="en-US" dirty="0" smtClean="0"/>
              <a:t>객체이름</a:t>
            </a:r>
            <a:r>
              <a:rPr lang="en-US" altLang="ko-KR" dirty="0" smtClean="0"/>
              <a:t>.open(“</a:t>
            </a:r>
            <a:r>
              <a:rPr lang="ko-KR" altLang="en-US" dirty="0" smtClean="0"/>
              <a:t>파일이름</a:t>
            </a:r>
            <a:r>
              <a:rPr lang="en-US" altLang="ko-KR" dirty="0" smtClean="0"/>
              <a:t>”);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				if(</a:t>
            </a:r>
            <a:r>
              <a:rPr lang="ko-KR" altLang="en-US" dirty="0" smtClean="0"/>
              <a:t>객체이름 </a:t>
            </a:r>
            <a:r>
              <a:rPr lang="en-US" altLang="ko-KR" dirty="0" smtClean="0"/>
              <a:t>== NULL)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				   </a:t>
            </a:r>
            <a:r>
              <a:rPr lang="ko-KR" altLang="en-US" dirty="0" smtClean="0"/>
              <a:t>파일 열기 오류</a:t>
            </a:r>
            <a:r>
              <a:rPr lang="en-US" altLang="ko-KR" dirty="0" smtClean="0"/>
              <a:t>;</a:t>
            </a:r>
          </a:p>
          <a:p>
            <a:endParaRPr lang="en-US" altLang="ko-KR" dirty="0"/>
          </a:p>
          <a:p>
            <a:r>
              <a:rPr lang="en-US" altLang="ko-KR" dirty="0" smtClean="0"/>
              <a:t>					</a:t>
            </a:r>
            <a:r>
              <a:rPr lang="ko-KR" altLang="en-US" dirty="0" smtClean="0"/>
              <a:t>객체 이름 </a:t>
            </a:r>
            <a:r>
              <a:rPr lang="en-US" altLang="ko-KR" dirty="0" smtClean="0"/>
              <a:t>&gt;&gt; 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;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smtClean="0"/>
              <a:t>				</a:t>
            </a:r>
            <a:r>
              <a:rPr lang="ko-KR" altLang="en-US" dirty="0" smtClean="0"/>
              <a:t>객체이름</a:t>
            </a:r>
            <a:r>
              <a:rPr lang="en-US" altLang="ko-KR" dirty="0" smtClean="0"/>
              <a:t>.close();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1043608" y="1412776"/>
            <a:ext cx="316835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파일 객체 생성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039543" y="2852936"/>
            <a:ext cx="316835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파일 열기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035478" y="4293096"/>
            <a:ext cx="316835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파일 작업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018093" y="5733256"/>
            <a:ext cx="316835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파일 닫기</a:t>
            </a:r>
            <a:endParaRPr lang="ko-KR" altLang="en-US" dirty="0"/>
          </a:p>
        </p:txBody>
      </p:sp>
      <p:sp>
        <p:nvSpPr>
          <p:cNvPr id="8" name="아래쪽 화살표 7"/>
          <p:cNvSpPr/>
          <p:nvPr/>
        </p:nvSpPr>
        <p:spPr>
          <a:xfrm>
            <a:off x="2267744" y="2204864"/>
            <a:ext cx="720080" cy="864096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>
            <a:off x="2259614" y="3633609"/>
            <a:ext cx="720080" cy="864096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아래쪽 화살표 11"/>
          <p:cNvSpPr/>
          <p:nvPr/>
        </p:nvSpPr>
        <p:spPr>
          <a:xfrm>
            <a:off x="2251484" y="4990346"/>
            <a:ext cx="720080" cy="864096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3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출력형식 지정자</a:t>
            </a:r>
            <a:endParaRPr lang="en-US" altLang="ko-KR" dirty="0" smtClean="0"/>
          </a:p>
          <a:p>
            <a:r>
              <a:rPr lang="en-US" altLang="ko-KR" dirty="0" smtClean="0"/>
              <a:t>#include “</a:t>
            </a:r>
            <a:r>
              <a:rPr lang="en-US" altLang="ko-KR" dirty="0" err="1" smtClean="0"/>
              <a:t>iomanip</a:t>
            </a:r>
            <a:r>
              <a:rPr lang="en-US" altLang="ko-KR" dirty="0" smtClean="0"/>
              <a:t>”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필요할 때마다 매번 표기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한번 명시하면 이후에는 계속 출력형식에 영향을 미침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416738"/>
              </p:ext>
            </p:extLst>
          </p:nvPr>
        </p:nvGraphicFramePr>
        <p:xfrm>
          <a:off x="530551" y="2060848"/>
          <a:ext cx="799288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0"/>
                <a:gridCol w="511256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출력형식 지정자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내용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setw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폭</a:t>
                      </a:r>
                      <a:r>
                        <a:rPr lang="en-US" altLang="ko-KR" dirty="0" smtClean="0"/>
                        <a:t>);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출력 폭을 결정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setprecision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유효 자릿수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소수점 이하 자릿수 지정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fixed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실수형을</a:t>
                      </a:r>
                      <a:r>
                        <a:rPr lang="ko-KR" altLang="en-US" dirty="0" smtClean="0"/>
                        <a:t> 본래 형태로 출력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소수점 이하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en-US" altLang="ko-KR" sz="1400" dirty="0" smtClean="0"/>
                        <a:t>6</a:t>
                      </a:r>
                      <a:r>
                        <a:rPr lang="ko-KR" altLang="en-US" sz="1400" dirty="0" smtClean="0"/>
                        <a:t>자리 까지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showpoint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소수점 출력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530551" y="2420888"/>
            <a:ext cx="7992888" cy="72008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30551" y="3212976"/>
            <a:ext cx="7992888" cy="72008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21550" y="4077072"/>
            <a:ext cx="2169241" cy="43204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21550" y="4725144"/>
            <a:ext cx="4689521" cy="43204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21223" y="1124744"/>
            <a:ext cx="1890537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5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/>
              <a:t>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출력형식 지정자</a:t>
            </a:r>
            <a:endParaRPr lang="ko-KR" altLang="en-US" dirty="0"/>
          </a:p>
        </p:txBody>
      </p:sp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313" y="2204864"/>
            <a:ext cx="3381444" cy="30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6" y="1189693"/>
            <a:ext cx="5546330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13"/>
          <p:cNvSpPr/>
          <p:nvPr/>
        </p:nvSpPr>
        <p:spPr>
          <a:xfrm>
            <a:off x="179512" y="2276872"/>
            <a:ext cx="5256584" cy="1080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672406" y="2204864"/>
            <a:ext cx="3292082" cy="1296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78698" y="3889993"/>
            <a:ext cx="5401457" cy="76314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673312" y="3573016"/>
            <a:ext cx="2787119" cy="5760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78697" y="5157192"/>
            <a:ext cx="4105271" cy="9361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653315" y="4185083"/>
            <a:ext cx="3239165" cy="108171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91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fstream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파일 열기 함수에서 매개변수로 입출력 관련 모드를 지정해서 사용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err="1" smtClean="0"/>
              <a:t>fstream</a:t>
            </a:r>
            <a:r>
              <a:rPr lang="ko-KR" altLang="en-US" dirty="0" smtClean="0"/>
              <a:t>의 객체</a:t>
            </a:r>
            <a:r>
              <a:rPr lang="en-US" altLang="ko-KR" dirty="0" smtClean="0"/>
              <a:t>.open(</a:t>
            </a:r>
            <a:r>
              <a:rPr lang="ko-KR" altLang="en-US" dirty="0" smtClean="0"/>
              <a:t>파일이름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파일 모드</a:t>
            </a:r>
            <a:r>
              <a:rPr lang="en-US" altLang="ko-KR" dirty="0" smtClean="0"/>
              <a:t>);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1</a:t>
            </a:r>
            <a:r>
              <a:rPr lang="ko-KR" altLang="en-US" dirty="0" smtClean="0"/>
              <a:t>개 </a:t>
            </a:r>
            <a:r>
              <a:rPr lang="en-US" altLang="ko-KR" dirty="0" smtClean="0"/>
              <a:t>or 2</a:t>
            </a:r>
            <a:r>
              <a:rPr lang="ko-KR" altLang="en-US" dirty="0" smtClean="0"/>
              <a:t>개 이상의 파일 모드 </a:t>
            </a:r>
            <a:r>
              <a:rPr lang="ko-KR" altLang="en-US" dirty="0" err="1" smtClean="0"/>
              <a:t>지정시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비트 논리합</a:t>
            </a:r>
            <a:r>
              <a:rPr lang="en-US" altLang="ko-KR" dirty="0" smtClean="0"/>
              <a:t>(|)</a:t>
            </a:r>
            <a:r>
              <a:rPr lang="ko-KR" altLang="en-US" dirty="0" smtClean="0"/>
              <a:t>연산자로 연결함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780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fstream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모드</a:t>
            </a:r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646493"/>
              </p:ext>
            </p:extLst>
          </p:nvPr>
        </p:nvGraphicFramePr>
        <p:xfrm>
          <a:off x="251520" y="1397001"/>
          <a:ext cx="8640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380"/>
                <a:gridCol w="3530148"/>
                <a:gridCol w="3888432"/>
              </a:tblGrid>
              <a:tr h="2164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파일모드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예</a:t>
                      </a:r>
                      <a:endParaRPr lang="ko-KR" altLang="en-US" sz="1400" dirty="0"/>
                    </a:p>
                  </a:txBody>
                  <a:tcPr/>
                </a:tc>
              </a:tr>
              <a:tr h="216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파일을 읽기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파일객체</a:t>
                      </a:r>
                      <a:r>
                        <a:rPr lang="en-US" altLang="ko-KR" sz="1400" dirty="0" smtClean="0"/>
                        <a:t>.open(</a:t>
                      </a:r>
                      <a:r>
                        <a:rPr lang="ko-KR" altLang="en-US" sz="1400" dirty="0" smtClean="0"/>
                        <a:t>파일이름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::in);</a:t>
                      </a:r>
                      <a:endParaRPr lang="ko-KR" altLang="en-US" sz="1400" dirty="0"/>
                    </a:p>
                  </a:txBody>
                  <a:tcPr/>
                </a:tc>
              </a:tr>
              <a:tr h="216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::out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파일</a:t>
                      </a:r>
                      <a:r>
                        <a:rPr lang="ko-KR" altLang="en-US" sz="1400" baseline="0" dirty="0" smtClean="0"/>
                        <a:t>에 쓰기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파일객체</a:t>
                      </a:r>
                      <a:r>
                        <a:rPr lang="en-US" altLang="ko-KR" sz="1400" dirty="0" smtClean="0"/>
                        <a:t>.open(</a:t>
                      </a:r>
                      <a:r>
                        <a:rPr lang="ko-KR" altLang="en-US" sz="1400" dirty="0" smtClean="0"/>
                        <a:t>파일이름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::out);</a:t>
                      </a:r>
                      <a:endParaRPr lang="ko-KR" altLang="en-US" sz="1400" dirty="0"/>
                    </a:p>
                  </a:txBody>
                  <a:tcPr/>
                </a:tc>
              </a:tr>
              <a:tr h="216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::app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파일에 추가하여 쓰기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파일객체</a:t>
                      </a:r>
                      <a:r>
                        <a:rPr lang="en-US" altLang="ko-KR" sz="1400" dirty="0" smtClean="0"/>
                        <a:t>.open(</a:t>
                      </a:r>
                      <a:r>
                        <a:rPr lang="ko-KR" altLang="en-US" sz="1400" dirty="0" smtClean="0"/>
                        <a:t>파일이름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en-US" altLang="ko-KR" sz="1400" baseline="0" dirty="0" err="1" smtClean="0"/>
                        <a:t>ios</a:t>
                      </a:r>
                      <a:r>
                        <a:rPr lang="en-US" altLang="ko-KR" sz="1400" baseline="0" dirty="0" smtClean="0"/>
                        <a:t>::app);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파일객체</a:t>
                      </a:r>
                      <a:r>
                        <a:rPr lang="en-US" altLang="ko-KR" sz="1400" dirty="0" smtClean="0"/>
                        <a:t>.open(</a:t>
                      </a:r>
                      <a:r>
                        <a:rPr lang="ko-KR" altLang="en-US" sz="1400" dirty="0" smtClean="0"/>
                        <a:t>파일이름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en-US" altLang="ko-KR" sz="1400" baseline="0" dirty="0" err="1" smtClean="0"/>
                        <a:t>ios</a:t>
                      </a:r>
                      <a:r>
                        <a:rPr lang="en-US" altLang="ko-KR" sz="1400" baseline="0" dirty="0" smtClean="0"/>
                        <a:t>::out | </a:t>
                      </a:r>
                      <a:r>
                        <a:rPr lang="en-US" altLang="ko-KR" sz="1400" baseline="0" dirty="0" err="1" smtClean="0"/>
                        <a:t>ios</a:t>
                      </a:r>
                      <a:r>
                        <a:rPr lang="en-US" altLang="ko-KR" sz="1400" baseline="0" dirty="0" smtClean="0"/>
                        <a:t>::app);</a:t>
                      </a:r>
                      <a:endParaRPr lang="ko-KR" altLang="en-US" sz="1400" dirty="0" smtClean="0"/>
                    </a:p>
                  </a:txBody>
                  <a:tcPr/>
                </a:tc>
              </a:tr>
              <a:tr h="3736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</a:t>
                      </a:r>
                      <a:r>
                        <a:rPr lang="en-US" altLang="ko-KR" sz="1400" dirty="0" err="1" smtClean="0"/>
                        <a:t>trunc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파일이 이미 존재</a:t>
                      </a:r>
                      <a:r>
                        <a:rPr lang="en-US" altLang="ko-KR" sz="1400" baseline="0" dirty="0" smtClean="0"/>
                        <a:t> ? </a:t>
                      </a:r>
                    </a:p>
                    <a:p>
                      <a:pPr latinLnBrk="1"/>
                      <a:r>
                        <a:rPr lang="ko-KR" altLang="en-US" sz="1400" baseline="0" dirty="0" smtClean="0"/>
                        <a:t>파일삭제 </a:t>
                      </a:r>
                      <a:r>
                        <a:rPr lang="en-US" altLang="ko-KR" sz="1400" baseline="0" dirty="0" smtClean="0"/>
                        <a:t>and </a:t>
                      </a:r>
                      <a:r>
                        <a:rPr lang="ko-KR" altLang="en-US" sz="1400" baseline="0" dirty="0" smtClean="0"/>
                        <a:t>새로운 파일 생성 </a:t>
                      </a:r>
                      <a:r>
                        <a:rPr lang="en-US" altLang="ko-KR" sz="1400" baseline="0" dirty="0" smtClean="0"/>
                        <a:t>and</a:t>
                      </a:r>
                      <a:r>
                        <a:rPr lang="ko-KR" altLang="en-US" sz="1400" baseline="0" dirty="0" smtClean="0"/>
                        <a:t> 쓰기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파일객체</a:t>
                      </a:r>
                      <a:r>
                        <a:rPr lang="en-US" altLang="ko-KR" sz="1400" dirty="0" smtClean="0"/>
                        <a:t>.open(</a:t>
                      </a:r>
                      <a:r>
                        <a:rPr lang="ko-KR" altLang="en-US" sz="1400" dirty="0" smtClean="0"/>
                        <a:t>파일이름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</a:t>
                      </a:r>
                      <a:r>
                        <a:rPr lang="en-US" altLang="ko-KR" sz="1400" dirty="0" err="1" smtClean="0"/>
                        <a:t>trunc</a:t>
                      </a:r>
                      <a:r>
                        <a:rPr lang="en-US" altLang="ko-KR" sz="1400" dirty="0" smtClean="0"/>
                        <a:t>);</a:t>
                      </a:r>
                      <a:endParaRPr lang="ko-KR" altLang="en-US" sz="1400" dirty="0"/>
                    </a:p>
                  </a:txBody>
                  <a:tcPr/>
                </a:tc>
              </a:tr>
              <a:tr h="216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::binary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</a:t>
                      </a:r>
                      <a:r>
                        <a:rPr lang="ko-KR" altLang="en-US" sz="1400" dirty="0" smtClean="0"/>
                        <a:t>진 파일로 처리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파일객체</a:t>
                      </a:r>
                      <a:r>
                        <a:rPr lang="en-US" altLang="ko-KR" sz="1400" dirty="0" smtClean="0"/>
                        <a:t>.open(</a:t>
                      </a:r>
                      <a:r>
                        <a:rPr lang="ko-KR" altLang="en-US" sz="1400" dirty="0" smtClean="0"/>
                        <a:t>파일이름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::out</a:t>
                      </a:r>
                      <a:r>
                        <a:rPr lang="en-US" altLang="ko-KR" sz="1400" baseline="0" dirty="0" smtClean="0"/>
                        <a:t> | </a:t>
                      </a:r>
                      <a:r>
                        <a:rPr lang="en-US" altLang="ko-KR" sz="1400" baseline="0" dirty="0" err="1" smtClean="0"/>
                        <a:t>ios</a:t>
                      </a:r>
                      <a:r>
                        <a:rPr lang="en-US" altLang="ko-KR" sz="1400" baseline="0" dirty="0" smtClean="0"/>
                        <a:t>::binary)</a:t>
                      </a:r>
                      <a:r>
                        <a:rPr lang="en-US" altLang="ko-KR" sz="1400" dirty="0" smtClean="0"/>
                        <a:t>;</a:t>
                      </a:r>
                    </a:p>
                    <a:p>
                      <a:pPr latinLnBrk="1"/>
                      <a:r>
                        <a:rPr lang="ko-KR" altLang="en-US" sz="1400" dirty="0" smtClean="0"/>
                        <a:t>파일객체</a:t>
                      </a:r>
                      <a:r>
                        <a:rPr lang="en-US" altLang="ko-KR" sz="1400" dirty="0" smtClean="0"/>
                        <a:t>.open(</a:t>
                      </a:r>
                      <a:r>
                        <a:rPr lang="ko-KR" altLang="en-US" sz="1400" dirty="0" smtClean="0"/>
                        <a:t>파일이름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::in | </a:t>
                      </a:r>
                      <a:r>
                        <a:rPr lang="en-US" altLang="ko-KR" sz="1400" dirty="0" err="1" smtClean="0"/>
                        <a:t>ios</a:t>
                      </a:r>
                      <a:r>
                        <a:rPr lang="en-US" altLang="ko-KR" sz="1400" dirty="0" smtClean="0"/>
                        <a:t>::binary);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39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fstream</a:t>
            </a:r>
            <a:r>
              <a:rPr lang="en-US" altLang="ko-KR" dirty="0"/>
              <a:t> </a:t>
            </a:r>
            <a:r>
              <a:rPr lang="ko-KR" altLang="en-US" dirty="0"/>
              <a:t>파일 </a:t>
            </a:r>
            <a:r>
              <a:rPr lang="ko-KR" altLang="en-US" dirty="0" smtClean="0"/>
              <a:t>모드 예제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157162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1172435"/>
            <a:ext cx="21050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743" y="1863752"/>
            <a:ext cx="4109257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2987824" y="1719736"/>
            <a:ext cx="57606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포인트가 5개인 별 7"/>
          <p:cNvSpPr/>
          <p:nvPr/>
        </p:nvSpPr>
        <p:spPr>
          <a:xfrm>
            <a:off x="8172400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691680" y="5301208"/>
            <a:ext cx="1984970" cy="50405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39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진 파일 입력</a:t>
            </a:r>
            <a:endParaRPr lang="en-US" altLang="ko-KR" dirty="0" smtClean="0"/>
          </a:p>
          <a:p>
            <a:r>
              <a:rPr lang="en-US" altLang="ko-KR" dirty="0" err="1" smtClean="0"/>
              <a:t>fstream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객체이름</a:t>
            </a:r>
            <a:r>
              <a:rPr lang="en-US" altLang="ko-KR" dirty="0" smtClean="0"/>
              <a:t>.write(char* , </a:t>
            </a:r>
            <a:r>
              <a:rPr lang="ko-KR" altLang="en-US" dirty="0" smtClean="0"/>
              <a:t>바이트 수</a:t>
            </a:r>
            <a:r>
              <a:rPr lang="en-US" altLang="ko-KR" dirty="0" smtClean="0"/>
              <a:t>); // </a:t>
            </a:r>
            <a:r>
              <a:rPr lang="ko-KR" altLang="en-US" dirty="0" smtClean="0"/>
              <a:t>파일에 쓰기</a:t>
            </a:r>
            <a:endParaRPr lang="en-US" altLang="ko-KR" dirty="0" smtClean="0"/>
          </a:p>
          <a:p>
            <a:r>
              <a:rPr lang="en-US" altLang="ko-KR" dirty="0" err="1" smtClean="0"/>
              <a:t>fstream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객체이름</a:t>
            </a:r>
            <a:r>
              <a:rPr lang="en-US" altLang="ko-KR" dirty="0" smtClean="0"/>
              <a:t>.read(char* ,</a:t>
            </a:r>
            <a:r>
              <a:rPr lang="ko-KR" altLang="en-US" dirty="0" smtClean="0"/>
              <a:t>바이트 수</a:t>
            </a:r>
            <a:r>
              <a:rPr lang="en-US" altLang="ko-KR" dirty="0" smtClean="0"/>
              <a:t>); //</a:t>
            </a:r>
            <a:r>
              <a:rPr lang="ko-KR" altLang="en-US" dirty="0" smtClean="0"/>
              <a:t>파일 읽기</a:t>
            </a:r>
            <a:endParaRPr lang="ko-KR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33" y="2305558"/>
            <a:ext cx="333375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972184"/>
            <a:ext cx="3190875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2843808" y="3861048"/>
            <a:ext cx="86409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 flipV="1">
            <a:off x="3714691" y="2708920"/>
            <a:ext cx="1577389" cy="12961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24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진 파일 출</a:t>
            </a:r>
            <a:r>
              <a:rPr lang="ko-KR" altLang="en-US" dirty="0" smtClean="0"/>
              <a:t>력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96752"/>
            <a:ext cx="4118652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780928"/>
            <a:ext cx="3969832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683568" y="4365104"/>
            <a:ext cx="3816424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포인트가 5개인 별 6"/>
          <p:cNvSpPr/>
          <p:nvPr/>
        </p:nvSpPr>
        <p:spPr>
          <a:xfrm>
            <a:off x="8172400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4923075" y="4509120"/>
            <a:ext cx="3610744" cy="1977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파일의 마지막 확인 함수</a:t>
            </a:r>
            <a:endParaRPr lang="en-US" altLang="ko-KR" dirty="0" smtClean="0"/>
          </a:p>
          <a:p>
            <a:r>
              <a:rPr lang="en-US" altLang="ko-KR" dirty="0" err="1" smtClean="0"/>
              <a:t>eof</a:t>
            </a:r>
            <a:r>
              <a:rPr lang="en-US" altLang="ko-KR" dirty="0" smtClean="0"/>
              <a:t>(); // End of File</a:t>
            </a:r>
            <a:r>
              <a:rPr lang="ko-KR" altLang="en-US" dirty="0" smtClean="0"/>
              <a:t>의 약자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파일의 마지막이 아니면 </a:t>
            </a:r>
            <a:r>
              <a:rPr lang="en-US" altLang="ko-KR" dirty="0" smtClean="0"/>
              <a:t>false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마지막이면 </a:t>
            </a:r>
            <a:r>
              <a:rPr lang="en-US" altLang="ko-KR" dirty="0" smtClean="0"/>
              <a:t>true</a:t>
            </a:r>
          </a:p>
          <a:p>
            <a:r>
              <a:rPr lang="ko-KR" altLang="en-US" dirty="0" smtClean="0"/>
              <a:t>파일 입력 객체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eof</a:t>
            </a:r>
            <a:r>
              <a:rPr lang="en-US" altLang="ko-KR" dirty="0" smtClean="0"/>
              <a:t>();</a:t>
            </a:r>
          </a:p>
          <a:p>
            <a:endParaRPr lang="en-US" altLang="ko-KR" dirty="0"/>
          </a:p>
        </p:txBody>
      </p:sp>
      <p:sp>
        <p:nvSpPr>
          <p:cNvPr id="9" name="직사각형 8"/>
          <p:cNvSpPr/>
          <p:nvPr/>
        </p:nvSpPr>
        <p:spPr>
          <a:xfrm>
            <a:off x="3491880" y="4437112"/>
            <a:ext cx="775320" cy="25202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948808" y="4887162"/>
            <a:ext cx="2863552" cy="91810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4957700" y="1916832"/>
            <a:ext cx="2566628" cy="792088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!</a:t>
            </a:r>
            <a:r>
              <a:rPr lang="en-US" altLang="ko-KR" dirty="0" err="1" smtClean="0"/>
              <a:t>fp.eof</a:t>
            </a:r>
            <a:r>
              <a:rPr lang="en-US" altLang="ko-KR" dirty="0" smtClean="0"/>
              <a:t>()</a:t>
            </a:r>
            <a:r>
              <a:rPr lang="ko-KR" altLang="en-US" dirty="0" smtClean="0"/>
              <a:t>가 </a:t>
            </a:r>
            <a:r>
              <a:rPr lang="en-US" altLang="ko-KR" dirty="0"/>
              <a:t>0</a:t>
            </a:r>
            <a:r>
              <a:rPr lang="ko-KR" altLang="en-US" dirty="0" smtClean="0"/>
              <a:t>이 되면 탈출</a:t>
            </a:r>
            <a:r>
              <a:rPr lang="en-US" altLang="ko-KR" dirty="0" smtClean="0"/>
              <a:t>.</a:t>
            </a:r>
          </a:p>
          <a:p>
            <a:r>
              <a:rPr lang="en-US" altLang="ko-KR" dirty="0" err="1" smtClean="0"/>
              <a:t>fp.eof</a:t>
            </a:r>
            <a:r>
              <a:rPr lang="en-US" altLang="ko-KR" dirty="0" smtClean="0"/>
              <a:t>()</a:t>
            </a:r>
            <a:r>
              <a:rPr lang="ko-KR" altLang="en-US" dirty="0" smtClean="0"/>
              <a:t>값이 처음에는 </a:t>
            </a:r>
            <a:r>
              <a:rPr lang="en-US" altLang="ko-KR" dirty="0"/>
              <a:t>0</a:t>
            </a:r>
            <a:r>
              <a:rPr lang="ko-KR" altLang="en-US" dirty="0" smtClean="0"/>
              <a:t>임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cxnSp>
        <p:nvCxnSpPr>
          <p:cNvPr id="5" name="직선 화살표 연결선 4"/>
          <p:cNvCxnSpPr>
            <a:stCxn id="9" idx="0"/>
            <a:endCxn id="11" idx="1"/>
          </p:cNvCxnSpPr>
          <p:nvPr/>
        </p:nvCxnSpPr>
        <p:spPr>
          <a:xfrm flipV="1">
            <a:off x="3879540" y="2312876"/>
            <a:ext cx="1078160" cy="212423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9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임의 접근 파일</a:t>
            </a:r>
            <a:endParaRPr lang="en-US" altLang="ko-KR" dirty="0" smtClean="0"/>
          </a:p>
          <a:p>
            <a:r>
              <a:rPr lang="ko-KR" altLang="en-US" dirty="0" smtClean="0"/>
              <a:t>순차파일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파일의 내용을 순서대로 읽어오는 것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접근파일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원하는 위치로 이동해서 작업하는 것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841492"/>
              </p:ext>
            </p:extLst>
          </p:nvPr>
        </p:nvGraphicFramePr>
        <p:xfrm>
          <a:off x="467544" y="3068960"/>
          <a:ext cx="8208912" cy="218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9030"/>
                <a:gridCol w="5269882"/>
              </a:tblGrid>
              <a:tr h="1390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멤버함수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설명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seekp</a:t>
                      </a:r>
                      <a:r>
                        <a:rPr lang="en-US" altLang="ko-KR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</a:t>
                      </a:r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바이트</a:t>
                      </a:r>
                      <a:r>
                        <a:rPr lang="en-US" altLang="ko-KR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, </a:t>
                      </a:r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이동기준</a:t>
                      </a:r>
                      <a:r>
                        <a:rPr lang="en-US" altLang="ko-KR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)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파일에 </a:t>
                      </a:r>
                      <a:r>
                        <a:rPr lang="ko-KR" altLang="en-US" sz="16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쓸 때</a:t>
                      </a:r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 파일 포인터를 지정한 만큼 이동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seekg</a:t>
                      </a:r>
                      <a:r>
                        <a:rPr lang="en-US" altLang="ko-KR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(</a:t>
                      </a:r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바이트</a:t>
                      </a:r>
                      <a:r>
                        <a:rPr lang="en-US" altLang="ko-KR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, </a:t>
                      </a:r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이동기준</a:t>
                      </a:r>
                      <a:r>
                        <a:rPr lang="en-US" altLang="ko-KR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)</a:t>
                      </a:r>
                      <a:endParaRPr lang="ko-KR" altLang="en-US" sz="1600" dirty="0" smtClean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파일을 </a:t>
                      </a:r>
                      <a:r>
                        <a:rPr lang="ko-KR" altLang="en-US" sz="1600" b="1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읽을 때 </a:t>
                      </a:r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파일 포인터를 지정한 만큼 이동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ios</a:t>
                      </a:r>
                      <a:r>
                        <a:rPr lang="en-US" altLang="ko-KR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::beg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파일의 처음 시작위치부터 지정한 바이트만큼 이동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ios</a:t>
                      </a:r>
                      <a:r>
                        <a:rPr lang="en-US" altLang="ko-KR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::end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파일의 마지막 위치부터 지정한 바이트만큼 이동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ios</a:t>
                      </a:r>
                      <a:r>
                        <a:rPr lang="en-US" altLang="ko-KR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::cur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배달의민족 한나체 Air" panose="020B0600000101010101" pitchFamily="50" charset="-127"/>
                          <a:ea typeface="배달의민족 한나체 Air" panose="020B0600000101010101" pitchFamily="50" charset="-127"/>
                        </a:rPr>
                        <a:t>현재 위치부터 지정한 바이트만큼 이동</a:t>
                      </a:r>
                      <a:endParaRPr lang="ko-KR" altLang="en-US" sz="1600" dirty="0">
                        <a:latin typeface="배달의민족 한나체 Air" panose="020B0600000101010101" pitchFamily="50" charset="-127"/>
                        <a:ea typeface="배달의민족 한나체 Air" panose="020B0600000101010101" pitchFamily="50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21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graphicFrame>
        <p:nvGraphicFramePr>
          <p:cNvPr id="13" name="내용 개체 틀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875707"/>
              </p:ext>
            </p:extLst>
          </p:nvPr>
        </p:nvGraphicFramePr>
        <p:xfrm>
          <a:off x="3937538" y="2924944"/>
          <a:ext cx="4114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4byte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78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96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30861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509120"/>
            <a:ext cx="4763486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67544" y="4796444"/>
            <a:ext cx="1512168" cy="22893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538" y="757448"/>
            <a:ext cx="4803798" cy="1742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화살표 연결선 7"/>
          <p:cNvCxnSpPr/>
          <p:nvPr/>
        </p:nvCxnSpPr>
        <p:spPr>
          <a:xfrm flipV="1">
            <a:off x="2306760" y="3284984"/>
            <a:ext cx="1597786" cy="9973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467544" y="4167828"/>
            <a:ext cx="1839216" cy="228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>
            <a:endCxn id="13" idx="2"/>
          </p:cNvCxnSpPr>
          <p:nvPr/>
        </p:nvCxnSpPr>
        <p:spPr>
          <a:xfrm flipV="1">
            <a:off x="2009473" y="3666624"/>
            <a:ext cx="3985465" cy="126672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3923928" y="2924944"/>
            <a:ext cx="864096" cy="741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5562890" y="2914144"/>
            <a:ext cx="864096" cy="7416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4788024" y="2636912"/>
            <a:ext cx="0" cy="277232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5562890" y="2650696"/>
            <a:ext cx="0" cy="277232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자유형 22"/>
          <p:cNvSpPr/>
          <p:nvPr/>
        </p:nvSpPr>
        <p:spPr>
          <a:xfrm flipV="1">
            <a:off x="4788024" y="2636912"/>
            <a:ext cx="774866" cy="138616"/>
          </a:xfrm>
          <a:custGeom>
            <a:avLst/>
            <a:gdLst>
              <a:gd name="connsiteX0" fmla="*/ 0 w 546847"/>
              <a:gd name="connsiteY0" fmla="*/ 17929 h 143435"/>
              <a:gd name="connsiteX1" fmla="*/ 259977 w 546847"/>
              <a:gd name="connsiteY1" fmla="*/ 143435 h 143435"/>
              <a:gd name="connsiteX2" fmla="*/ 259977 w 546847"/>
              <a:gd name="connsiteY2" fmla="*/ 143435 h 143435"/>
              <a:gd name="connsiteX3" fmla="*/ 546847 w 546847"/>
              <a:gd name="connsiteY3" fmla="*/ 0 h 14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847" h="143435">
                <a:moveTo>
                  <a:pt x="0" y="17929"/>
                </a:moveTo>
                <a:lnTo>
                  <a:pt x="259977" y="143435"/>
                </a:lnTo>
                <a:lnTo>
                  <a:pt x="259977" y="143435"/>
                </a:lnTo>
                <a:cubicBezTo>
                  <a:pt x="307788" y="119529"/>
                  <a:pt x="464671" y="22412"/>
                  <a:pt x="546847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670902" y="2521554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4byte </a:t>
            </a:r>
            <a:r>
              <a:rPr lang="ko-KR" altLang="en-US" dirty="0" smtClean="0">
                <a:solidFill>
                  <a:schemeClr val="accent6"/>
                </a:solidFill>
              </a:rPr>
              <a:t>이동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28" name="직선 화살표 연결선 27"/>
          <p:cNvCxnSpPr>
            <a:stCxn id="13" idx="2"/>
          </p:cNvCxnSpPr>
          <p:nvPr/>
        </p:nvCxnSpPr>
        <p:spPr>
          <a:xfrm flipH="1">
            <a:off x="4355977" y="3666624"/>
            <a:ext cx="1638961" cy="156804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10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b="1" dirty="0" smtClean="0"/>
              <a:t>기본</a:t>
            </a:r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부모</a:t>
            </a:r>
            <a:r>
              <a:rPr lang="en-US" altLang="ko-KR" sz="2400" b="1" dirty="0" smtClean="0"/>
              <a:t>)</a:t>
            </a:r>
            <a:r>
              <a:rPr lang="ko-KR" altLang="en-US" sz="2400" b="1" dirty="0" smtClean="0"/>
              <a:t>클래스</a:t>
            </a:r>
            <a:endParaRPr lang="en-US" altLang="ko-KR" b="1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   파생</a:t>
            </a:r>
            <a:r>
              <a:rPr lang="en-US" altLang="ko-KR" dirty="0" smtClean="0"/>
              <a:t>(</a:t>
            </a:r>
            <a:r>
              <a:rPr lang="ko-KR" altLang="en-US" dirty="0" smtClean="0"/>
              <a:t>자식</a:t>
            </a:r>
            <a:r>
              <a:rPr lang="en-US" altLang="ko-KR" dirty="0" smtClean="0"/>
              <a:t>)</a:t>
            </a:r>
            <a:r>
              <a:rPr lang="ko-KR" altLang="en-US" dirty="0" smtClean="0"/>
              <a:t>클래스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상속 </a:t>
            </a:r>
            <a:r>
              <a:rPr lang="en-US" altLang="ko-KR" dirty="0" smtClean="0"/>
              <a:t>why? (</a:t>
            </a:r>
            <a:r>
              <a:rPr lang="ko-KR" altLang="en-US" dirty="0" smtClean="0"/>
              <a:t>이미 정의된 클래스 사용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클래스의 참조 범위 </a:t>
            </a:r>
            <a:r>
              <a:rPr lang="ko-KR" altLang="en-US" sz="2400" dirty="0" smtClean="0"/>
              <a:t>증가</a:t>
            </a:r>
            <a:r>
              <a:rPr lang="en-US" altLang="ko-KR" sz="2400" dirty="0" smtClean="0"/>
              <a:t>!!</a:t>
            </a:r>
          </a:p>
          <a:p>
            <a:endParaRPr lang="en-US" altLang="ko-KR" sz="2400" dirty="0"/>
          </a:p>
          <a:p>
            <a:r>
              <a:rPr lang="ko-KR" altLang="en-US" dirty="0" smtClean="0"/>
              <a:t>상속은 클래스의 선언에서 결정</a:t>
            </a:r>
            <a:endParaRPr lang="en-US" altLang="ko-KR" dirty="0" smtClean="0"/>
          </a:p>
          <a:p>
            <a:r>
              <a:rPr lang="en-US" altLang="ko-KR" dirty="0" smtClean="0"/>
              <a:t>class </a:t>
            </a:r>
            <a:r>
              <a:rPr lang="ko-KR" altLang="en-US" dirty="0" smtClean="0"/>
              <a:t>파생클래스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접근지정자</a:t>
            </a:r>
            <a:r>
              <a:rPr lang="ko-KR" altLang="en-US" dirty="0" smtClean="0"/>
              <a:t> 기반클래스</a:t>
            </a:r>
            <a:r>
              <a:rPr lang="en-US" altLang="ko-KR" dirty="0" smtClean="0"/>
              <a:t>{</a:t>
            </a:r>
          </a:p>
          <a:p>
            <a:r>
              <a:rPr lang="ko-KR" altLang="en-US" dirty="0" smtClean="0"/>
              <a:t> 멤버함수와 멤버변수 선언</a:t>
            </a:r>
            <a:r>
              <a:rPr lang="en-US" altLang="ko-KR" dirty="0" smtClean="0"/>
              <a:t>;</a:t>
            </a:r>
          </a:p>
          <a:p>
            <a:r>
              <a:rPr lang="en-US" altLang="ko-KR" dirty="0" smtClean="0"/>
              <a:t>};</a:t>
            </a:r>
          </a:p>
        </p:txBody>
      </p:sp>
      <p:sp>
        <p:nvSpPr>
          <p:cNvPr id="4" name="아래쪽 화살표 3"/>
          <p:cNvSpPr/>
          <p:nvPr/>
        </p:nvSpPr>
        <p:spPr>
          <a:xfrm>
            <a:off x="1187624" y="1268760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포인트가 8개인 별 4"/>
          <p:cNvSpPr/>
          <p:nvPr/>
        </p:nvSpPr>
        <p:spPr>
          <a:xfrm>
            <a:off x="1821995" y="1538049"/>
            <a:ext cx="407112" cy="321264"/>
          </a:xfrm>
          <a:prstGeom prst="star8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포인트가 8개인 별 5"/>
          <p:cNvSpPr/>
          <p:nvPr/>
        </p:nvSpPr>
        <p:spPr>
          <a:xfrm>
            <a:off x="647564" y="1210816"/>
            <a:ext cx="468052" cy="468052"/>
          </a:xfrm>
          <a:prstGeom prst="star8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포인트가 8개인 별 6"/>
          <p:cNvSpPr/>
          <p:nvPr/>
        </p:nvSpPr>
        <p:spPr>
          <a:xfrm>
            <a:off x="1421785" y="1554894"/>
            <a:ext cx="214409" cy="214409"/>
          </a:xfrm>
          <a:prstGeom prst="star8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포인트가 8개인 별 8"/>
          <p:cNvSpPr/>
          <p:nvPr/>
        </p:nvSpPr>
        <p:spPr>
          <a:xfrm>
            <a:off x="1094094" y="1769303"/>
            <a:ext cx="180020" cy="180020"/>
          </a:xfrm>
          <a:prstGeom prst="star8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2025551" y="1268760"/>
            <a:ext cx="2618457" cy="42992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>
            <a:off x="919879" y="1268760"/>
            <a:ext cx="3724129" cy="1695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67944" y="109759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클래스 멤버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932040" y="346035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일반적으로 </a:t>
            </a:r>
            <a:r>
              <a:rPr lang="en-US" altLang="ko-KR" dirty="0" smtClean="0"/>
              <a:t>public</a:t>
            </a:r>
            <a:endParaRPr lang="ko-KR" altLang="en-US" dirty="0"/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2699792" y="3645024"/>
            <a:ext cx="2618457" cy="42992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022700"/>
            <a:ext cx="26670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493" y="5003650"/>
            <a:ext cx="21431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오른쪽 화살표 30"/>
          <p:cNvSpPr/>
          <p:nvPr/>
        </p:nvSpPr>
        <p:spPr>
          <a:xfrm>
            <a:off x="3494584" y="5373216"/>
            <a:ext cx="1597261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6282117" y="5003649"/>
            <a:ext cx="1026187" cy="1787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2229107" y="4074946"/>
            <a:ext cx="1982853" cy="2901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1187625" y="4947942"/>
            <a:ext cx="576064" cy="2901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60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클래스의 상속</a:t>
            </a:r>
            <a:endParaRPr lang="en-US" altLang="ko-KR" dirty="0" smtClean="0"/>
          </a:p>
          <a:p>
            <a:r>
              <a:rPr lang="ko-KR" altLang="en-US" dirty="0" smtClean="0"/>
              <a:t>이미 정의된 클래스를 상속해서 사용하는 경우가 </a:t>
            </a:r>
            <a:r>
              <a:rPr lang="ko-KR" altLang="en-US" sz="2000" b="1" dirty="0" smtClean="0"/>
              <a:t>多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en-US" altLang="ko-KR" sz="2000" dirty="0" smtClean="0"/>
              <a:t>ex)</a:t>
            </a:r>
            <a:r>
              <a:rPr lang="ko-KR" altLang="en-US" sz="2000" dirty="0" smtClean="0"/>
              <a:t>문자열을 문자배열로 변환 프로그램</a:t>
            </a:r>
            <a:endParaRPr lang="en-US" altLang="ko-KR" sz="2000" dirty="0" smtClean="0"/>
          </a:p>
          <a:p>
            <a:endParaRPr lang="ko-KR" altLang="en-US" b="1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260032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01" y="2276872"/>
            <a:ext cx="319087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616" y="2294674"/>
            <a:ext cx="188595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828456" y="1617059"/>
            <a:ext cx="288032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len</a:t>
            </a:r>
            <a:r>
              <a:rPr lang="en-US" altLang="ko-KR" dirty="0"/>
              <a:t> = string::length();</a:t>
            </a:r>
            <a:endParaRPr lang="ko-KR" altLang="en-US" dirty="0"/>
          </a:p>
        </p:txBody>
      </p:sp>
      <p:cxnSp>
        <p:nvCxnSpPr>
          <p:cNvPr id="8" name="직선 화살표 연결선 7"/>
          <p:cNvCxnSpPr>
            <a:stCxn id="7" idx="2"/>
          </p:cNvCxnSpPr>
          <p:nvPr/>
        </p:nvCxnSpPr>
        <p:spPr>
          <a:xfrm flipH="1">
            <a:off x="4756450" y="1986391"/>
            <a:ext cx="1512166" cy="85267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3563888" y="2839067"/>
            <a:ext cx="1351467" cy="253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포인트가 5개인 별 11"/>
          <p:cNvSpPr/>
          <p:nvPr/>
        </p:nvSpPr>
        <p:spPr>
          <a:xfrm>
            <a:off x="8172400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19448"/>
            <a:ext cx="9143999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14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r>
              <a:rPr lang="ko-KR" altLang="en-US" dirty="0" smtClean="0"/>
              <a:t>접근 지정자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파생클래스의 </a:t>
            </a:r>
            <a:r>
              <a:rPr lang="en-US" altLang="ko-KR" dirty="0" smtClean="0"/>
              <a:t>protected </a:t>
            </a:r>
            <a:r>
              <a:rPr lang="ko-KR" altLang="en-US" dirty="0" smtClean="0"/>
              <a:t>속성의 멤버는 기반클래스에서 접근 불가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public </a:t>
            </a:r>
            <a:r>
              <a:rPr lang="ko-KR" altLang="en-US" dirty="0" smtClean="0"/>
              <a:t>접근 속성을 갖는 멤버는 어느 위치에서 참조 가능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588965"/>
              </p:ext>
            </p:extLst>
          </p:nvPr>
        </p:nvGraphicFramePr>
        <p:xfrm>
          <a:off x="179512" y="1268760"/>
          <a:ext cx="87849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244"/>
                <a:gridCol w="2196244"/>
                <a:gridCol w="2196244"/>
                <a:gridCol w="219624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접근 지정자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자기 자신에서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파생클래스에서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외부에서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public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참조 가능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참조 가능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참조 가능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protected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참조 가능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참조 가능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solidFill>
                            <a:srgbClr val="FF0000"/>
                          </a:solidFill>
                        </a:rPr>
                        <a:t>참조 불가능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private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참조 가능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solidFill>
                            <a:srgbClr val="FF0000"/>
                          </a:solidFill>
                        </a:rPr>
                        <a:t>참조 불가능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solidFill>
                            <a:srgbClr val="FF0000"/>
                          </a:solidFill>
                        </a:rPr>
                        <a:t>참조 불가능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직선 연결선 5"/>
          <p:cNvCxnSpPr/>
          <p:nvPr/>
        </p:nvCxnSpPr>
        <p:spPr>
          <a:xfrm>
            <a:off x="4572000" y="2708920"/>
            <a:ext cx="43924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6768244" y="1988840"/>
            <a:ext cx="219624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8964488" y="1988840"/>
            <a:ext cx="0" cy="7200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4580747" y="2348880"/>
            <a:ext cx="0" cy="3600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4572000" y="2367789"/>
            <a:ext cx="219624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6776991" y="2007749"/>
            <a:ext cx="0" cy="3600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4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기반클래스와 파생 클래스의 </a:t>
            </a:r>
            <a:r>
              <a:rPr lang="ko-KR" altLang="en-US" dirty="0" err="1" smtClean="0"/>
              <a:t>생성자와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소멸자</a:t>
            </a:r>
            <a:r>
              <a:rPr lang="ko-KR" altLang="en-US" dirty="0" smtClean="0"/>
              <a:t> 순서</a:t>
            </a:r>
            <a:endParaRPr lang="en-US" altLang="ko-KR" dirty="0" smtClean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기반 클래스 </a:t>
            </a:r>
            <a:r>
              <a:rPr lang="ko-KR" altLang="en-US" dirty="0" err="1" smtClean="0"/>
              <a:t>생성사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파생 클래스 </a:t>
            </a:r>
            <a:r>
              <a:rPr lang="ko-KR" altLang="en-US" dirty="0" err="1" smtClean="0"/>
              <a:t>생성자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파생 클래스 </a:t>
            </a:r>
            <a:r>
              <a:rPr lang="ko-KR" altLang="en-US" dirty="0" err="1" smtClean="0"/>
              <a:t>소멸자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기반 클래스 </a:t>
            </a:r>
            <a:r>
              <a:rPr lang="ko-KR" altLang="en-US" dirty="0" err="1" smtClean="0"/>
              <a:t>소멸자</a:t>
            </a:r>
            <a:endParaRPr lang="ko-KR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01" y="2827238"/>
            <a:ext cx="200977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528" y="2827238"/>
            <a:ext cx="2209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04064"/>
            <a:ext cx="2592288" cy="215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그룹 5"/>
          <p:cNvGrpSpPr/>
          <p:nvPr/>
        </p:nvGrpSpPr>
        <p:grpSpPr>
          <a:xfrm>
            <a:off x="2411143" y="2860898"/>
            <a:ext cx="2736921" cy="2800350"/>
            <a:chOff x="2195119" y="2780928"/>
            <a:chExt cx="2736921" cy="2800350"/>
          </a:xfrm>
        </p:grpSpPr>
        <p:pic>
          <p:nvPicPr>
            <p:cNvPr id="2150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2215" y="2780928"/>
              <a:ext cx="2409825" cy="280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폭발 1 4"/>
            <p:cNvSpPr/>
            <p:nvPr/>
          </p:nvSpPr>
          <p:spPr>
            <a:xfrm>
              <a:off x="2195736" y="3284984"/>
              <a:ext cx="504056" cy="455813"/>
            </a:xfrm>
            <a:prstGeom prst="irregularSeal1">
              <a:avLst/>
            </a:prstGeom>
            <a:solidFill>
              <a:srgbClr val="FFC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>
                  <a:solidFill>
                    <a:schemeClr val="tx1"/>
                  </a:solidFill>
                </a:rPr>
                <a:t>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폭발 1 10"/>
            <p:cNvSpPr/>
            <p:nvPr/>
          </p:nvSpPr>
          <p:spPr>
            <a:xfrm>
              <a:off x="2195119" y="4399556"/>
              <a:ext cx="504056" cy="455813"/>
            </a:xfrm>
            <a:prstGeom prst="irregularSeal1">
              <a:avLst/>
            </a:prstGeom>
            <a:solidFill>
              <a:srgbClr val="FFC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폭발 1 11"/>
            <p:cNvSpPr/>
            <p:nvPr/>
          </p:nvSpPr>
          <p:spPr>
            <a:xfrm>
              <a:off x="2195736" y="4989547"/>
              <a:ext cx="504056" cy="455813"/>
            </a:xfrm>
            <a:prstGeom prst="irregularSeal1">
              <a:avLst/>
            </a:prstGeom>
            <a:solidFill>
              <a:srgbClr val="FFC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>
                  <a:solidFill>
                    <a:schemeClr val="tx1"/>
                  </a:solidFill>
                </a:rPr>
                <a:t>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폭발 1 12"/>
            <p:cNvSpPr/>
            <p:nvPr/>
          </p:nvSpPr>
          <p:spPr>
            <a:xfrm>
              <a:off x="2195736" y="3861047"/>
              <a:ext cx="504056" cy="455813"/>
            </a:xfrm>
            <a:prstGeom prst="irregularSeal1">
              <a:avLst/>
            </a:prstGeom>
            <a:solidFill>
              <a:srgbClr val="FFC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5458862" y="3386094"/>
            <a:ext cx="2065466" cy="253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14547" y="4809570"/>
            <a:ext cx="1825205" cy="9956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4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파생클래스에서 기반 클래스 </a:t>
            </a:r>
            <a:r>
              <a:rPr lang="ko-KR" altLang="en-US" dirty="0" err="1" smtClean="0"/>
              <a:t>생성자</a:t>
            </a:r>
            <a:r>
              <a:rPr lang="ko-KR" altLang="en-US" dirty="0" smtClean="0"/>
              <a:t> 호출</a:t>
            </a:r>
            <a:r>
              <a:rPr lang="en-US" altLang="ko-KR" dirty="0" smtClean="0"/>
              <a:t>1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파생 클래스 </a:t>
            </a:r>
            <a:r>
              <a:rPr lang="ko-KR" altLang="en-US" dirty="0" err="1" smtClean="0"/>
              <a:t>생성자</a:t>
            </a:r>
            <a:r>
              <a:rPr lang="ko-KR" altLang="en-US" dirty="0" smtClean="0"/>
              <a:t> 머리 부분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기반 클래스 </a:t>
            </a:r>
            <a:r>
              <a:rPr lang="ko-KR" altLang="en-US" dirty="0" err="1" smtClean="0"/>
              <a:t>생성자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파생 클래스 </a:t>
            </a:r>
            <a:r>
              <a:rPr lang="ko-KR" altLang="en-US" dirty="0" err="1" smtClean="0"/>
              <a:t>생성자</a:t>
            </a:r>
            <a:r>
              <a:rPr lang="ko-KR" altLang="en-US" dirty="0" smtClean="0"/>
              <a:t> 몸통 부분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/>
              <a:t>기반 클래스의 </a:t>
            </a:r>
            <a:r>
              <a:rPr lang="ko-KR" altLang="en-US" dirty="0" err="1"/>
              <a:t>생성자는</a:t>
            </a:r>
            <a:r>
              <a:rPr lang="ko-KR" altLang="en-US" dirty="0"/>
              <a:t> 파생클래스의 </a:t>
            </a:r>
            <a:r>
              <a:rPr lang="ko-KR" altLang="en-US" dirty="0" err="1" smtClean="0"/>
              <a:t>생성자</a:t>
            </a:r>
            <a:r>
              <a:rPr lang="ko-KR" altLang="en-US" dirty="0" smtClean="0"/>
              <a:t> </a:t>
            </a:r>
            <a:r>
              <a:rPr lang="ko-KR" altLang="en-US" dirty="0"/>
              <a:t>초기화 목록에서 직접 </a:t>
            </a:r>
            <a:r>
              <a:rPr lang="ko-KR" altLang="en-US" dirty="0" smtClean="0"/>
              <a:t>호출 가능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파생 클래스의 </a:t>
            </a:r>
            <a:r>
              <a:rPr lang="ko-KR" altLang="en-US" dirty="0" err="1" smtClean="0"/>
              <a:t>생성자를</a:t>
            </a:r>
            <a:r>
              <a:rPr lang="ko-KR" altLang="en-US" dirty="0" smtClean="0"/>
              <a:t> 통해 기반 클래스의 생성자가 호출된다는 것은 </a:t>
            </a:r>
            <a:endParaRPr lang="en-US" altLang="ko-KR" dirty="0" smtClean="0"/>
          </a:p>
          <a:p>
            <a:r>
              <a:rPr lang="ko-KR" altLang="en-US" dirty="0" smtClean="0"/>
              <a:t>기반 클래스의 생성자가 </a:t>
            </a:r>
            <a:r>
              <a:rPr lang="ko-KR" altLang="en-US" dirty="0" err="1" smtClean="0"/>
              <a:t>오버로드된</a:t>
            </a:r>
            <a:r>
              <a:rPr lang="ko-KR" altLang="en-US" dirty="0" smtClean="0"/>
              <a:t> 경우 선별해서 호출 할 수 있음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파생 클래스 </a:t>
            </a:r>
            <a:r>
              <a:rPr lang="ko-KR" altLang="en-US" dirty="0" err="1" smtClean="0"/>
              <a:t>생성자</a:t>
            </a:r>
            <a:r>
              <a:rPr lang="en-US" altLang="ko-KR" dirty="0" smtClean="0"/>
              <a:t>(</a:t>
            </a:r>
            <a:r>
              <a:rPr lang="ko-KR" altLang="en-US" dirty="0" smtClean="0"/>
              <a:t>매개변수</a:t>
            </a:r>
            <a:r>
              <a:rPr lang="en-US" altLang="ko-KR" dirty="0" smtClean="0"/>
              <a:t>, …)</a:t>
            </a:r>
          </a:p>
          <a:p>
            <a:r>
              <a:rPr lang="en-US" altLang="ko-KR" dirty="0" smtClean="0"/>
              <a:t>: </a:t>
            </a:r>
            <a:r>
              <a:rPr lang="ko-KR" altLang="en-US" dirty="0" smtClean="0"/>
              <a:t>기반 클래스 </a:t>
            </a:r>
            <a:r>
              <a:rPr lang="ko-KR" altLang="en-US" dirty="0" err="1" smtClean="0"/>
              <a:t>생성자</a:t>
            </a:r>
            <a:r>
              <a:rPr lang="en-US" altLang="ko-KR" dirty="0" smtClean="0"/>
              <a:t>(</a:t>
            </a:r>
            <a:r>
              <a:rPr lang="ko-KR" altLang="en-US" dirty="0" smtClean="0"/>
              <a:t>매개변수</a:t>
            </a:r>
            <a:r>
              <a:rPr lang="en-US" altLang="ko-KR" dirty="0" smtClean="0"/>
              <a:t>) // </a:t>
            </a:r>
            <a:r>
              <a:rPr lang="ko-KR" altLang="en-US" dirty="0" smtClean="0"/>
              <a:t>기반클래스 </a:t>
            </a:r>
            <a:r>
              <a:rPr lang="ko-KR" altLang="en-US" dirty="0" err="1" smtClean="0"/>
              <a:t>생성자를</a:t>
            </a:r>
            <a:r>
              <a:rPr lang="ko-KR" altLang="en-US" dirty="0" smtClean="0"/>
              <a:t> 호출함</a:t>
            </a:r>
            <a:endParaRPr lang="en-US" altLang="ko-KR" dirty="0" smtClean="0"/>
          </a:p>
          <a:p>
            <a:r>
              <a:rPr lang="en-US" altLang="ko-KR" dirty="0" smtClean="0"/>
              <a:t>{</a:t>
            </a:r>
          </a:p>
          <a:p>
            <a:r>
              <a:rPr lang="en-US" altLang="ko-KR" dirty="0"/>
              <a:t>	</a:t>
            </a:r>
            <a:r>
              <a:rPr lang="ko-KR" altLang="en-US" dirty="0" smtClean="0"/>
              <a:t>파생 클래스 </a:t>
            </a:r>
            <a:r>
              <a:rPr lang="ko-KR" altLang="en-US" dirty="0" err="1" smtClean="0"/>
              <a:t>생성자</a:t>
            </a:r>
            <a:r>
              <a:rPr lang="ko-KR" altLang="en-US" dirty="0" smtClean="0"/>
              <a:t> 정의</a:t>
            </a:r>
            <a:endParaRPr lang="en-US" altLang="ko-KR" dirty="0" smtClean="0"/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4" name="포인트가 5개인 별 3"/>
          <p:cNvSpPr/>
          <p:nvPr/>
        </p:nvSpPr>
        <p:spPr>
          <a:xfrm>
            <a:off x="8172400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95536" y="4365104"/>
            <a:ext cx="5688631" cy="17281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79850" y="3429000"/>
            <a:ext cx="6180382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72981" y="1412776"/>
            <a:ext cx="3097060" cy="64807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14546" y="4437112"/>
            <a:ext cx="5497613" cy="57606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91044" y="5085184"/>
            <a:ext cx="5497613" cy="93610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72981" y="2132856"/>
            <a:ext cx="3018899" cy="2880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4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파생클래스에서 기반 클래스 </a:t>
            </a:r>
            <a:r>
              <a:rPr lang="ko-KR" altLang="en-US" dirty="0" err="1"/>
              <a:t>생성자</a:t>
            </a:r>
            <a:r>
              <a:rPr lang="ko-KR" altLang="en-US" dirty="0"/>
              <a:t> 호출</a:t>
            </a:r>
            <a:r>
              <a:rPr lang="en-US" altLang="ko-KR" dirty="0"/>
              <a:t>1</a:t>
            </a:r>
          </a:p>
          <a:p>
            <a:endParaRPr lang="ko-KR" altLang="en-US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548" y="4077072"/>
            <a:ext cx="21717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60848"/>
            <a:ext cx="188595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975908"/>
            <a:ext cx="2160240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177998" y="3866071"/>
            <a:ext cx="1585689" cy="445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933" y="2120230"/>
            <a:ext cx="250507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2099498" y="4089673"/>
            <a:ext cx="2472502" cy="12835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145539" y="4311722"/>
            <a:ext cx="986302" cy="222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908957" y="314096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기반 클래스 </a:t>
            </a:r>
            <a:r>
              <a:rPr lang="ko-KR" altLang="en-US" dirty="0" err="1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생성자</a:t>
            </a:r>
            <a:r>
              <a:rPr lang="ko-KR" altLang="en-US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호출</a:t>
            </a:r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3121461" y="3510300"/>
            <a:ext cx="2242627" cy="93507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4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파생클래스에서 기반 클래스 </a:t>
            </a:r>
            <a:r>
              <a:rPr lang="ko-KR" altLang="en-US" dirty="0" err="1"/>
              <a:t>생성자</a:t>
            </a:r>
            <a:r>
              <a:rPr lang="ko-KR" altLang="en-US" dirty="0"/>
              <a:t> </a:t>
            </a:r>
            <a:r>
              <a:rPr lang="ko-KR" altLang="en-US" dirty="0" smtClean="0"/>
              <a:t>호출</a:t>
            </a:r>
            <a:r>
              <a:rPr lang="en-US" altLang="ko-KR" dirty="0" smtClean="0"/>
              <a:t>2</a:t>
            </a:r>
          </a:p>
          <a:p>
            <a:endParaRPr lang="en-US" altLang="ko-KR" dirty="0"/>
          </a:p>
          <a:p>
            <a:r>
              <a:rPr lang="ko-KR" altLang="en-US" dirty="0" err="1" smtClean="0"/>
              <a:t>생성자는</a:t>
            </a:r>
            <a:r>
              <a:rPr lang="ko-KR" altLang="en-US" dirty="0" smtClean="0"/>
              <a:t> 오버로딩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오버라이딩</a:t>
            </a:r>
            <a:r>
              <a:rPr lang="ko-KR" altLang="en-US" dirty="0" smtClean="0"/>
              <a:t> 가능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기반 클래스의 생성자가 </a:t>
            </a:r>
            <a:r>
              <a:rPr lang="ko-KR" altLang="en-US" dirty="0" err="1" smtClean="0"/>
              <a:t>오버로딩된</a:t>
            </a:r>
            <a:r>
              <a:rPr lang="ko-KR" altLang="en-US" dirty="0" smtClean="0"/>
              <a:t> 경우 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ko-KR" altLang="en-US" dirty="0" smtClean="0"/>
              <a:t>파생 클래스의 머리 부분에서 실행을 원하는 </a:t>
            </a:r>
            <a:r>
              <a:rPr lang="ko-KR" altLang="en-US" dirty="0" err="1" smtClean="0"/>
              <a:t>생성자</a:t>
            </a:r>
            <a:r>
              <a:rPr lang="ko-KR" altLang="en-US" dirty="0" smtClean="0"/>
              <a:t> 호출 가능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포인트가 5개인 별 3"/>
          <p:cNvSpPr/>
          <p:nvPr/>
        </p:nvSpPr>
        <p:spPr>
          <a:xfrm>
            <a:off x="8172400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4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64704"/>
            <a:ext cx="4114800" cy="5361459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#</a:t>
            </a:r>
            <a:r>
              <a:rPr lang="en-US" altLang="ko-KR" dirty="0" err="1"/>
              <a:t>ifndef</a:t>
            </a:r>
            <a:r>
              <a:rPr lang="en-US" altLang="ko-KR" dirty="0"/>
              <a:t> _PERSON_H_</a:t>
            </a:r>
          </a:p>
          <a:p>
            <a:r>
              <a:rPr lang="en-US" altLang="ko-KR" dirty="0"/>
              <a:t>#define _PERSON_H_</a:t>
            </a:r>
          </a:p>
          <a:p>
            <a:endParaRPr lang="ko-KR" altLang="en-US" dirty="0"/>
          </a:p>
          <a:p>
            <a:r>
              <a:rPr lang="en-US" altLang="ko-KR" dirty="0"/>
              <a:t>#include "</a:t>
            </a:r>
            <a:r>
              <a:rPr lang="en-US" altLang="ko-KR" dirty="0" err="1"/>
              <a:t>iostream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#include "string"</a:t>
            </a:r>
          </a:p>
          <a:p>
            <a:r>
              <a:rPr lang="en-US" altLang="ko-KR" dirty="0"/>
              <a:t>#include "</a:t>
            </a:r>
            <a:r>
              <a:rPr lang="en-US" altLang="ko-KR" dirty="0" err="1"/>
              <a:t>fstream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using namespace </a:t>
            </a:r>
            <a:r>
              <a:rPr lang="en-US" altLang="ko-KR" dirty="0" err="1"/>
              <a:t>std</a:t>
            </a:r>
            <a:r>
              <a:rPr lang="en-US" altLang="ko-KR" dirty="0"/>
              <a:t>;</a:t>
            </a:r>
          </a:p>
          <a:p>
            <a:endParaRPr lang="ko-KR" altLang="en-US" dirty="0"/>
          </a:p>
          <a:p>
            <a:r>
              <a:rPr lang="en-US" altLang="ko-KR" dirty="0"/>
              <a:t>class Person{</a:t>
            </a:r>
          </a:p>
          <a:p>
            <a:r>
              <a:rPr lang="en-US" altLang="ko-KR" dirty="0"/>
              <a:t>	string name;</a:t>
            </a:r>
          </a:p>
          <a:p>
            <a:r>
              <a:rPr lang="en-US" altLang="ko-KR" dirty="0"/>
              <a:t>	string </a:t>
            </a:r>
            <a:r>
              <a:rPr lang="en-US" altLang="ko-KR" dirty="0" err="1"/>
              <a:t>addr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string </a:t>
            </a:r>
            <a:r>
              <a:rPr lang="en-US" altLang="ko-KR" dirty="0" err="1"/>
              <a:t>tel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public:</a:t>
            </a:r>
          </a:p>
          <a:p>
            <a:r>
              <a:rPr lang="en-US" altLang="ko-KR" dirty="0"/>
              <a:t>	Person();</a:t>
            </a:r>
          </a:p>
          <a:p>
            <a:r>
              <a:rPr lang="en-US" altLang="ko-KR" dirty="0"/>
              <a:t>	Person(</a:t>
            </a:r>
            <a:r>
              <a:rPr lang="en-US" altLang="ko-KR" dirty="0" err="1"/>
              <a:t>const</a:t>
            </a:r>
            <a:r>
              <a:rPr lang="en-US" altLang="ko-KR" dirty="0"/>
              <a:t> string name, </a:t>
            </a:r>
            <a:r>
              <a:rPr lang="en-US" altLang="ko-KR" dirty="0" err="1"/>
              <a:t>const</a:t>
            </a:r>
            <a:r>
              <a:rPr lang="en-US" altLang="ko-KR" dirty="0"/>
              <a:t> string </a:t>
            </a:r>
            <a:r>
              <a:rPr lang="en-US" altLang="ko-KR" dirty="0" err="1"/>
              <a:t>addr</a:t>
            </a:r>
            <a:r>
              <a:rPr lang="en-US" altLang="ko-KR" dirty="0"/>
              <a:t>, </a:t>
            </a:r>
            <a:r>
              <a:rPr lang="en-US" altLang="ko-KR" dirty="0" err="1"/>
              <a:t>const</a:t>
            </a:r>
            <a:r>
              <a:rPr lang="en-US" altLang="ko-KR" dirty="0"/>
              <a:t> string </a:t>
            </a:r>
            <a:r>
              <a:rPr lang="en-US" altLang="ko-KR" dirty="0" err="1"/>
              <a:t>tel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void </a:t>
            </a:r>
            <a:r>
              <a:rPr lang="en-US" altLang="ko-KR" dirty="0" err="1"/>
              <a:t>SetVar</a:t>
            </a:r>
            <a:r>
              <a:rPr lang="en-US" altLang="ko-KR" dirty="0"/>
              <a:t>(</a:t>
            </a:r>
            <a:r>
              <a:rPr lang="en-US" altLang="ko-KR" dirty="0" err="1"/>
              <a:t>const</a:t>
            </a:r>
            <a:r>
              <a:rPr lang="en-US" altLang="ko-KR" dirty="0"/>
              <a:t> string name, </a:t>
            </a:r>
            <a:r>
              <a:rPr lang="en-US" altLang="ko-KR" dirty="0" err="1"/>
              <a:t>const</a:t>
            </a:r>
            <a:r>
              <a:rPr lang="en-US" altLang="ko-KR" dirty="0"/>
              <a:t> string </a:t>
            </a:r>
            <a:r>
              <a:rPr lang="en-US" altLang="ko-KR" dirty="0" err="1"/>
              <a:t>addr</a:t>
            </a:r>
            <a:r>
              <a:rPr lang="en-US" altLang="ko-KR" dirty="0"/>
              <a:t>, </a:t>
            </a:r>
            <a:r>
              <a:rPr lang="en-US" altLang="ko-KR" dirty="0" err="1"/>
              <a:t>const</a:t>
            </a:r>
            <a:r>
              <a:rPr lang="en-US" altLang="ko-KR" dirty="0"/>
              <a:t> string </a:t>
            </a:r>
            <a:r>
              <a:rPr lang="en-US" altLang="ko-KR" dirty="0" err="1"/>
              <a:t>tel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string </a:t>
            </a:r>
            <a:r>
              <a:rPr lang="en-US" altLang="ko-KR" dirty="0" err="1"/>
              <a:t>GetName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string </a:t>
            </a:r>
            <a:r>
              <a:rPr lang="en-US" altLang="ko-KR" dirty="0" err="1"/>
              <a:t>GetAddr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string </a:t>
            </a:r>
            <a:r>
              <a:rPr lang="en-US" altLang="ko-KR" dirty="0" err="1"/>
              <a:t>GetPhoneNum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};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518720" y="764704"/>
            <a:ext cx="4114800" cy="536145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class Student : public Person{</a:t>
            </a:r>
          </a:p>
          <a:p>
            <a:r>
              <a:rPr lang="en-US" altLang="ko-KR" dirty="0"/>
              <a:t>	double score[3];</a:t>
            </a:r>
          </a:p>
          <a:p>
            <a:r>
              <a:rPr lang="en-US" altLang="ko-KR" dirty="0"/>
              <a:t>	double tot;</a:t>
            </a:r>
          </a:p>
          <a:p>
            <a:r>
              <a:rPr lang="en-US" altLang="ko-KR" dirty="0"/>
              <a:t>	double aver;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int</a:t>
            </a:r>
            <a:r>
              <a:rPr lang="en-US" altLang="ko-KR" dirty="0"/>
              <a:t> rank;</a:t>
            </a:r>
          </a:p>
          <a:p>
            <a:r>
              <a:rPr lang="en-US" altLang="ko-KR" dirty="0"/>
              <a:t>public:</a:t>
            </a:r>
          </a:p>
          <a:p>
            <a:r>
              <a:rPr lang="en-US" altLang="ko-KR" dirty="0"/>
              <a:t>	Student();</a:t>
            </a:r>
          </a:p>
          <a:p>
            <a:r>
              <a:rPr lang="en-US" altLang="ko-KR" dirty="0"/>
              <a:t>	Student(</a:t>
            </a:r>
            <a:r>
              <a:rPr lang="en-US" altLang="ko-KR" dirty="0" err="1"/>
              <a:t>const</a:t>
            </a:r>
            <a:r>
              <a:rPr lang="en-US" altLang="ko-KR" dirty="0"/>
              <a:t> string name, </a:t>
            </a:r>
            <a:r>
              <a:rPr lang="en-US" altLang="ko-KR" dirty="0" err="1"/>
              <a:t>const</a:t>
            </a:r>
            <a:r>
              <a:rPr lang="en-US" altLang="ko-KR" dirty="0"/>
              <a:t> string </a:t>
            </a:r>
            <a:r>
              <a:rPr lang="en-US" altLang="ko-KR" dirty="0" err="1"/>
              <a:t>addr</a:t>
            </a:r>
            <a:r>
              <a:rPr lang="en-US" altLang="ko-KR" dirty="0"/>
              <a:t>, </a:t>
            </a:r>
            <a:r>
              <a:rPr lang="en-US" altLang="ko-KR" dirty="0" err="1"/>
              <a:t>const</a:t>
            </a:r>
            <a:r>
              <a:rPr lang="en-US" altLang="ko-KR" dirty="0"/>
              <a:t> string </a:t>
            </a:r>
            <a:r>
              <a:rPr lang="en-US" altLang="ko-KR" dirty="0" err="1"/>
              <a:t>tel</a:t>
            </a:r>
            <a:r>
              <a:rPr lang="en-US" altLang="ko-KR" dirty="0"/>
              <a:t>, </a:t>
            </a:r>
            <a:r>
              <a:rPr lang="en-US" altLang="ko-KR" dirty="0" err="1"/>
              <a:t>const</a:t>
            </a:r>
            <a:r>
              <a:rPr lang="en-US" altLang="ko-KR" dirty="0"/>
              <a:t> double </a:t>
            </a:r>
            <a:r>
              <a:rPr lang="en-US" altLang="ko-KR" dirty="0" err="1"/>
              <a:t>kor</a:t>
            </a:r>
            <a:r>
              <a:rPr lang="en-US" altLang="ko-KR" dirty="0"/>
              <a:t>, </a:t>
            </a:r>
            <a:r>
              <a:rPr lang="en-US" altLang="ko-KR" dirty="0" err="1"/>
              <a:t>const</a:t>
            </a:r>
            <a:r>
              <a:rPr lang="en-US" altLang="ko-KR" dirty="0"/>
              <a:t> double  </a:t>
            </a:r>
            <a:r>
              <a:rPr lang="en-US" altLang="ko-KR" dirty="0" err="1"/>
              <a:t>mus</a:t>
            </a:r>
            <a:r>
              <a:rPr lang="en-US" altLang="ko-KR" dirty="0"/>
              <a:t>, </a:t>
            </a:r>
            <a:r>
              <a:rPr lang="en-US" altLang="ko-KR" dirty="0" err="1"/>
              <a:t>const</a:t>
            </a:r>
            <a:r>
              <a:rPr lang="en-US" altLang="ko-KR" dirty="0"/>
              <a:t> double art);</a:t>
            </a:r>
          </a:p>
          <a:p>
            <a:r>
              <a:rPr lang="en-US" altLang="ko-KR" dirty="0"/>
              <a:t>	void </a:t>
            </a:r>
            <a:r>
              <a:rPr lang="en-US" altLang="ko-KR" dirty="0" err="1"/>
              <a:t>SetScore</a:t>
            </a:r>
            <a:r>
              <a:rPr lang="en-US" altLang="ko-KR" dirty="0"/>
              <a:t>(</a:t>
            </a:r>
            <a:r>
              <a:rPr lang="en-US" altLang="ko-KR" dirty="0" err="1"/>
              <a:t>const</a:t>
            </a:r>
            <a:r>
              <a:rPr lang="en-US" altLang="ko-KR" dirty="0"/>
              <a:t> double </a:t>
            </a:r>
            <a:r>
              <a:rPr lang="en-US" altLang="ko-KR" dirty="0" err="1"/>
              <a:t>kor</a:t>
            </a:r>
            <a:r>
              <a:rPr lang="en-US" altLang="ko-KR" dirty="0"/>
              <a:t>, </a:t>
            </a:r>
            <a:r>
              <a:rPr lang="en-US" altLang="ko-KR" dirty="0" err="1"/>
              <a:t>const</a:t>
            </a:r>
            <a:r>
              <a:rPr lang="en-US" altLang="ko-KR" dirty="0"/>
              <a:t> double </a:t>
            </a:r>
            <a:r>
              <a:rPr lang="en-US" altLang="ko-KR" dirty="0" err="1"/>
              <a:t>mus</a:t>
            </a:r>
            <a:r>
              <a:rPr lang="en-US" altLang="ko-KR" dirty="0"/>
              <a:t>, </a:t>
            </a:r>
            <a:r>
              <a:rPr lang="en-US" altLang="ko-KR" dirty="0" err="1"/>
              <a:t>const</a:t>
            </a:r>
            <a:r>
              <a:rPr lang="en-US" altLang="ko-KR" dirty="0"/>
              <a:t> double art);</a:t>
            </a:r>
          </a:p>
          <a:p>
            <a:r>
              <a:rPr lang="en-US" altLang="ko-KR" dirty="0"/>
              <a:t>	void </a:t>
            </a:r>
            <a:r>
              <a:rPr lang="en-US" altLang="ko-KR" dirty="0" err="1"/>
              <a:t>CalTot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void </a:t>
            </a:r>
            <a:r>
              <a:rPr lang="en-US" altLang="ko-KR" dirty="0" err="1"/>
              <a:t>CalAver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void  </a:t>
            </a:r>
            <a:r>
              <a:rPr lang="en-US" altLang="ko-KR" dirty="0" err="1"/>
              <a:t>GetScore</a:t>
            </a:r>
            <a:r>
              <a:rPr lang="en-US" altLang="ko-KR" dirty="0"/>
              <a:t>(double* s1, double* s2, double* s3);</a:t>
            </a:r>
          </a:p>
          <a:p>
            <a:r>
              <a:rPr lang="en-US" altLang="ko-KR" dirty="0"/>
              <a:t>	double </a:t>
            </a:r>
            <a:r>
              <a:rPr lang="en-US" altLang="ko-KR" dirty="0" err="1"/>
              <a:t>GetTot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double </a:t>
            </a:r>
            <a:r>
              <a:rPr lang="en-US" altLang="ko-KR" dirty="0" err="1"/>
              <a:t>GetAver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};</a:t>
            </a:r>
          </a:p>
          <a:p>
            <a:endParaRPr lang="ko-KR" altLang="en-US" dirty="0"/>
          </a:p>
          <a:p>
            <a:r>
              <a:rPr lang="en-US" altLang="ko-KR" dirty="0"/>
              <a:t>#else</a:t>
            </a:r>
          </a:p>
          <a:p>
            <a:r>
              <a:rPr lang="en-US" altLang="ko-KR" dirty="0"/>
              <a:t>#</a:t>
            </a:r>
            <a:r>
              <a:rPr lang="en-US" altLang="ko-KR" dirty="0" err="1"/>
              <a:t>endif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14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64704"/>
            <a:ext cx="4114800" cy="5361459"/>
          </a:xfrm>
        </p:spPr>
        <p:txBody>
          <a:bodyPr>
            <a:noAutofit/>
          </a:bodyPr>
          <a:lstStyle/>
          <a:p>
            <a:r>
              <a:rPr lang="en-US" altLang="ko-KR" sz="1100" dirty="0"/>
              <a:t>#include "ch11_person.h"</a:t>
            </a:r>
          </a:p>
          <a:p>
            <a:endParaRPr lang="ko-KR" altLang="en-US" sz="1100" dirty="0"/>
          </a:p>
          <a:p>
            <a:r>
              <a:rPr lang="en-US" altLang="ko-KR" sz="1100" dirty="0"/>
              <a:t>Person::Person(){</a:t>
            </a:r>
          </a:p>
          <a:p>
            <a:r>
              <a:rPr lang="en-US" altLang="ko-KR" sz="1100" dirty="0"/>
              <a:t>	name = " ";</a:t>
            </a:r>
          </a:p>
          <a:p>
            <a:r>
              <a:rPr lang="en-US" altLang="ko-KR" sz="1100" dirty="0"/>
              <a:t>	</a:t>
            </a:r>
            <a:r>
              <a:rPr lang="en-US" altLang="ko-KR" sz="1100" dirty="0" err="1"/>
              <a:t>addr</a:t>
            </a:r>
            <a:r>
              <a:rPr lang="en-US" altLang="ko-KR" sz="1100" dirty="0"/>
              <a:t> = " ";</a:t>
            </a:r>
          </a:p>
          <a:p>
            <a:r>
              <a:rPr lang="en-US" altLang="ko-KR" sz="1100" dirty="0"/>
              <a:t>	</a:t>
            </a:r>
            <a:r>
              <a:rPr lang="en-US" altLang="ko-KR" sz="1100" dirty="0" err="1"/>
              <a:t>tel</a:t>
            </a:r>
            <a:r>
              <a:rPr lang="en-US" altLang="ko-KR" sz="1100" dirty="0"/>
              <a:t> = " ";</a:t>
            </a:r>
          </a:p>
          <a:p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Person::Person(</a:t>
            </a:r>
            <a:r>
              <a:rPr lang="en-US" altLang="ko-KR" sz="1100" dirty="0" err="1"/>
              <a:t>const</a:t>
            </a:r>
            <a:r>
              <a:rPr lang="en-US" altLang="ko-KR" sz="1100" dirty="0"/>
              <a:t> string name, </a:t>
            </a:r>
            <a:r>
              <a:rPr lang="en-US" altLang="ko-KR" sz="1100" dirty="0" err="1"/>
              <a:t>const</a:t>
            </a:r>
            <a:r>
              <a:rPr lang="en-US" altLang="ko-KR" sz="1100" dirty="0"/>
              <a:t> string </a:t>
            </a:r>
            <a:r>
              <a:rPr lang="en-US" altLang="ko-KR" sz="1100" dirty="0" err="1"/>
              <a:t>addr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const</a:t>
            </a:r>
            <a:r>
              <a:rPr lang="en-US" altLang="ko-KR" sz="1100" dirty="0"/>
              <a:t> string </a:t>
            </a:r>
            <a:r>
              <a:rPr lang="en-US" altLang="ko-KR" sz="1100" dirty="0" err="1"/>
              <a:t>tel</a:t>
            </a:r>
            <a:r>
              <a:rPr lang="en-US" altLang="ko-KR" sz="1100" dirty="0"/>
              <a:t>){</a:t>
            </a:r>
          </a:p>
          <a:p>
            <a:r>
              <a:rPr lang="en-US" altLang="ko-KR" sz="1100" dirty="0"/>
              <a:t>	this-&gt;name = name;</a:t>
            </a:r>
          </a:p>
          <a:p>
            <a:r>
              <a:rPr lang="en-US" altLang="ko-KR" sz="1100" dirty="0"/>
              <a:t>	this-&gt;</a:t>
            </a:r>
            <a:r>
              <a:rPr lang="en-US" altLang="ko-KR" sz="1100" dirty="0" err="1"/>
              <a:t>addr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addr</a:t>
            </a:r>
            <a:r>
              <a:rPr lang="en-US" altLang="ko-KR" sz="1100" dirty="0"/>
              <a:t>;</a:t>
            </a:r>
          </a:p>
          <a:p>
            <a:r>
              <a:rPr lang="en-US" altLang="ko-KR" sz="1100" dirty="0"/>
              <a:t>	this-&gt;</a:t>
            </a:r>
            <a:r>
              <a:rPr lang="en-US" altLang="ko-KR" sz="1100" dirty="0" err="1"/>
              <a:t>tel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tel</a:t>
            </a:r>
            <a:r>
              <a:rPr lang="en-US" altLang="ko-KR" sz="1100" dirty="0"/>
              <a:t>;</a:t>
            </a:r>
          </a:p>
          <a:p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void Person::</a:t>
            </a:r>
            <a:r>
              <a:rPr lang="en-US" altLang="ko-KR" sz="1100" dirty="0" err="1"/>
              <a:t>SetVar</a:t>
            </a:r>
            <a:r>
              <a:rPr lang="en-US" altLang="ko-KR" sz="1100" dirty="0"/>
              <a:t>(</a:t>
            </a:r>
            <a:r>
              <a:rPr lang="en-US" altLang="ko-KR" sz="1100" dirty="0" err="1"/>
              <a:t>const</a:t>
            </a:r>
            <a:r>
              <a:rPr lang="en-US" altLang="ko-KR" sz="1100" dirty="0"/>
              <a:t> string name, </a:t>
            </a:r>
            <a:r>
              <a:rPr lang="en-US" altLang="ko-KR" sz="1100" dirty="0" err="1"/>
              <a:t>const</a:t>
            </a:r>
            <a:r>
              <a:rPr lang="en-US" altLang="ko-KR" sz="1100" dirty="0"/>
              <a:t> string </a:t>
            </a:r>
            <a:r>
              <a:rPr lang="en-US" altLang="ko-KR" sz="1100" dirty="0" err="1"/>
              <a:t>addr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const</a:t>
            </a:r>
            <a:r>
              <a:rPr lang="en-US" altLang="ko-KR" sz="1100" dirty="0"/>
              <a:t> string </a:t>
            </a:r>
            <a:r>
              <a:rPr lang="en-US" altLang="ko-KR" sz="1100" dirty="0" err="1"/>
              <a:t>tel</a:t>
            </a:r>
            <a:r>
              <a:rPr lang="en-US" altLang="ko-KR" sz="1100" dirty="0"/>
              <a:t>){</a:t>
            </a:r>
          </a:p>
          <a:p>
            <a:r>
              <a:rPr lang="en-US" altLang="ko-KR" sz="1100" dirty="0"/>
              <a:t>	this-&gt;name = name;</a:t>
            </a:r>
          </a:p>
          <a:p>
            <a:r>
              <a:rPr lang="en-US" altLang="ko-KR" sz="1100" dirty="0"/>
              <a:t>	this-&gt;</a:t>
            </a:r>
            <a:r>
              <a:rPr lang="en-US" altLang="ko-KR" sz="1100" dirty="0" err="1"/>
              <a:t>addr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addr</a:t>
            </a:r>
            <a:r>
              <a:rPr lang="en-US" altLang="ko-KR" sz="1100" dirty="0"/>
              <a:t>;</a:t>
            </a:r>
          </a:p>
          <a:p>
            <a:r>
              <a:rPr lang="en-US" altLang="ko-KR" sz="1100" dirty="0"/>
              <a:t>	this-&gt;</a:t>
            </a:r>
            <a:r>
              <a:rPr lang="en-US" altLang="ko-KR" sz="1100" dirty="0" err="1"/>
              <a:t>tel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tel</a:t>
            </a:r>
            <a:r>
              <a:rPr lang="en-US" altLang="ko-KR" sz="1100" dirty="0"/>
              <a:t>;</a:t>
            </a:r>
          </a:p>
          <a:p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string Person::</a:t>
            </a:r>
            <a:r>
              <a:rPr lang="en-US" altLang="ko-KR" sz="1100" dirty="0" err="1"/>
              <a:t>GetName</a:t>
            </a:r>
            <a:r>
              <a:rPr lang="en-US" altLang="ko-KR" sz="1100" dirty="0"/>
              <a:t>(){</a:t>
            </a:r>
          </a:p>
          <a:p>
            <a:r>
              <a:rPr lang="en-US" altLang="ko-KR" sz="1100" dirty="0"/>
              <a:t>	return name;</a:t>
            </a:r>
          </a:p>
          <a:p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string Person::</a:t>
            </a:r>
            <a:r>
              <a:rPr lang="en-US" altLang="ko-KR" sz="1100" dirty="0" err="1"/>
              <a:t>GetAddr</a:t>
            </a:r>
            <a:r>
              <a:rPr lang="en-US" altLang="ko-KR" sz="1100" dirty="0"/>
              <a:t>(){</a:t>
            </a:r>
          </a:p>
          <a:p>
            <a:r>
              <a:rPr lang="en-US" altLang="ko-KR" sz="1100" dirty="0"/>
              <a:t>	return </a:t>
            </a:r>
            <a:r>
              <a:rPr lang="en-US" altLang="ko-KR" sz="1100" dirty="0" err="1"/>
              <a:t>addr</a:t>
            </a:r>
            <a:r>
              <a:rPr lang="en-US" altLang="ko-KR" sz="1100" dirty="0"/>
              <a:t>;</a:t>
            </a:r>
          </a:p>
          <a:p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string Person::</a:t>
            </a:r>
            <a:r>
              <a:rPr lang="en-US" altLang="ko-KR" sz="1100" dirty="0" err="1"/>
              <a:t>GetPhoneNum</a:t>
            </a:r>
            <a:r>
              <a:rPr lang="en-US" altLang="ko-KR" sz="1100" dirty="0"/>
              <a:t>(){</a:t>
            </a:r>
          </a:p>
          <a:p>
            <a:r>
              <a:rPr lang="en-US" altLang="ko-KR" sz="1100" dirty="0"/>
              <a:t>	return </a:t>
            </a:r>
            <a:r>
              <a:rPr lang="en-US" altLang="ko-KR" sz="1100" dirty="0" err="1"/>
              <a:t>tel</a:t>
            </a:r>
            <a:r>
              <a:rPr lang="en-US" altLang="ko-KR" sz="1100" dirty="0"/>
              <a:t>;</a:t>
            </a:r>
          </a:p>
          <a:p>
            <a:r>
              <a:rPr lang="en-US" altLang="ko-KR" sz="1100" dirty="0"/>
              <a:t>}</a:t>
            </a:r>
            <a:endParaRPr lang="ko-KR" altLang="en-US" sz="1100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518720" y="764704"/>
            <a:ext cx="4114800" cy="53614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Student::Student(){</a:t>
            </a:r>
          </a:p>
          <a:p>
            <a:r>
              <a:rPr lang="en-US" altLang="ko-KR" sz="900" dirty="0"/>
              <a:t>	score[0] = score[1] = score[2] = 0;</a:t>
            </a:r>
          </a:p>
          <a:p>
            <a:r>
              <a:rPr lang="en-US" altLang="ko-KR" sz="900" dirty="0"/>
              <a:t>	tot = 0;</a:t>
            </a:r>
          </a:p>
          <a:p>
            <a:r>
              <a:rPr lang="en-US" altLang="ko-KR" sz="900" dirty="0"/>
              <a:t>	aver = 0;</a:t>
            </a:r>
          </a:p>
          <a:p>
            <a:r>
              <a:rPr lang="en-US" altLang="ko-KR" sz="900" dirty="0"/>
              <a:t>}</a:t>
            </a:r>
          </a:p>
          <a:p>
            <a:r>
              <a:rPr lang="en-US" altLang="ko-KR" sz="900" dirty="0"/>
              <a:t>Student::Student(</a:t>
            </a:r>
            <a:r>
              <a:rPr lang="en-US" altLang="ko-KR" sz="900" dirty="0" err="1"/>
              <a:t>const</a:t>
            </a:r>
            <a:r>
              <a:rPr lang="en-US" altLang="ko-KR" sz="900" dirty="0"/>
              <a:t> string name, </a:t>
            </a:r>
            <a:r>
              <a:rPr lang="en-US" altLang="ko-KR" sz="900" dirty="0" err="1"/>
              <a:t>const</a:t>
            </a:r>
            <a:r>
              <a:rPr lang="en-US" altLang="ko-KR" sz="900" dirty="0"/>
              <a:t> string </a:t>
            </a:r>
            <a:r>
              <a:rPr lang="en-US" altLang="ko-KR" sz="900" dirty="0" err="1"/>
              <a:t>addr</a:t>
            </a:r>
            <a:r>
              <a:rPr lang="en-US" altLang="ko-KR" sz="900" dirty="0"/>
              <a:t>, </a:t>
            </a:r>
            <a:r>
              <a:rPr lang="en-US" altLang="ko-KR" sz="900" dirty="0" err="1"/>
              <a:t>const</a:t>
            </a:r>
            <a:r>
              <a:rPr lang="en-US" altLang="ko-KR" sz="900" dirty="0"/>
              <a:t> string </a:t>
            </a:r>
            <a:r>
              <a:rPr lang="en-US" altLang="ko-KR" sz="900" dirty="0" err="1"/>
              <a:t>tel</a:t>
            </a:r>
            <a:r>
              <a:rPr lang="en-US" altLang="ko-KR" sz="900" dirty="0"/>
              <a:t>, </a:t>
            </a:r>
            <a:r>
              <a:rPr lang="en-US" altLang="ko-KR" sz="900" dirty="0" err="1"/>
              <a:t>const</a:t>
            </a:r>
            <a:r>
              <a:rPr lang="en-US" altLang="ko-KR" sz="900" dirty="0"/>
              <a:t> double </a:t>
            </a:r>
            <a:r>
              <a:rPr lang="en-US" altLang="ko-KR" sz="900" dirty="0" err="1"/>
              <a:t>kor</a:t>
            </a:r>
            <a:r>
              <a:rPr lang="en-US" altLang="ko-KR" sz="900" dirty="0"/>
              <a:t>, </a:t>
            </a:r>
            <a:r>
              <a:rPr lang="en-US" altLang="ko-KR" sz="900" dirty="0" err="1"/>
              <a:t>const</a:t>
            </a:r>
            <a:r>
              <a:rPr lang="en-US" altLang="ko-KR" sz="900" dirty="0"/>
              <a:t> double </a:t>
            </a:r>
            <a:r>
              <a:rPr lang="en-US" altLang="ko-KR" sz="900" dirty="0" err="1"/>
              <a:t>mus</a:t>
            </a:r>
            <a:r>
              <a:rPr lang="en-US" altLang="ko-KR" sz="900" dirty="0"/>
              <a:t>, </a:t>
            </a:r>
            <a:r>
              <a:rPr lang="en-US" altLang="ko-KR" sz="900" dirty="0" err="1"/>
              <a:t>const</a:t>
            </a:r>
            <a:r>
              <a:rPr lang="en-US" altLang="ko-KR" sz="900" dirty="0"/>
              <a:t> double art)</a:t>
            </a:r>
          </a:p>
          <a:p>
            <a:r>
              <a:rPr lang="en-US" altLang="ko-KR" sz="900" dirty="0"/>
              <a:t>: Person(name, </a:t>
            </a:r>
            <a:r>
              <a:rPr lang="en-US" altLang="ko-KR" sz="900" dirty="0" err="1"/>
              <a:t>addr</a:t>
            </a:r>
            <a:r>
              <a:rPr lang="en-US" altLang="ko-KR" sz="900" dirty="0"/>
              <a:t>, </a:t>
            </a:r>
            <a:r>
              <a:rPr lang="en-US" altLang="ko-KR" sz="900" dirty="0" err="1"/>
              <a:t>tel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{</a:t>
            </a:r>
          </a:p>
          <a:p>
            <a:r>
              <a:rPr lang="en-US" altLang="ko-KR" sz="900" dirty="0"/>
              <a:t>	score[0] = </a:t>
            </a:r>
            <a:r>
              <a:rPr lang="en-US" altLang="ko-KR" sz="900" dirty="0" err="1"/>
              <a:t>kor</a:t>
            </a:r>
            <a:r>
              <a:rPr lang="en-US" altLang="ko-KR" sz="900" dirty="0"/>
              <a:t>;</a:t>
            </a:r>
          </a:p>
          <a:p>
            <a:r>
              <a:rPr lang="en-US" altLang="ko-KR" sz="900" dirty="0"/>
              <a:t>	score[1] = </a:t>
            </a:r>
            <a:r>
              <a:rPr lang="en-US" altLang="ko-KR" sz="900" dirty="0" err="1"/>
              <a:t>mus</a:t>
            </a:r>
            <a:r>
              <a:rPr lang="en-US" altLang="ko-KR" sz="900" dirty="0"/>
              <a:t>;</a:t>
            </a:r>
          </a:p>
          <a:p>
            <a:r>
              <a:rPr lang="en-US" altLang="ko-KR" sz="900" dirty="0"/>
              <a:t>	score[2] = art;</a:t>
            </a:r>
          </a:p>
          <a:p>
            <a:r>
              <a:rPr lang="en-US" altLang="ko-KR" sz="900" dirty="0"/>
              <a:t>}</a:t>
            </a:r>
          </a:p>
          <a:p>
            <a:r>
              <a:rPr lang="en-US" altLang="ko-KR" sz="900" dirty="0"/>
              <a:t>void Student::</a:t>
            </a:r>
            <a:r>
              <a:rPr lang="en-US" altLang="ko-KR" sz="900" dirty="0" err="1"/>
              <a:t>SetScore</a:t>
            </a:r>
            <a:r>
              <a:rPr lang="en-US" altLang="ko-KR" sz="900" dirty="0"/>
              <a:t>(</a:t>
            </a:r>
            <a:r>
              <a:rPr lang="en-US" altLang="ko-KR" sz="900" dirty="0" err="1"/>
              <a:t>const</a:t>
            </a:r>
            <a:r>
              <a:rPr lang="en-US" altLang="ko-KR" sz="900" dirty="0"/>
              <a:t> double </a:t>
            </a:r>
            <a:r>
              <a:rPr lang="en-US" altLang="ko-KR" sz="900" dirty="0" err="1"/>
              <a:t>kor</a:t>
            </a:r>
            <a:r>
              <a:rPr lang="en-US" altLang="ko-KR" sz="900" dirty="0"/>
              <a:t>, </a:t>
            </a:r>
            <a:r>
              <a:rPr lang="en-US" altLang="ko-KR" sz="900" dirty="0" err="1"/>
              <a:t>const</a:t>
            </a:r>
            <a:r>
              <a:rPr lang="en-US" altLang="ko-KR" sz="900" dirty="0"/>
              <a:t> double </a:t>
            </a:r>
            <a:r>
              <a:rPr lang="en-US" altLang="ko-KR" sz="900" dirty="0" err="1"/>
              <a:t>mus</a:t>
            </a:r>
            <a:r>
              <a:rPr lang="en-US" altLang="ko-KR" sz="900" dirty="0"/>
              <a:t>, </a:t>
            </a:r>
            <a:r>
              <a:rPr lang="en-US" altLang="ko-KR" sz="900" dirty="0" err="1"/>
              <a:t>const</a:t>
            </a:r>
            <a:r>
              <a:rPr lang="en-US" altLang="ko-KR" sz="900" dirty="0"/>
              <a:t> double art){</a:t>
            </a:r>
          </a:p>
          <a:p>
            <a:r>
              <a:rPr lang="en-US" altLang="ko-KR" sz="900" dirty="0"/>
              <a:t>	score[0] = </a:t>
            </a:r>
            <a:r>
              <a:rPr lang="en-US" altLang="ko-KR" sz="900" dirty="0" err="1"/>
              <a:t>kor</a:t>
            </a:r>
            <a:r>
              <a:rPr lang="en-US" altLang="ko-KR" sz="900" dirty="0"/>
              <a:t>;</a:t>
            </a:r>
          </a:p>
          <a:p>
            <a:r>
              <a:rPr lang="en-US" altLang="ko-KR" sz="900" dirty="0"/>
              <a:t>	score[1] = </a:t>
            </a:r>
            <a:r>
              <a:rPr lang="en-US" altLang="ko-KR" sz="900" dirty="0" err="1"/>
              <a:t>mus</a:t>
            </a:r>
            <a:r>
              <a:rPr lang="en-US" altLang="ko-KR" sz="900" dirty="0"/>
              <a:t>;</a:t>
            </a:r>
          </a:p>
          <a:p>
            <a:r>
              <a:rPr lang="en-US" altLang="ko-KR" sz="900" dirty="0"/>
              <a:t>	score[2] = art;</a:t>
            </a:r>
          </a:p>
          <a:p>
            <a:r>
              <a:rPr lang="en-US" altLang="ko-KR" sz="900" dirty="0"/>
              <a:t>}</a:t>
            </a:r>
          </a:p>
          <a:p>
            <a:r>
              <a:rPr lang="en-US" altLang="ko-KR" sz="900" dirty="0"/>
              <a:t>void Student::</a:t>
            </a:r>
            <a:r>
              <a:rPr lang="en-US" altLang="ko-KR" sz="900" dirty="0" err="1"/>
              <a:t>CalTot</a:t>
            </a:r>
            <a:r>
              <a:rPr lang="en-US" altLang="ko-KR" sz="900" dirty="0"/>
              <a:t>(){</a:t>
            </a:r>
          </a:p>
          <a:p>
            <a:r>
              <a:rPr lang="en-US" altLang="ko-KR" sz="900" dirty="0"/>
              <a:t>		tot = score[0] + score[1] + score[2];</a:t>
            </a:r>
          </a:p>
          <a:p>
            <a:r>
              <a:rPr lang="en-US" altLang="ko-KR" sz="900" dirty="0"/>
              <a:t>}</a:t>
            </a:r>
          </a:p>
          <a:p>
            <a:r>
              <a:rPr lang="en-US" altLang="ko-KR" sz="900" dirty="0"/>
              <a:t>void Student::</a:t>
            </a:r>
            <a:r>
              <a:rPr lang="en-US" altLang="ko-KR" sz="900" dirty="0" err="1"/>
              <a:t>CalAver</a:t>
            </a:r>
            <a:r>
              <a:rPr lang="en-US" altLang="ko-KR" sz="900" dirty="0"/>
              <a:t>(){</a:t>
            </a:r>
          </a:p>
          <a:p>
            <a:r>
              <a:rPr lang="en-US" altLang="ko-KR" sz="900" dirty="0"/>
              <a:t>	aver = tot/3;</a:t>
            </a:r>
          </a:p>
          <a:p>
            <a:r>
              <a:rPr lang="en-US" altLang="ko-KR" sz="900" dirty="0"/>
              <a:t>}</a:t>
            </a:r>
          </a:p>
          <a:p>
            <a:r>
              <a:rPr lang="en-US" altLang="ko-KR" sz="900" dirty="0"/>
              <a:t>void Student::</a:t>
            </a:r>
            <a:r>
              <a:rPr lang="en-US" altLang="ko-KR" sz="900" dirty="0" err="1"/>
              <a:t>GetScore</a:t>
            </a:r>
            <a:r>
              <a:rPr lang="en-US" altLang="ko-KR" sz="900" dirty="0"/>
              <a:t>(double* s1, double* s2, double* s3){</a:t>
            </a:r>
          </a:p>
          <a:p>
            <a:r>
              <a:rPr lang="en-US" altLang="ko-KR" sz="900" dirty="0"/>
              <a:t>	*s1 = score[0];</a:t>
            </a:r>
          </a:p>
          <a:p>
            <a:r>
              <a:rPr lang="en-US" altLang="ko-KR" sz="900" dirty="0"/>
              <a:t>	*s2 = score[1];</a:t>
            </a:r>
          </a:p>
          <a:p>
            <a:r>
              <a:rPr lang="en-US" altLang="ko-KR" sz="900" dirty="0"/>
              <a:t>	*s3 = score[2];</a:t>
            </a:r>
          </a:p>
          <a:p>
            <a:r>
              <a:rPr lang="en-US" altLang="ko-KR" sz="900" dirty="0"/>
              <a:t>}</a:t>
            </a:r>
          </a:p>
          <a:p>
            <a:r>
              <a:rPr lang="en-US" altLang="ko-KR" sz="900" dirty="0"/>
              <a:t>double Student::</a:t>
            </a:r>
            <a:r>
              <a:rPr lang="en-US" altLang="ko-KR" sz="900" dirty="0" err="1"/>
              <a:t>GetTot</a:t>
            </a:r>
            <a:r>
              <a:rPr lang="en-US" altLang="ko-KR" sz="900" dirty="0"/>
              <a:t>(){</a:t>
            </a:r>
          </a:p>
          <a:p>
            <a:r>
              <a:rPr lang="en-US" altLang="ko-KR" sz="900" dirty="0"/>
              <a:t>	return tot;</a:t>
            </a:r>
          </a:p>
          <a:p>
            <a:r>
              <a:rPr lang="en-US" altLang="ko-KR" sz="900" dirty="0"/>
              <a:t>}</a:t>
            </a:r>
          </a:p>
          <a:p>
            <a:r>
              <a:rPr lang="en-US" altLang="ko-KR" sz="900" dirty="0"/>
              <a:t>double Student::</a:t>
            </a:r>
            <a:r>
              <a:rPr lang="en-US" altLang="ko-KR" sz="900" dirty="0" err="1"/>
              <a:t>GetAver</a:t>
            </a:r>
            <a:r>
              <a:rPr lang="en-US" altLang="ko-KR" sz="900" dirty="0"/>
              <a:t>(){</a:t>
            </a:r>
          </a:p>
          <a:p>
            <a:r>
              <a:rPr lang="en-US" altLang="ko-KR" sz="900" dirty="0"/>
              <a:t>	return aver;</a:t>
            </a:r>
          </a:p>
          <a:p>
            <a:r>
              <a:rPr lang="en-US" altLang="ko-KR" sz="900" dirty="0"/>
              <a:t>}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50691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64704"/>
            <a:ext cx="4114800" cy="5361459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dirty="0"/>
              <a:t>#include "string"</a:t>
            </a:r>
          </a:p>
          <a:p>
            <a:r>
              <a:rPr lang="en-US" altLang="ko-KR" dirty="0" err="1"/>
              <a:t>int</a:t>
            </a:r>
            <a:r>
              <a:rPr lang="en-US" altLang="ko-KR" dirty="0"/>
              <a:t> main(){</a:t>
            </a:r>
          </a:p>
          <a:p>
            <a:r>
              <a:rPr lang="en-US" altLang="ko-KR" dirty="0"/>
              <a:t>	string name, </a:t>
            </a:r>
            <a:r>
              <a:rPr lang="en-US" altLang="ko-KR" dirty="0" err="1"/>
              <a:t>addr</a:t>
            </a:r>
            <a:r>
              <a:rPr lang="en-US" altLang="ko-KR" dirty="0"/>
              <a:t>, </a:t>
            </a:r>
            <a:r>
              <a:rPr lang="en-US" altLang="ko-KR" dirty="0" err="1"/>
              <a:t>tel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double </a:t>
            </a:r>
            <a:r>
              <a:rPr lang="en-US" altLang="ko-KR" dirty="0" err="1"/>
              <a:t>kor</a:t>
            </a:r>
            <a:r>
              <a:rPr lang="en-US" altLang="ko-KR" dirty="0"/>
              <a:t>, </a:t>
            </a:r>
            <a:r>
              <a:rPr lang="en-US" altLang="ko-KR" dirty="0" err="1"/>
              <a:t>mus</a:t>
            </a:r>
            <a:r>
              <a:rPr lang="en-US" altLang="ko-KR" dirty="0"/>
              <a:t>, art;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fstream</a:t>
            </a:r>
            <a:r>
              <a:rPr lang="en-US" altLang="ko-KR" dirty="0"/>
              <a:t> output; // </a:t>
            </a:r>
            <a:r>
              <a:rPr lang="ko-KR" altLang="en-US" dirty="0"/>
              <a:t>파일쓰기객체생성</a:t>
            </a:r>
          </a:p>
          <a:p>
            <a:r>
              <a:rPr lang="en-US" altLang="ko-KR" dirty="0"/>
              <a:t>	Student stu1; 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smtClean="0"/>
              <a:t>//</a:t>
            </a:r>
            <a:r>
              <a:rPr lang="en-US" altLang="ko-KR" dirty="0"/>
              <a:t>Person(), Student() </a:t>
            </a:r>
            <a:r>
              <a:rPr lang="ko-KR" altLang="en-US" dirty="0"/>
              <a:t>생성자가자동호출</a:t>
            </a:r>
          </a:p>
          <a:p>
            <a:endParaRPr lang="ko-KR" altLang="en-US" dirty="0"/>
          </a:p>
          <a:p>
            <a:r>
              <a:rPr lang="en-US" altLang="ko-KR" dirty="0"/>
              <a:t>	</a:t>
            </a:r>
            <a:r>
              <a:rPr lang="en-US" altLang="ko-KR" dirty="0" err="1"/>
              <a:t>cout</a:t>
            </a:r>
            <a:r>
              <a:rPr lang="en-US" altLang="ko-KR" dirty="0"/>
              <a:t> &lt;&lt; "</a:t>
            </a:r>
            <a:r>
              <a:rPr lang="ko-KR" altLang="en-US" dirty="0"/>
              <a:t>이름입력</a:t>
            </a:r>
            <a:r>
              <a:rPr lang="en-US" altLang="ko-KR" dirty="0"/>
              <a:t>: ";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cin</a:t>
            </a:r>
            <a:r>
              <a:rPr lang="en-US" altLang="ko-KR" dirty="0"/>
              <a:t> &gt;&gt; name;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cout</a:t>
            </a:r>
            <a:r>
              <a:rPr lang="en-US" altLang="ko-KR" dirty="0"/>
              <a:t> &lt;&lt; "</a:t>
            </a:r>
            <a:r>
              <a:rPr lang="ko-KR" altLang="en-US" dirty="0"/>
              <a:t>주소입력</a:t>
            </a:r>
            <a:r>
              <a:rPr lang="en-US" altLang="ko-KR" dirty="0"/>
              <a:t>: ";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cin</a:t>
            </a:r>
            <a:r>
              <a:rPr lang="en-US" altLang="ko-KR" dirty="0"/>
              <a:t> &gt;&gt; </a:t>
            </a:r>
            <a:r>
              <a:rPr lang="en-US" altLang="ko-KR" dirty="0" err="1"/>
              <a:t>addr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cout</a:t>
            </a:r>
            <a:r>
              <a:rPr lang="en-US" altLang="ko-KR" dirty="0"/>
              <a:t> &lt;&lt; "</a:t>
            </a:r>
            <a:r>
              <a:rPr lang="ko-KR" altLang="en-US" dirty="0"/>
              <a:t>전화번호입력</a:t>
            </a:r>
            <a:r>
              <a:rPr lang="en-US" altLang="ko-KR" dirty="0"/>
              <a:t>: ";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cin</a:t>
            </a:r>
            <a:r>
              <a:rPr lang="en-US" altLang="ko-KR" dirty="0"/>
              <a:t> &gt;&gt; </a:t>
            </a:r>
            <a:r>
              <a:rPr lang="en-US" altLang="ko-KR" dirty="0" err="1"/>
              <a:t>tel</a:t>
            </a:r>
            <a:r>
              <a:rPr lang="en-US" altLang="ko-KR" dirty="0"/>
              <a:t>;</a:t>
            </a:r>
          </a:p>
          <a:p>
            <a:endParaRPr lang="ko-KR" altLang="en-US" dirty="0"/>
          </a:p>
          <a:p>
            <a:r>
              <a:rPr lang="en-US" altLang="ko-KR" dirty="0"/>
              <a:t>	</a:t>
            </a:r>
            <a:r>
              <a:rPr lang="en-US" altLang="ko-KR" dirty="0" err="1"/>
              <a:t>cout</a:t>
            </a:r>
            <a:r>
              <a:rPr lang="en-US" altLang="ko-KR" dirty="0"/>
              <a:t> &lt;&lt; "</a:t>
            </a:r>
            <a:r>
              <a:rPr lang="ko-KR" altLang="en-US" dirty="0"/>
              <a:t>국어접수</a:t>
            </a:r>
            <a:r>
              <a:rPr lang="en-US" altLang="ko-KR" dirty="0"/>
              <a:t>: ";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cin</a:t>
            </a:r>
            <a:r>
              <a:rPr lang="en-US" altLang="ko-KR" dirty="0"/>
              <a:t> &gt;&gt; </a:t>
            </a:r>
            <a:r>
              <a:rPr lang="en-US" altLang="ko-KR" dirty="0" err="1"/>
              <a:t>kor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cout</a:t>
            </a:r>
            <a:r>
              <a:rPr lang="en-US" altLang="ko-KR" dirty="0"/>
              <a:t> &lt;&lt; "</a:t>
            </a:r>
            <a:r>
              <a:rPr lang="ko-KR" altLang="en-US" dirty="0"/>
              <a:t>음악접수</a:t>
            </a:r>
            <a:r>
              <a:rPr lang="en-US" altLang="ko-KR" dirty="0"/>
              <a:t>: ";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cin</a:t>
            </a:r>
            <a:r>
              <a:rPr lang="en-US" altLang="ko-KR" dirty="0"/>
              <a:t> &gt;&gt; </a:t>
            </a:r>
            <a:r>
              <a:rPr lang="en-US" altLang="ko-KR" dirty="0" err="1"/>
              <a:t>mus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cout</a:t>
            </a:r>
            <a:r>
              <a:rPr lang="en-US" altLang="ko-KR" dirty="0"/>
              <a:t> &lt;&lt; "</a:t>
            </a:r>
            <a:r>
              <a:rPr lang="ko-KR" altLang="en-US" dirty="0"/>
              <a:t>미술접수</a:t>
            </a:r>
            <a:r>
              <a:rPr lang="en-US" altLang="ko-KR" dirty="0"/>
              <a:t>: ";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cin</a:t>
            </a:r>
            <a:r>
              <a:rPr lang="en-US" altLang="ko-KR" dirty="0"/>
              <a:t> &gt;&gt; art;</a:t>
            </a:r>
          </a:p>
          <a:p>
            <a:endParaRPr lang="ko-KR" altLang="en-US" dirty="0"/>
          </a:p>
          <a:p>
            <a:r>
              <a:rPr lang="en-US" altLang="ko-KR" dirty="0"/>
              <a:t>	stu1.SetVar(name, </a:t>
            </a:r>
            <a:r>
              <a:rPr lang="en-US" altLang="ko-KR" dirty="0" err="1"/>
              <a:t>addr</a:t>
            </a:r>
            <a:r>
              <a:rPr lang="en-US" altLang="ko-KR" dirty="0"/>
              <a:t>, </a:t>
            </a:r>
            <a:r>
              <a:rPr lang="en-US" altLang="ko-KR" dirty="0" err="1"/>
              <a:t>tel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stu1.SetScore(</a:t>
            </a:r>
            <a:r>
              <a:rPr lang="en-US" altLang="ko-KR" dirty="0" err="1"/>
              <a:t>kor</a:t>
            </a:r>
            <a:r>
              <a:rPr lang="en-US" altLang="ko-KR" dirty="0"/>
              <a:t>, </a:t>
            </a:r>
            <a:r>
              <a:rPr lang="en-US" altLang="ko-KR" dirty="0" err="1"/>
              <a:t>mus</a:t>
            </a:r>
            <a:r>
              <a:rPr lang="en-US" altLang="ko-KR" dirty="0"/>
              <a:t>, art);</a:t>
            </a:r>
          </a:p>
          <a:p>
            <a:r>
              <a:rPr lang="en-US" altLang="ko-KR" dirty="0"/>
              <a:t>	stu1.CalTot();</a:t>
            </a:r>
          </a:p>
          <a:p>
            <a:r>
              <a:rPr lang="en-US" altLang="ko-KR" dirty="0"/>
              <a:t>	stu1.CalAver();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518720" y="764704"/>
            <a:ext cx="4114800" cy="536145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배달의민족 한나체 Air" panose="020B0600000101010101" pitchFamily="50" charset="-127"/>
                <a:ea typeface="배달의민족 한나체 Air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Student stu2(</a:t>
            </a:r>
            <a:r>
              <a:rPr lang="en-US" altLang="ko-KR" dirty="0"/>
              <a:t>"</a:t>
            </a:r>
            <a:r>
              <a:rPr lang="ko-KR" altLang="en-US" dirty="0" err="1"/>
              <a:t>장멘잡</a:t>
            </a:r>
            <a:r>
              <a:rPr lang="en-US" altLang="ko-KR" dirty="0"/>
              <a:t>"</a:t>
            </a:r>
            <a:r>
              <a:rPr lang="ko-KR" altLang="en-US" dirty="0"/>
              <a:t> </a:t>
            </a:r>
            <a:r>
              <a:rPr lang="en-US" altLang="ko-KR" dirty="0"/>
              <a:t>, "</a:t>
            </a:r>
            <a:r>
              <a:rPr lang="ko-KR" altLang="en-US" dirty="0" err="1"/>
              <a:t>공세동</a:t>
            </a:r>
            <a:r>
              <a:rPr lang="en-US" altLang="ko-KR" dirty="0"/>
              <a:t>", "010-65**-8**4", 100, 99 ,94);</a:t>
            </a:r>
          </a:p>
          <a:p>
            <a:r>
              <a:rPr lang="en-US" altLang="ko-KR" dirty="0" smtClean="0"/>
              <a:t>/*</a:t>
            </a:r>
            <a:r>
              <a:rPr lang="en-US" altLang="ko-KR" dirty="0"/>
              <a:t>Student(</a:t>
            </a:r>
            <a:r>
              <a:rPr lang="en-US" altLang="ko-KR" dirty="0" err="1"/>
              <a:t>const</a:t>
            </a:r>
            <a:r>
              <a:rPr lang="en-US" altLang="ko-KR" dirty="0"/>
              <a:t> string name, </a:t>
            </a:r>
            <a:r>
              <a:rPr lang="en-US" altLang="ko-KR" dirty="0" err="1"/>
              <a:t>const</a:t>
            </a:r>
            <a:r>
              <a:rPr lang="en-US" altLang="ko-KR" dirty="0"/>
              <a:t> string </a:t>
            </a:r>
            <a:r>
              <a:rPr lang="en-US" altLang="ko-KR" dirty="0" err="1"/>
              <a:t>addr</a:t>
            </a:r>
            <a:r>
              <a:rPr lang="en-US" altLang="ko-KR" dirty="0"/>
              <a:t>, ....) </a:t>
            </a:r>
            <a:r>
              <a:rPr lang="ko-KR" altLang="en-US" dirty="0" err="1" smtClean="0"/>
              <a:t>생성자가호출됨따라서파생클래스의</a:t>
            </a:r>
            <a:r>
              <a:rPr lang="en-US" altLang="ko-KR" dirty="0" smtClean="0"/>
              <a:t>Person(</a:t>
            </a:r>
            <a:r>
              <a:rPr lang="en-US" altLang="ko-KR" dirty="0" err="1" smtClean="0"/>
              <a:t>const</a:t>
            </a:r>
            <a:r>
              <a:rPr lang="en-US" altLang="ko-KR" dirty="0" smtClean="0"/>
              <a:t> </a:t>
            </a:r>
            <a:r>
              <a:rPr lang="en-US" altLang="ko-KR" dirty="0"/>
              <a:t>string name, </a:t>
            </a:r>
            <a:r>
              <a:rPr lang="en-US" altLang="ko-KR" dirty="0" err="1"/>
              <a:t>const</a:t>
            </a:r>
            <a:r>
              <a:rPr lang="en-US" altLang="ko-KR" dirty="0"/>
              <a:t> string </a:t>
            </a:r>
            <a:r>
              <a:rPr lang="en-US" altLang="ko-KR" dirty="0" err="1"/>
              <a:t>addr</a:t>
            </a:r>
            <a:r>
              <a:rPr lang="en-US" altLang="ko-KR" dirty="0"/>
              <a:t>, </a:t>
            </a:r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en-US" altLang="ko-KR" dirty="0" err="1"/>
              <a:t>tel</a:t>
            </a:r>
            <a:r>
              <a:rPr lang="en-US" altLang="ko-KR" dirty="0"/>
              <a:t>) </a:t>
            </a:r>
            <a:r>
              <a:rPr lang="ko-KR" altLang="en-US" dirty="0" err="1"/>
              <a:t>생성자가호출됨</a:t>
            </a:r>
            <a:r>
              <a:rPr lang="en-US" altLang="ko-KR" dirty="0"/>
              <a:t>.*/</a:t>
            </a:r>
          </a:p>
          <a:p>
            <a:endParaRPr lang="ko-KR" altLang="en-US" dirty="0"/>
          </a:p>
          <a:p>
            <a:r>
              <a:rPr lang="en-US" altLang="ko-KR" dirty="0"/>
              <a:t>	stu2.CalTot();</a:t>
            </a:r>
          </a:p>
          <a:p>
            <a:r>
              <a:rPr lang="en-US" altLang="ko-KR" dirty="0"/>
              <a:t>	stu2.CalAver();</a:t>
            </a:r>
          </a:p>
          <a:p>
            <a:endParaRPr lang="ko-KR" altLang="en-US" dirty="0"/>
          </a:p>
          <a:p>
            <a:r>
              <a:rPr lang="en-US" altLang="ko-KR" dirty="0"/>
              <a:t>	</a:t>
            </a:r>
            <a:r>
              <a:rPr lang="en-US" altLang="ko-KR" dirty="0" err="1"/>
              <a:t>output.open</a:t>
            </a:r>
            <a:r>
              <a:rPr lang="en-US" altLang="ko-KR" dirty="0"/>
              <a:t>("data.txt", </a:t>
            </a:r>
            <a:r>
              <a:rPr lang="en-US" altLang="ko-KR" dirty="0" err="1"/>
              <a:t>ios</a:t>
            </a:r>
            <a:r>
              <a:rPr lang="en-US" altLang="ko-KR" dirty="0"/>
              <a:t>::out);</a:t>
            </a:r>
          </a:p>
          <a:p>
            <a:r>
              <a:rPr lang="en-US" altLang="ko-KR" dirty="0"/>
              <a:t>	stu1.GetScore(&amp;</a:t>
            </a:r>
            <a:r>
              <a:rPr lang="en-US" altLang="ko-KR" dirty="0" err="1"/>
              <a:t>kor</a:t>
            </a:r>
            <a:r>
              <a:rPr lang="en-US" altLang="ko-KR" dirty="0"/>
              <a:t>, &amp;</a:t>
            </a:r>
            <a:r>
              <a:rPr lang="en-US" altLang="ko-KR" dirty="0" err="1"/>
              <a:t>mus</a:t>
            </a:r>
            <a:r>
              <a:rPr lang="en-US" altLang="ko-KR" dirty="0"/>
              <a:t>, &amp;art);</a:t>
            </a:r>
          </a:p>
          <a:p>
            <a:r>
              <a:rPr lang="en-US" altLang="ko-KR" dirty="0"/>
              <a:t>	stu1.CalTot();</a:t>
            </a:r>
          </a:p>
          <a:p>
            <a:r>
              <a:rPr lang="en-US" altLang="ko-KR" dirty="0"/>
              <a:t>	stu1.CalAver();</a:t>
            </a:r>
          </a:p>
          <a:p>
            <a:r>
              <a:rPr lang="en-US" altLang="ko-KR" dirty="0"/>
              <a:t>	output &lt;&lt; stu1.GetName() &lt;&lt; " " &lt;&lt; </a:t>
            </a:r>
            <a:r>
              <a:rPr lang="en-US" altLang="ko-KR" dirty="0" err="1"/>
              <a:t>kor</a:t>
            </a:r>
            <a:r>
              <a:rPr lang="en-US" altLang="ko-KR" dirty="0"/>
              <a:t> &lt;&lt; " " &lt;&lt; </a:t>
            </a:r>
            <a:r>
              <a:rPr lang="en-US" altLang="ko-KR" dirty="0" err="1"/>
              <a:t>mus</a:t>
            </a:r>
            <a:r>
              <a:rPr lang="en-US" altLang="ko-KR" dirty="0"/>
              <a:t> &lt;&lt; " " &lt;&lt; art &lt;&lt; " " &lt;&lt; stu1.GetTot() &lt;&lt; " " &lt;&lt; stu1.GetAver() &lt;&lt; </a:t>
            </a:r>
            <a:r>
              <a:rPr lang="en-US" altLang="ko-KR" dirty="0" err="1"/>
              <a:t>endl</a:t>
            </a:r>
            <a:r>
              <a:rPr lang="en-US" altLang="ko-KR" dirty="0"/>
              <a:t>;</a:t>
            </a:r>
          </a:p>
          <a:p>
            <a:endParaRPr lang="ko-KR" altLang="en-US" dirty="0"/>
          </a:p>
          <a:p>
            <a:r>
              <a:rPr lang="en-US" altLang="ko-KR" dirty="0"/>
              <a:t>	stu2.GetScore(&amp;</a:t>
            </a:r>
            <a:r>
              <a:rPr lang="en-US" altLang="ko-KR" dirty="0" err="1"/>
              <a:t>kor</a:t>
            </a:r>
            <a:r>
              <a:rPr lang="en-US" altLang="ko-KR" dirty="0"/>
              <a:t>, &amp;</a:t>
            </a:r>
            <a:r>
              <a:rPr lang="en-US" altLang="ko-KR" dirty="0" err="1"/>
              <a:t>mus</a:t>
            </a:r>
            <a:r>
              <a:rPr lang="en-US" altLang="ko-KR" dirty="0"/>
              <a:t>, &amp;art);</a:t>
            </a:r>
          </a:p>
          <a:p>
            <a:r>
              <a:rPr lang="en-US" altLang="ko-KR" dirty="0"/>
              <a:t>	stu2.CalTot();</a:t>
            </a:r>
          </a:p>
          <a:p>
            <a:r>
              <a:rPr lang="en-US" altLang="ko-KR" dirty="0"/>
              <a:t>	stu2.CalAver();</a:t>
            </a:r>
          </a:p>
          <a:p>
            <a:r>
              <a:rPr lang="en-US" altLang="ko-KR" dirty="0"/>
              <a:t>output &lt;&lt; stu2.GetName() &lt;&lt; " " &lt;&lt; </a:t>
            </a:r>
            <a:r>
              <a:rPr lang="en-US" altLang="ko-KR" dirty="0" err="1"/>
              <a:t>kor</a:t>
            </a:r>
            <a:r>
              <a:rPr lang="en-US" altLang="ko-KR" dirty="0"/>
              <a:t> &lt;&lt; " " &lt;&lt; </a:t>
            </a:r>
            <a:r>
              <a:rPr lang="en-US" altLang="ko-KR" dirty="0" err="1"/>
              <a:t>mus</a:t>
            </a:r>
            <a:r>
              <a:rPr lang="en-US" altLang="ko-KR" dirty="0"/>
              <a:t> &lt;&lt; " " &lt;&lt; art &lt;&lt; " " &lt;&lt; stu2.GetTot() &lt;&lt; " " &lt;&lt; stu2.GetAver() &lt;&lt; </a:t>
            </a:r>
            <a:r>
              <a:rPr lang="en-US" altLang="ko-KR" dirty="0" err="1"/>
              <a:t>endl</a:t>
            </a:r>
            <a:r>
              <a:rPr lang="en-US" altLang="ko-KR" dirty="0"/>
              <a:t>;</a:t>
            </a:r>
          </a:p>
          <a:p>
            <a:endParaRPr lang="ko-KR" altLang="en-US" dirty="0"/>
          </a:p>
          <a:p>
            <a:r>
              <a:rPr lang="en-US" altLang="ko-KR" dirty="0"/>
              <a:t>	return 0;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518720" y="764704"/>
            <a:ext cx="4013720" cy="100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91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4744"/>
            <a:ext cx="4548732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824" y="1125452"/>
            <a:ext cx="3248025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14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상속에서 멤버 함수 재정의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오버로딩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err="1" smtClean="0"/>
              <a:t>오버라이딩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ko-KR" altLang="en-US" dirty="0" smtClean="0"/>
              <a:t>오버로딩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같은 이름의 함수를 다른 형식으로 재정의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함수의 이름은 같으나 함수의 매개변수는 다르게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err="1" smtClean="0"/>
              <a:t>오버라이딩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기반 클래스의 멤버 함수를 파생 클래스에서 다시 정의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파생 클래스에서 정의한 새로운 내용을 사용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14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오버로딩 예제</a:t>
            </a:r>
            <a:endParaRPr lang="ko-KR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96752"/>
            <a:ext cx="4829175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759" y="908720"/>
            <a:ext cx="42100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219" y="2670942"/>
            <a:ext cx="2870786" cy="117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492368" y="4149080"/>
            <a:ext cx="3863607" cy="79208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92367" y="5008825"/>
            <a:ext cx="4804352" cy="813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301315" y="1484784"/>
            <a:ext cx="3511045" cy="23356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301315" y="1718345"/>
            <a:ext cx="4054494" cy="1984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237523" y="4001629"/>
            <a:ext cx="3271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함수의 이름은 같으나 함수의 </a:t>
            </a:r>
            <a:r>
              <a:rPr lang="ko-KR" altLang="en-US" b="1" dirty="0"/>
              <a:t>매개변수는 다르게</a:t>
            </a:r>
            <a:r>
              <a:rPr lang="en-US" altLang="ko-KR" b="1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143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19872" y="764704"/>
            <a:ext cx="5472608" cy="5757440"/>
          </a:xfrm>
        </p:spPr>
        <p:txBody>
          <a:bodyPr/>
          <a:lstStyle/>
          <a:p>
            <a:r>
              <a:rPr lang="ko-KR" altLang="en-US" dirty="0" err="1" smtClean="0"/>
              <a:t>오버라이딩</a:t>
            </a:r>
            <a:r>
              <a:rPr lang="ko-KR" altLang="en-US" dirty="0" smtClean="0"/>
              <a:t> 예제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프로그래머의 의도</a:t>
            </a:r>
            <a:endParaRPr lang="en-US" altLang="ko-KR" dirty="0" smtClean="0"/>
          </a:p>
          <a:p>
            <a:r>
              <a:rPr lang="en-US" altLang="ko-KR" dirty="0" smtClean="0"/>
              <a:t>class A</a:t>
            </a:r>
          </a:p>
          <a:p>
            <a:r>
              <a:rPr lang="en-US" altLang="ko-KR" dirty="0" smtClean="0"/>
              <a:t>class B</a:t>
            </a:r>
          </a:p>
          <a:p>
            <a:endParaRPr lang="en-US" altLang="ko-KR" dirty="0"/>
          </a:p>
          <a:p>
            <a:r>
              <a:rPr lang="ko-KR" altLang="en-US" dirty="0" smtClean="0"/>
              <a:t>프로그래머의 의도대로 하려면  </a:t>
            </a:r>
            <a:r>
              <a:rPr lang="ko-KR" altLang="en-US" dirty="0" err="1" smtClean="0"/>
              <a:t>동적결합을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해야함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err="1" smtClean="0"/>
              <a:t>동적결합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실행 시 어떤 함수가 호출될지를 정하는 것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하나의 함수가 여러 클래스에서 재정의된 형태 일 때</a:t>
            </a:r>
            <a:r>
              <a:rPr lang="en-US" altLang="ko-KR" dirty="0"/>
              <a:t>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이러한 것을 </a:t>
            </a:r>
            <a:r>
              <a:rPr lang="ko-KR" altLang="en-US" dirty="0" err="1" smtClean="0"/>
              <a:t>다형성</a:t>
            </a:r>
            <a:r>
              <a:rPr lang="en-US" altLang="ko-KR" dirty="0" smtClean="0"/>
              <a:t>(Polymorphism)</a:t>
            </a:r>
            <a:r>
              <a:rPr lang="ko-KR" altLang="en-US" dirty="0" smtClean="0"/>
              <a:t>이라 함</a:t>
            </a:r>
            <a:r>
              <a:rPr lang="en-US" altLang="ko-KR" dirty="0" smtClean="0"/>
              <a:t>. 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2981325" cy="561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389078"/>
            <a:ext cx="1565393" cy="114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95536" y="5252060"/>
            <a:ext cx="1008112" cy="55320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29779" y="3717032"/>
            <a:ext cx="3003065" cy="6480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74023" y="1700808"/>
            <a:ext cx="1766120" cy="6480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43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48064" y="764704"/>
            <a:ext cx="3538736" cy="5361459"/>
          </a:xfrm>
        </p:spPr>
        <p:txBody>
          <a:bodyPr/>
          <a:lstStyle/>
          <a:p>
            <a:r>
              <a:rPr lang="ko-KR" altLang="en-US" dirty="0" smtClean="0"/>
              <a:t>다형성에 의해 함수 재정의 하기 위한 조건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기반 클래스의 멤버 함수가 </a:t>
            </a:r>
            <a:r>
              <a:rPr lang="ko-KR" altLang="en-US" b="1" dirty="0" smtClean="0"/>
              <a:t>가상 함수로 선언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함수에서 </a:t>
            </a:r>
            <a:r>
              <a:rPr lang="ko-KR" altLang="en-US" b="1" dirty="0" smtClean="0"/>
              <a:t>매개변수로 전달된 변수</a:t>
            </a:r>
            <a:r>
              <a:rPr lang="ko-KR" altLang="en-US" dirty="0" smtClean="0"/>
              <a:t>는 </a:t>
            </a:r>
            <a:r>
              <a:rPr lang="ko-KR" altLang="en-US" b="1" dirty="0" smtClean="0"/>
              <a:t>객체의 주소를 포함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r>
              <a:rPr lang="ko-KR" altLang="en-US" dirty="0" smtClean="0"/>
              <a:t>가상 함수의 호출은 </a:t>
            </a:r>
            <a:r>
              <a:rPr lang="ko-KR" altLang="en-US" dirty="0" err="1" smtClean="0"/>
              <a:t>컴퍼일러가</a:t>
            </a:r>
            <a:r>
              <a:rPr lang="ko-KR" altLang="en-US" dirty="0" smtClean="0"/>
              <a:t> 어떤 함수를 호출해야 하는지 미리 알 수 없음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WHY?</a:t>
            </a:r>
          </a:p>
          <a:p>
            <a:r>
              <a:rPr lang="ko-KR" altLang="en-US" dirty="0" smtClean="0"/>
              <a:t>가상함수는 프로그램이 실행될 때 객체를 결정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Symbol"/>
              <a:buChar char="Þ"/>
            </a:pPr>
            <a:r>
              <a:rPr lang="ko-KR" altLang="en-US" dirty="0" smtClean="0"/>
              <a:t>이러한 것을 동작결합</a:t>
            </a:r>
            <a:endParaRPr lang="en-US" altLang="ko-KR" dirty="0"/>
          </a:p>
          <a:p>
            <a:r>
              <a:rPr lang="en-US" altLang="ko-KR" dirty="0" smtClean="0"/>
              <a:t>(</a:t>
            </a:r>
            <a:r>
              <a:rPr lang="en-US" altLang="ko-KR" dirty="0" err="1" smtClean="0"/>
              <a:t>Dynaminc</a:t>
            </a:r>
            <a:r>
              <a:rPr lang="en-US" altLang="ko-KR" dirty="0" smtClean="0"/>
              <a:t> Binding)</a:t>
            </a:r>
            <a:endParaRPr lang="ko-KR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04807"/>
            <a:ext cx="3076575" cy="561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869160"/>
            <a:ext cx="2037224" cy="12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323528" y="1556792"/>
            <a:ext cx="2232248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220072" y="1385156"/>
            <a:ext cx="3384376" cy="6036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220072" y="2060848"/>
            <a:ext cx="3384376" cy="60368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50041" y="3573016"/>
            <a:ext cx="3106046" cy="60368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43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클래스의 상속은 여러 단계 가능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파생 클래스가 다른 클래스의 기반 클래스로 정의 가능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이때도 </a:t>
            </a:r>
            <a:r>
              <a:rPr lang="ko-KR" altLang="en-US" dirty="0" err="1" smtClean="0"/>
              <a:t>오버라이딩</a:t>
            </a:r>
            <a:r>
              <a:rPr lang="ko-KR" altLang="en-US" dirty="0" smtClean="0"/>
              <a:t> 된 함수의 </a:t>
            </a:r>
            <a:r>
              <a:rPr lang="ko-KR" altLang="en-US" dirty="0" err="1" smtClean="0"/>
              <a:t>동적결합</a:t>
            </a:r>
            <a:r>
              <a:rPr lang="ko-KR" altLang="en-US" dirty="0" smtClean="0"/>
              <a:t> 가능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4128" y="33265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실행 시 어떤 함수가 호출 될지</a:t>
            </a:r>
            <a:r>
              <a:rPr lang="en-US" altLang="ko-KR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?</a:t>
            </a:r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059832" y="1484784"/>
            <a:ext cx="79208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796136" y="332656"/>
            <a:ext cx="273630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44824"/>
            <a:ext cx="3095625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628" y="3154511"/>
            <a:ext cx="13335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359" y="3570957"/>
            <a:ext cx="1517898" cy="1298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1115289" y="4869160"/>
            <a:ext cx="2016224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143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폭발 1 13"/>
          <p:cNvSpPr/>
          <p:nvPr/>
        </p:nvSpPr>
        <p:spPr>
          <a:xfrm>
            <a:off x="144016" y="4053246"/>
            <a:ext cx="3995936" cy="1752017"/>
          </a:xfrm>
          <a:prstGeom prst="irregularSeal1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추상 클래스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상속에서 기반 클래스 역할을 담당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구체적이지 못한 멤버 함수를 갖는 클래스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이러한 기반 클래스를 더 구체적으로 정의한 것이 </a:t>
            </a:r>
            <a:r>
              <a:rPr lang="ko-KR" altLang="en-US" b="1" dirty="0" smtClean="0"/>
              <a:t>파생 클래스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ko-KR" altLang="en-US" dirty="0" smtClean="0"/>
              <a:t>순수 가상 함수</a:t>
            </a:r>
            <a:endParaRPr lang="en-US" altLang="ko-KR" dirty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함수의 내용이 정의되지 않은 함수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파생 클래스에서 함수 </a:t>
            </a:r>
            <a:r>
              <a:rPr lang="ko-KR" altLang="en-US" dirty="0" err="1" smtClean="0"/>
              <a:t>오버라이딩에</a:t>
            </a:r>
            <a:r>
              <a:rPr lang="ko-KR" altLang="en-US" dirty="0" smtClean="0"/>
              <a:t> 의해 내용이 결정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virtual </a:t>
            </a:r>
            <a:r>
              <a:rPr lang="ko-KR" altLang="en-US" dirty="0" smtClean="0"/>
              <a:t>반환형 함수 이름</a:t>
            </a:r>
            <a:r>
              <a:rPr lang="en-US" altLang="ko-KR" dirty="0" smtClean="0"/>
              <a:t>() = 0;</a:t>
            </a:r>
          </a:p>
          <a:p>
            <a:endParaRPr lang="en-US" altLang="ko-KR" dirty="0"/>
          </a:p>
          <a:p>
            <a:r>
              <a:rPr lang="ko-KR" altLang="en-US" b="1" dirty="0" smtClean="0"/>
              <a:t>추상 클래스는 객체 생성 불가</a:t>
            </a:r>
            <a:endParaRPr lang="en-US" altLang="ko-KR" b="1" dirty="0" smtClean="0"/>
          </a:p>
          <a:p>
            <a:r>
              <a:rPr lang="en-US" altLang="ko-KR" dirty="0" smtClean="0"/>
              <a:t>why?</a:t>
            </a:r>
          </a:p>
          <a:p>
            <a:r>
              <a:rPr lang="ko-KR" altLang="en-US" dirty="0" smtClean="0"/>
              <a:t>정의 되지 </a:t>
            </a:r>
            <a:r>
              <a:rPr lang="ko-KR" altLang="en-US" dirty="0"/>
              <a:t>않</a:t>
            </a:r>
            <a:r>
              <a:rPr lang="ko-KR" altLang="en-US" dirty="0" smtClean="0"/>
              <a:t>은 멤버를 갖고 있기 때문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39552" y="2420888"/>
            <a:ext cx="1296144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55576" y="1484784"/>
            <a:ext cx="237626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1403648" y="1772816"/>
            <a:ext cx="432048" cy="64807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96136" y="4701319"/>
            <a:ext cx="2664296" cy="12003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파생 클래스에서 </a:t>
            </a:r>
            <a:endParaRPr lang="en-US" altLang="ko-KR" sz="2400" b="1" dirty="0" smtClean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  <a:p>
            <a:r>
              <a:rPr lang="ko-KR" altLang="en-US" sz="2400" b="1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함수 </a:t>
            </a:r>
            <a:r>
              <a:rPr lang="ko-KR" altLang="en-US" sz="2400" b="1" dirty="0" err="1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오버라이딩되어</a:t>
            </a:r>
            <a:r>
              <a:rPr lang="ko-KR" altLang="en-US" sz="2400" b="1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</a:t>
            </a:r>
            <a:endParaRPr lang="en-US" altLang="ko-KR" sz="2400" b="1" dirty="0" smtClean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  <a:p>
            <a:r>
              <a:rPr lang="ko-KR" altLang="en-US" sz="2400" b="1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사용되는 것을 목적</a:t>
            </a:r>
            <a:r>
              <a:rPr lang="en-US" altLang="ko-KR" sz="2400" b="1" dirty="0" smtClean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!</a:t>
            </a:r>
            <a:endParaRPr lang="ko-KR" altLang="en-US" sz="2400" b="1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22493" y="812431"/>
            <a:ext cx="1188132" cy="2880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47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순수 가상함수는 클래스 상속을 통해 </a:t>
            </a:r>
            <a:endParaRPr lang="en-US" altLang="ko-KR" dirty="0" smtClean="0"/>
          </a:p>
          <a:p>
            <a:r>
              <a:rPr lang="ko-KR" altLang="en-US" dirty="0" smtClean="0"/>
              <a:t>함수 </a:t>
            </a:r>
            <a:r>
              <a:rPr lang="ko-KR" altLang="en-US" dirty="0" err="1" smtClean="0"/>
              <a:t>오버라이딩된</a:t>
            </a:r>
            <a:r>
              <a:rPr lang="ko-KR" altLang="en-US" dirty="0" smtClean="0"/>
              <a:t> 파생 클래스의 멤버 함수를 호출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385762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4941168"/>
            <a:ext cx="3170035" cy="1150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522492" y="2564904"/>
            <a:ext cx="3689467" cy="79208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22493" y="3356992"/>
            <a:ext cx="3041396" cy="115212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47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동적 형 변환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실행 시 주어진 상황에 맞게 형 변환을 수행하는 것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이미 생성된 객체의 클래스를 변환하는 것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서로 상속 관계인 클래스끼리의 부모</a:t>
            </a:r>
            <a:r>
              <a:rPr lang="en-US" altLang="ko-KR" dirty="0" smtClean="0"/>
              <a:t>.</a:t>
            </a:r>
            <a:r>
              <a:rPr lang="ko-KR" altLang="en-US" dirty="0" smtClean="0"/>
              <a:t>자식 </a:t>
            </a:r>
            <a:r>
              <a:rPr lang="ko-KR" altLang="en-US" dirty="0"/>
              <a:t>형</a:t>
            </a:r>
            <a:r>
              <a:rPr lang="ko-KR" altLang="en-US" dirty="0" smtClean="0"/>
              <a:t>태의 </a:t>
            </a:r>
            <a:r>
              <a:rPr lang="ko-KR" altLang="en-US" dirty="0" err="1" smtClean="0"/>
              <a:t>형변환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기</a:t>
            </a:r>
            <a:r>
              <a:rPr lang="ko-KR" altLang="en-US" dirty="0"/>
              <a:t>반</a:t>
            </a:r>
            <a:r>
              <a:rPr lang="ko-KR" altLang="en-US" dirty="0" smtClean="0"/>
              <a:t> 클래스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파</a:t>
            </a:r>
            <a:r>
              <a:rPr lang="ko-KR" altLang="en-US" dirty="0"/>
              <a:t>생</a:t>
            </a:r>
            <a:r>
              <a:rPr lang="ko-KR" altLang="en-US" dirty="0" smtClean="0"/>
              <a:t> 클래스</a:t>
            </a:r>
            <a:r>
              <a:rPr lang="en-US" altLang="ko-KR" dirty="0" smtClean="0"/>
              <a:t>, </a:t>
            </a:r>
            <a:r>
              <a:rPr lang="ko-KR" altLang="en-US" dirty="0" smtClean="0"/>
              <a:t>파</a:t>
            </a:r>
            <a:r>
              <a:rPr lang="ko-KR" altLang="en-US" dirty="0"/>
              <a:t>생</a:t>
            </a:r>
            <a:r>
              <a:rPr lang="ko-KR" altLang="en-US" dirty="0" smtClean="0"/>
              <a:t> 클래스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기반 클래스</a:t>
            </a:r>
            <a:r>
              <a:rPr lang="en-US" altLang="ko-KR" dirty="0" smtClean="0"/>
              <a:t>)</a:t>
            </a:r>
          </a:p>
          <a:p>
            <a:r>
              <a:rPr lang="en-US" altLang="ko-KR" b="1" dirty="0" smtClean="0"/>
              <a:t>-&gt; </a:t>
            </a:r>
            <a:r>
              <a:rPr lang="ko-KR" altLang="en-US" b="1" dirty="0" smtClean="0"/>
              <a:t>객체의 포인터를 변환하기 원하는 클래스의 포인터로 할당</a:t>
            </a:r>
            <a:r>
              <a:rPr lang="en-US" altLang="ko-KR" b="1" dirty="0" smtClean="0"/>
              <a:t>.</a:t>
            </a:r>
          </a:p>
          <a:p>
            <a:endParaRPr lang="en-US" altLang="ko-KR" b="1" dirty="0"/>
          </a:p>
          <a:p>
            <a:r>
              <a:rPr lang="ko-KR" altLang="en-US" dirty="0" smtClean="0"/>
              <a:t>객체 포인터</a:t>
            </a:r>
            <a:r>
              <a:rPr lang="en-US" altLang="ko-KR" dirty="0"/>
              <a:t> </a:t>
            </a:r>
            <a:r>
              <a:rPr lang="en-US" altLang="ko-KR" dirty="0" smtClean="0"/>
              <a:t>1 = </a:t>
            </a:r>
            <a:r>
              <a:rPr lang="en-US" altLang="ko-KR" dirty="0" err="1" smtClean="0"/>
              <a:t>dynamic_cast</a:t>
            </a:r>
            <a:r>
              <a:rPr lang="en-US" altLang="ko-KR" dirty="0"/>
              <a:t>&lt;</a:t>
            </a:r>
            <a:r>
              <a:rPr lang="ko-KR" altLang="en-US" dirty="0" smtClean="0"/>
              <a:t>클래스 이름</a:t>
            </a:r>
            <a:r>
              <a:rPr lang="en-US" altLang="ko-KR" dirty="0" smtClean="0"/>
              <a:t>*&gt; (</a:t>
            </a:r>
            <a:r>
              <a:rPr lang="ko-KR" altLang="en-US" dirty="0" smtClean="0"/>
              <a:t>객체 포인터 </a:t>
            </a:r>
            <a:r>
              <a:rPr lang="en-US" altLang="ko-KR" dirty="0" smtClean="0"/>
              <a:t>2)</a:t>
            </a:r>
            <a:endParaRPr lang="ko-KR" altLang="en-US" dirty="0"/>
          </a:p>
        </p:txBody>
      </p:sp>
      <p:sp>
        <p:nvSpPr>
          <p:cNvPr id="4" name="포인트가 5개인 별 3"/>
          <p:cNvSpPr/>
          <p:nvPr/>
        </p:nvSpPr>
        <p:spPr>
          <a:xfrm>
            <a:off x="8172400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7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업 캐스팅</a:t>
            </a:r>
            <a:endParaRPr lang="en-US" altLang="ko-KR" dirty="0" smtClean="0"/>
          </a:p>
          <a:p>
            <a:r>
              <a:rPr lang="ko-KR" altLang="en-US" dirty="0" smtClean="0"/>
              <a:t>파생 클래스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기반 클래스</a:t>
            </a:r>
            <a:endParaRPr lang="en-US" altLang="ko-KR" dirty="0"/>
          </a:p>
          <a:p>
            <a:r>
              <a:rPr lang="en-US" altLang="ko-KR" dirty="0" err="1" smtClean="0"/>
              <a:t>dynaminc_cast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연산자를 명시 하지 않아도 됨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다운 캐스팅</a:t>
            </a:r>
            <a:endParaRPr lang="en-US" altLang="ko-KR" dirty="0" smtClean="0"/>
          </a:p>
          <a:p>
            <a:r>
              <a:rPr lang="ko-KR" altLang="en-US" dirty="0" smtClean="0"/>
              <a:t>기반 클래스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파생 클래스</a:t>
            </a:r>
            <a:endParaRPr lang="ko-KR" altLang="en-US" dirty="0"/>
          </a:p>
        </p:txBody>
      </p:sp>
      <p:sp>
        <p:nvSpPr>
          <p:cNvPr id="4" name="포인트가 5개인 별 3"/>
          <p:cNvSpPr/>
          <p:nvPr/>
        </p:nvSpPr>
        <p:spPr>
          <a:xfrm>
            <a:off x="8172400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7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업</a:t>
            </a:r>
            <a:r>
              <a:rPr lang="en-US" altLang="ko-KR" dirty="0" smtClean="0"/>
              <a:t>/</a:t>
            </a:r>
            <a:r>
              <a:rPr lang="ko-KR" altLang="en-US" dirty="0" smtClean="0"/>
              <a:t>다운 캐스팅 예제</a:t>
            </a:r>
            <a:endParaRPr lang="ko-KR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2790825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442" y="1388041"/>
            <a:ext cx="38862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3419872" y="3140968"/>
            <a:ext cx="2520279" cy="79208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847" y="5589240"/>
            <a:ext cx="1859301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3514164" y="4509120"/>
            <a:ext cx="2497996" cy="64807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514165" y="3551467"/>
            <a:ext cx="2353980" cy="290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39552" y="2204864"/>
            <a:ext cx="1872208" cy="290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39552" y="4833156"/>
            <a:ext cx="1872208" cy="290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27195" y="1052736"/>
            <a:ext cx="3347864" cy="1077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자식클래스 객체</a:t>
            </a:r>
            <a:r>
              <a:rPr lang="en-US" altLang="ko-KR" sz="1600" dirty="0" smtClean="0"/>
              <a:t>1;</a:t>
            </a:r>
          </a:p>
          <a:p>
            <a:r>
              <a:rPr lang="ko-KR" altLang="en-US" sz="1600" dirty="0" smtClean="0"/>
              <a:t>자식클래스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객체</a:t>
            </a:r>
            <a:r>
              <a:rPr lang="en-US" altLang="ko-KR" sz="1600" dirty="0" smtClean="0"/>
              <a:t>2 = &amp; </a:t>
            </a:r>
            <a:r>
              <a:rPr lang="ko-KR" altLang="en-US" sz="1600" dirty="0" smtClean="0"/>
              <a:t>객체</a:t>
            </a:r>
            <a:r>
              <a:rPr lang="en-US" altLang="ko-KR" sz="1600" dirty="0" smtClean="0"/>
              <a:t>1;</a:t>
            </a:r>
          </a:p>
          <a:p>
            <a:r>
              <a:rPr lang="ko-KR" altLang="en-US" sz="1600" dirty="0" smtClean="0"/>
              <a:t>부모클래스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객체</a:t>
            </a:r>
            <a:r>
              <a:rPr lang="en-US" altLang="ko-KR" sz="1600" dirty="0" smtClean="0"/>
              <a:t>3 = </a:t>
            </a:r>
            <a:r>
              <a:rPr lang="ko-KR" altLang="en-US" sz="1600" dirty="0" smtClean="0"/>
              <a:t>객체</a:t>
            </a:r>
            <a:r>
              <a:rPr lang="en-US" altLang="ko-KR" sz="1600" dirty="0" smtClean="0"/>
              <a:t>2;</a:t>
            </a:r>
          </a:p>
          <a:p>
            <a:r>
              <a:rPr lang="ko-KR" altLang="en-US" sz="1600" dirty="0" smtClean="0"/>
              <a:t>객체</a:t>
            </a:r>
            <a:r>
              <a:rPr lang="en-US" altLang="ko-KR" sz="1600" dirty="0" smtClean="0"/>
              <a:t>3-&gt;</a:t>
            </a:r>
            <a:r>
              <a:rPr lang="ko-KR" altLang="en-US" sz="1600" dirty="0" smtClean="0"/>
              <a:t>부모멤버함수</a:t>
            </a:r>
            <a:r>
              <a:rPr lang="en-US" altLang="ko-KR" sz="1600" dirty="0" smtClean="0"/>
              <a:t>; </a:t>
            </a:r>
            <a:endParaRPr lang="ko-KR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5701916" y="5579041"/>
            <a:ext cx="3347864" cy="5847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객체</a:t>
            </a:r>
            <a:r>
              <a:rPr lang="en-US" altLang="ko-KR" sz="1600" dirty="0" smtClean="0"/>
              <a:t>2 = (</a:t>
            </a:r>
            <a:r>
              <a:rPr lang="ko-KR" altLang="en-US" sz="1600" dirty="0" smtClean="0"/>
              <a:t>자식클래스</a:t>
            </a:r>
            <a:r>
              <a:rPr lang="en-US" altLang="ko-KR" sz="1600" dirty="0" smtClean="0"/>
              <a:t>*)</a:t>
            </a:r>
            <a:r>
              <a:rPr lang="ko-KR" altLang="en-US" sz="1600" dirty="0" smtClean="0"/>
              <a:t>객체</a:t>
            </a:r>
            <a:r>
              <a:rPr lang="en-US" altLang="ko-KR" sz="1600" dirty="0" smtClean="0"/>
              <a:t>3;</a:t>
            </a:r>
          </a:p>
          <a:p>
            <a:r>
              <a:rPr lang="ko-KR" altLang="en-US" sz="1600" dirty="0" smtClean="0"/>
              <a:t>객체</a:t>
            </a:r>
            <a:r>
              <a:rPr lang="en-US" altLang="ko-KR" sz="1600" dirty="0" smtClean="0"/>
              <a:t>3-&gt;</a:t>
            </a:r>
            <a:r>
              <a:rPr lang="ko-KR" altLang="en-US" sz="1600" dirty="0" smtClean="0"/>
              <a:t>부모멤버함수</a:t>
            </a:r>
            <a:r>
              <a:rPr lang="en-US" altLang="ko-KR" sz="1600" dirty="0" smtClean="0"/>
              <a:t>;</a:t>
            </a:r>
          </a:p>
        </p:txBody>
      </p:sp>
      <p:sp>
        <p:nvSpPr>
          <p:cNvPr id="15" name="포인트가 5개인 별 14"/>
          <p:cNvSpPr/>
          <p:nvPr/>
        </p:nvSpPr>
        <p:spPr>
          <a:xfrm>
            <a:off x="8172400" y="116632"/>
            <a:ext cx="792088" cy="648072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7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다중상속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이미 정의된 두 개 이상의 클래스 내용을 복합적으로 활용</a:t>
            </a:r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더 확장된 파생클래스 정의 가능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파생 클래스를 선언할 때 기반 클래스 이름을 콤마로 구분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7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7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7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13738</TotalTime>
  <Words>4677</Words>
  <Application>Microsoft Office PowerPoint</Application>
  <PresentationFormat>화면 슬라이드 쇼(4:3)</PresentationFormat>
  <Paragraphs>1394</Paragraphs>
  <Slides>108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09" baseType="lpstr">
      <vt:lpstr>Office 테마</vt:lpstr>
      <vt:lpstr>열혈강의  C++</vt:lpstr>
      <vt:lpstr>목차</vt:lpstr>
      <vt:lpstr>2장</vt:lpstr>
      <vt:lpstr>2장</vt:lpstr>
      <vt:lpstr>3장</vt:lpstr>
      <vt:lpstr>3장</vt:lpstr>
      <vt:lpstr>3장</vt:lpstr>
      <vt:lpstr>3장</vt:lpstr>
      <vt:lpstr>3장</vt:lpstr>
      <vt:lpstr>3장</vt:lpstr>
      <vt:lpstr>3장</vt:lpstr>
      <vt:lpstr>4장</vt:lpstr>
      <vt:lpstr>4장</vt:lpstr>
      <vt:lpstr>4장</vt:lpstr>
      <vt:lpstr>4장</vt:lpstr>
      <vt:lpstr>4장</vt:lpstr>
      <vt:lpstr>4장</vt:lpstr>
      <vt:lpstr>4장</vt:lpstr>
      <vt:lpstr>4장</vt:lpstr>
      <vt:lpstr>4장</vt:lpstr>
      <vt:lpstr>4장</vt:lpstr>
      <vt:lpstr>5장</vt:lpstr>
      <vt:lpstr>5장</vt:lpstr>
      <vt:lpstr>5장</vt:lpstr>
      <vt:lpstr>5장</vt:lpstr>
      <vt:lpstr>5장</vt:lpstr>
      <vt:lpstr>5장</vt:lpstr>
      <vt:lpstr>5장</vt:lpstr>
      <vt:lpstr>5장</vt:lpstr>
      <vt:lpstr>5장</vt:lpstr>
      <vt:lpstr>5장</vt:lpstr>
      <vt:lpstr>6장</vt:lpstr>
      <vt:lpstr>6장</vt:lpstr>
      <vt:lpstr>6장</vt:lpstr>
      <vt:lpstr>6장</vt:lpstr>
      <vt:lpstr>6장</vt:lpstr>
      <vt:lpstr>6장</vt:lpstr>
      <vt:lpstr>6장</vt:lpstr>
      <vt:lpstr>6장</vt:lpstr>
      <vt:lpstr>6장</vt:lpstr>
      <vt:lpstr>6장</vt:lpstr>
      <vt:lpstr>8장</vt:lpstr>
      <vt:lpstr>8장</vt:lpstr>
      <vt:lpstr>8장</vt:lpstr>
      <vt:lpstr>8장</vt:lpstr>
      <vt:lpstr>8장</vt:lpstr>
      <vt:lpstr>8장</vt:lpstr>
      <vt:lpstr>8장</vt:lpstr>
      <vt:lpstr>9장</vt:lpstr>
      <vt:lpstr>9장</vt:lpstr>
      <vt:lpstr>9장</vt:lpstr>
      <vt:lpstr>9장</vt:lpstr>
      <vt:lpstr>9장</vt:lpstr>
      <vt:lpstr>9장</vt:lpstr>
      <vt:lpstr>9장</vt:lpstr>
      <vt:lpstr>9장</vt:lpstr>
      <vt:lpstr>9장</vt:lpstr>
      <vt:lpstr>9장</vt:lpstr>
      <vt:lpstr>9장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10장</vt:lpstr>
      <vt:lpstr>11장</vt:lpstr>
      <vt:lpstr>11장</vt:lpstr>
      <vt:lpstr>11장</vt:lpstr>
      <vt:lpstr>11장</vt:lpstr>
      <vt:lpstr>11장</vt:lpstr>
      <vt:lpstr>11장</vt:lpstr>
      <vt:lpstr>11장</vt:lpstr>
      <vt:lpstr>11장</vt:lpstr>
      <vt:lpstr>11장</vt:lpstr>
      <vt:lpstr>11장</vt:lpstr>
      <vt:lpstr>11장</vt:lpstr>
      <vt:lpstr>12장</vt:lpstr>
      <vt:lpstr>12장</vt:lpstr>
      <vt:lpstr>12장</vt:lpstr>
      <vt:lpstr>12장</vt:lpstr>
      <vt:lpstr>12장</vt:lpstr>
      <vt:lpstr>12장</vt:lpstr>
      <vt:lpstr>12장</vt:lpstr>
      <vt:lpstr>12장</vt:lpstr>
      <vt:lpstr>12장</vt:lpstr>
      <vt:lpstr>12장</vt:lpstr>
      <vt:lpstr>12장</vt:lpstr>
      <vt:lpstr>12장</vt:lpstr>
      <vt:lpstr>12장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열혈강의  C++</dc:title>
  <dc:creator>Microsoft Corporation</dc:creator>
  <cp:lastModifiedBy>USER</cp:lastModifiedBy>
  <cp:revision>216</cp:revision>
  <dcterms:created xsi:type="dcterms:W3CDTF">2006-10-05T04:04:58Z</dcterms:created>
  <dcterms:modified xsi:type="dcterms:W3CDTF">2020-04-27T11:05:48Z</dcterms:modified>
</cp:coreProperties>
</file>